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3.xml" ContentType="application/vnd.openxmlformats-officedocument.drawingml.chart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theme/themeOverride2.xml" ContentType="application/vnd.openxmlformats-officedocument.themeOverride+xml"/>
  <Override PartName="/ppt/charts/chart15.xml" ContentType="application/vnd.openxmlformats-officedocument.drawingml.chart+xml"/>
  <Override PartName="/ppt/theme/themeOverride3.xml" ContentType="application/vnd.openxmlformats-officedocument.themeOverride+xml"/>
  <Override PartName="/ppt/charts/chart16.xml" ContentType="application/vnd.openxmlformats-officedocument.drawingml.chart+xml"/>
  <Override PartName="/ppt/theme/themeOverride4.xml" ContentType="application/vnd.openxmlformats-officedocument.themeOverride+xml"/>
  <Override PartName="/ppt/charts/chart17.xml" ContentType="application/vnd.openxmlformats-officedocument.drawingml.chart+xml"/>
  <Override PartName="/ppt/theme/themeOverride5.xml" ContentType="application/vnd.openxmlformats-officedocument.themeOverride+xml"/>
  <Override PartName="/ppt/charts/chart1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6.xml" ContentType="application/vnd.openxmlformats-officedocument.themeOverride+xml"/>
  <Override PartName="/ppt/notesSlides/notesSlide12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13.xml" ContentType="application/vnd.openxmlformats-officedocument.presentationml.notesSlide+xml"/>
  <Override PartName="/ppt/charts/chart23.xml" ContentType="application/vnd.openxmlformats-officedocument.drawingml.chart+xml"/>
  <Override PartName="/ppt/notesSlides/notesSlide14.xml" ContentType="application/vnd.openxmlformats-officedocument.presentationml.notesSlide+xml"/>
  <Override PartName="/ppt/charts/chart24.xml" ContentType="application/vnd.openxmlformats-officedocument.drawingml.chart+xml"/>
  <Override PartName="/ppt/notesSlides/notesSlide15.xml" ContentType="application/vnd.openxmlformats-officedocument.presentationml.notesSlide+xml"/>
  <Override PartName="/ppt/charts/chart25.xml" ContentType="application/vnd.openxmlformats-officedocument.drawingml.chart+xml"/>
  <Override PartName="/ppt/notesSlides/notesSlide16.xml" ContentType="application/vnd.openxmlformats-officedocument.presentationml.notes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notesSlides/notesSlide17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Slides/notesSlide18.xml" ContentType="application/vnd.openxmlformats-officedocument.presentationml.notesSlide+xml"/>
  <Override PartName="/ppt/charts/chart30.xml" ContentType="application/vnd.openxmlformats-officedocument.drawingml.chart+xml"/>
  <Override PartName="/ppt/notesSlides/notesSlide19.xml" ContentType="application/vnd.openxmlformats-officedocument.presentationml.notes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notesSlides/notesSlide20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8" r:id="rId2"/>
    <p:sldId id="896" r:id="rId3"/>
    <p:sldId id="825" r:id="rId4"/>
    <p:sldId id="824" r:id="rId5"/>
    <p:sldId id="876" r:id="rId6"/>
    <p:sldId id="883" r:id="rId7"/>
    <p:sldId id="296" r:id="rId8"/>
    <p:sldId id="875" r:id="rId9"/>
    <p:sldId id="877" r:id="rId10"/>
    <p:sldId id="298" r:id="rId11"/>
    <p:sldId id="850" r:id="rId12"/>
    <p:sldId id="851" r:id="rId13"/>
    <p:sldId id="894" r:id="rId14"/>
    <p:sldId id="304" r:id="rId15"/>
    <p:sldId id="885" r:id="rId16"/>
    <p:sldId id="886" r:id="rId17"/>
    <p:sldId id="887" r:id="rId18"/>
    <p:sldId id="890" r:id="rId19"/>
    <p:sldId id="888" r:id="rId20"/>
    <p:sldId id="891" r:id="rId21"/>
    <p:sldId id="88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6BF"/>
    <a:srgbClr val="0000FF"/>
    <a:srgbClr val="F6783F"/>
    <a:srgbClr val="F25367"/>
    <a:srgbClr val="FFCC66"/>
    <a:srgbClr val="FF9999"/>
    <a:srgbClr val="FBE5D6"/>
    <a:srgbClr val="002060"/>
    <a:srgbClr val="4D6DA8"/>
    <a:srgbClr val="335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 autoAdjust="0"/>
    <p:restoredTop sz="95820" autoAdjust="0"/>
  </p:normalViewPr>
  <p:slideViewPr>
    <p:cSldViewPr snapToGrid="0">
      <p:cViewPr>
        <p:scale>
          <a:sx n="105" d="100"/>
          <a:sy n="105" d="100"/>
        </p:scale>
        <p:origin x="7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3" d="100"/>
          <a:sy n="73" d="100"/>
        </p:scale>
        <p:origin x="2064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1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2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3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5.xlsx"/><Relationship Id="rId1" Type="http://schemas.openxmlformats.org/officeDocument/2006/relationships/themeOverride" Target="../theme/themeOverride4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6.xlsx"/><Relationship Id="rId1" Type="http://schemas.openxmlformats.org/officeDocument/2006/relationships/themeOverride" Target="../theme/themeOverrid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/>
          <a:lstStyle/>
          <a:p>
            <a:pPr>
              <a:defRPr>
                <a:solidFill>
                  <a:schemeClr val="tx1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2026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mn-MN" baseline="0" dirty="0">
                <a:solidFill>
                  <a:schemeClr val="tx1"/>
                </a:solidFill>
              </a:rPr>
              <a:t>оны эхээрх төсөөлөл</a:t>
            </a:r>
            <a:endParaRPr lang="en-US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8.2488847629270404E-2"/>
          <c:y val="2.5257739228035259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0998911170302983"/>
          <c:y val="0.16047993682129999"/>
          <c:w val="0.32889913436626189"/>
          <c:h val="0.7479576245162140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9C-4BAE-B96F-C96ED9AE5278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defRPr>
                    </a:pPr>
                    <a:fld id="{63392B98-1CF3-42A6-B4DD-2F0165F9BFF5}" type="VALUE">
                      <a:rPr lang="en-US" b="1" smtClean="0">
                        <a:solidFill>
                          <a:schemeClr val="bg1"/>
                        </a:solidFill>
                        <a:effectLst/>
                      </a:rPr>
                      <a:pPr>
                        <a:defRPr sz="1600" b="1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defRPr>
                      </a:pPr>
                      <a:t>[VALUE]</a:t>
                    </a:fld>
                    <a:r>
                      <a:rPr lang="en-US" b="1" dirty="0">
                        <a:solidFill>
                          <a:schemeClr val="bg1"/>
                        </a:solidFill>
                        <a:effectLst/>
                      </a:rPr>
                      <a:t>%</a:t>
                    </a:r>
                  </a:p>
                </c:rich>
              </c:tx>
              <c:numFmt formatCode="#,##0.0" sourceLinked="0"/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B9C-4BAE-B96F-C96ED9AE5278}"/>
                </c:ext>
              </c:extLst>
            </c:dLbl>
            <c:dLbl>
              <c:idx val="1"/>
              <c:layout>
                <c:manualLayout>
                  <c:x val="0.1298964765426423"/>
                  <c:y val="-2.2961581116395691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~5.0-</a:t>
                    </a:r>
                    <a:fld id="{221E36D6-525D-4550-9D03-E73ACC4AB4C3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B9C-4BAE-B96F-C96ED9AE5278}"/>
                </c:ext>
              </c:extLst>
            </c:dLbl>
            <c:dLbl>
              <c:idx val="2"/>
              <c:layout>
                <c:manualLayout>
                  <c:x val="0.18362240605564237"/>
                  <c:y val="2.2963389114907949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+</a:t>
                    </a:r>
                    <a:fld id="{30EEED50-8510-4A3D-ACD2-2CD03A6F163E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955229842605934E-2"/>
                      <c:h val="0.13266315649782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B9C-4BAE-B96F-C96ED9AE5278}"/>
                </c:ext>
              </c:extLst>
            </c:dLbl>
            <c:dLbl>
              <c:idx val="3"/>
              <c:layout>
                <c:manualLayout>
                  <c:x val="9.701989016114311E-2"/>
                  <c:y val="0"/>
                </c:manualLayout>
              </c:layout>
              <c:tx>
                <c:rich>
                  <a:bodyPr/>
                  <a:lstStyle/>
                  <a:p>
                    <a:fld id="{7BEF7BF5-EAD9-4DB8-9BAC-1B904CD5A3AC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B9C-4BAE-B96F-C96ED9AE5278}"/>
                </c:ext>
              </c:extLst>
            </c:dLbl>
            <c:dLbl>
              <c:idx val="4"/>
              <c:layout>
                <c:manualLayout>
                  <c:x val="5.5979612194300074E-2"/>
                  <c:y val="-4.2095745753078321E-17"/>
                </c:manualLayout>
              </c:layout>
              <c:tx>
                <c:rich>
                  <a:bodyPr/>
                  <a:lstStyle/>
                  <a:p>
                    <a:fld id="{7151AEF8-0DEE-4AB6-B948-92E55F120447}" type="VALUE">
                      <a:rPr lang="en-US" smtClean="0"/>
                      <a:pPr/>
                      <a:t>[VALUE]</a:t>
                    </a:fld>
                    <a:endParaRPr lang="en-M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B9C-4BAE-B96F-C96ED9AE5278}"/>
                </c:ext>
              </c:extLst>
            </c:dLbl>
            <c:dLbl>
              <c:idx val="5"/>
              <c:layout>
                <c:manualLayout>
                  <c:x val="8.4903338681710516E-2"/>
                  <c:y val="2.2961581116395691E-3"/>
                </c:manualLayout>
              </c:layout>
              <c:tx>
                <c:rich>
                  <a:bodyPr/>
                  <a:lstStyle/>
                  <a:p>
                    <a:fld id="{FD6A7298-0CAF-4E8D-A217-0F597E8BB8B5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7B9C-4BAE-B96F-C96ED9AE5278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effectLst/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Бодлогын хүү</c:v>
                </c:pt>
                <c:pt idx="1">
                  <c:v>USD ханш</c:v>
                </c:pt>
                <c:pt idx="2">
                  <c:v>Банкны сектор</c:v>
                </c:pt>
                <c:pt idx="3">
                  <c:v>Инфляц</c:v>
                </c:pt>
                <c:pt idx="4">
                  <c:v>Цэвэр экспорт</c:v>
                </c:pt>
                <c:pt idx="5">
                  <c:v>Бодит ДНБ-ны өсөлт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8</c:v>
                </c:pt>
                <c:pt idx="2">
                  <c:v>15</c:v>
                </c:pt>
                <c:pt idx="3">
                  <c:v>7.6</c:v>
                </c:pt>
                <c:pt idx="4">
                  <c:v>3.2</c:v>
                </c:pt>
                <c:pt idx="5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B9C-4BAE-B96F-C96ED9AE52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740817545790569E-2"/>
                  <c:y val="2.4960797118897289E-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tx1"/>
                        </a:solidFill>
                        <a:latin typeface="Montserrat" pitchFamily="2" charset="0"/>
                        <a:ea typeface="+mn-ea"/>
                        <a:cs typeface="+mn-cs"/>
                      </a:defRPr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(-</a:t>
                    </a:r>
                    <a:fld id="{03890EE7-0D12-472D-9C9B-E75A70D13AE2}" type="VALUE">
                      <a:rPr lang="en-US" smtClean="0">
                        <a:solidFill>
                          <a:schemeClr val="tx1"/>
                        </a:solidFill>
                      </a:rPr>
                      <a:pPr>
                        <a:defRPr sz="1600" b="1" i="0" u="none" strike="noStrike" kern="1200" baseline="0">
                          <a:solidFill>
                            <a:schemeClr val="tx1"/>
                          </a:solidFill>
                          <a:latin typeface="Montserrat" pitchFamily="2" charset="0"/>
                          <a:ea typeface="+mn-ea"/>
                          <a:cs typeface="+mn-cs"/>
                        </a:defRPr>
                      </a:pPr>
                      <a:t>[VALUE]</a:t>
                    </a:fld>
                    <a:r>
                      <a:rPr lang="en-US" dirty="0">
                        <a:solidFill>
                          <a:schemeClr val="tx1"/>
                        </a:solidFill>
                      </a:rPr>
                      <a:t>%)*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9640267701529308E-2"/>
                      <c:h val="7.106862475316298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7B9C-4BAE-B96F-C96ED9AE5278}"/>
                </c:ext>
              </c:extLst>
            </c:dLbl>
            <c:dLbl>
              <c:idx val="3"/>
              <c:layout>
                <c:manualLayout>
                  <c:x val="6.0975609756097469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1600" dirty="0"/>
                      <a:t>(+-</a:t>
                    </a:r>
                    <a:fld id="{62F1E2CC-29F8-4EFD-A520-5704DD9E6309}" type="VALUE">
                      <a:rPr lang="en-US" sz="1600" smtClean="0"/>
                      <a:pPr/>
                      <a:t>[VALUE]</a:t>
                    </a:fld>
                    <a:r>
                      <a:rPr lang="en-US" sz="1600" dirty="0"/>
                      <a:t>.0%)*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7B9C-4BAE-B96F-C96ED9AE5278}"/>
                </c:ext>
              </c:extLst>
            </c:dLbl>
            <c:dLbl>
              <c:idx val="4"/>
              <c:layout>
                <c:manualLayout>
                  <c:x val="2.4390243902438935E-2"/>
                  <c:y val="-2.8947046018734729E-1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(±</a:t>
                    </a:r>
                    <a:fld id="{B9D40302-4DC2-4A0A-9299-90D12982536B}" type="VALUE">
                      <a:rPr lang="en-US" smtClean="0"/>
                      <a:pPr/>
                      <a:t>[VALUE]</a:t>
                    </a:fld>
                    <a:r>
                      <a:rPr lang="en-US"/>
                      <a:t>)*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7B9C-4BAE-B96F-C96ED9AE52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002060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Бодлогын хүү</c:v>
                </c:pt>
                <c:pt idx="1">
                  <c:v>USD ханш</c:v>
                </c:pt>
                <c:pt idx="2">
                  <c:v>Банкны сектор</c:v>
                </c:pt>
                <c:pt idx="3">
                  <c:v>Инфляц</c:v>
                </c:pt>
                <c:pt idx="4">
                  <c:v>Цэвэр экспорт</c:v>
                </c:pt>
                <c:pt idx="5">
                  <c:v>Бодит ДНБ-ны өсөлт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B9C-4BAE-B96F-C96ED9AE52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1"/>
        <c:overlap val="100"/>
        <c:axId val="956359664"/>
        <c:axId val="956358416"/>
      </c:barChart>
      <c:catAx>
        <c:axId val="956359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956358416"/>
        <c:crosses val="autoZero"/>
        <c:auto val="1"/>
        <c:lblAlgn val="ctr"/>
        <c:lblOffset val="100"/>
        <c:noMultiLvlLbl val="0"/>
      </c:catAx>
      <c:valAx>
        <c:axId val="956358416"/>
        <c:scaling>
          <c:orientation val="minMax"/>
          <c:max val="18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956359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Montserrat" pitchFamily="2" charset="0"/>
        </a:defRPr>
      </a:pPr>
      <a:endParaRPr lang="en-M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200" b="1" dirty="0"/>
              <a:t>Бодит ДНБ-ий өсөлт, өссөн дүнгээр (%)</a:t>
            </a:r>
          </a:p>
        </c:rich>
      </c:tx>
      <c:layout>
        <c:manualLayout>
          <c:xMode val="edge"/>
          <c:yMode val="edge"/>
          <c:x val="0.20755867360984326"/>
          <c:y val="2.0352307692307694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I-III</c:v>
                </c:pt>
                <c:pt idx="1">
                  <c:v>I-VI</c:v>
                </c:pt>
                <c:pt idx="2">
                  <c:v>I-IX</c:v>
                </c:pt>
                <c:pt idx="3">
                  <c:v>I-XII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8.07</c:v>
                </c:pt>
                <c:pt idx="1">
                  <c:v>5.75</c:v>
                </c:pt>
                <c:pt idx="2">
                  <c:v>5.24</c:v>
                </c:pt>
                <c:pt idx="3">
                  <c:v>5.12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BF-4675-88DE-44DB9D243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F6783F"/>
            </a:solidFill>
            <a:ln>
              <a:solidFill>
                <a:srgbClr val="FF6600"/>
              </a:solidFill>
            </a:ln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fld id="{315378BF-C2E7-4B0E-A92C-37A4BA89C7DA}" type="VALUE">
                      <a:rPr lang="en-US" smtClean="0"/>
                      <a:pPr/>
                      <a:t>[VALUE]</a:t>
                    </a:fld>
                    <a:endParaRPr lang="en-M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5B1-4995-B44A-5C99BB97563F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I-III</c:v>
                </c:pt>
                <c:pt idx="1">
                  <c:v>I-VI</c:v>
                </c:pt>
                <c:pt idx="2">
                  <c:v>I-IX</c:v>
                </c:pt>
                <c:pt idx="3">
                  <c:v>I-XII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2.64</c:v>
                </c:pt>
                <c:pt idx="1">
                  <c:v>5.62</c:v>
                </c:pt>
                <c:pt idx="2">
                  <c:v>5.94</c:v>
                </c:pt>
                <c:pt idx="3">
                  <c:v>6.84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BF-4675-88DE-44DB9D2430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I-III</c:v>
                </c:pt>
                <c:pt idx="1">
                  <c:v>I-VI</c:v>
                </c:pt>
                <c:pt idx="2">
                  <c:v>I-IX</c:v>
                </c:pt>
                <c:pt idx="3">
                  <c:v>I-XII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7.87</c:v>
                </c:pt>
                <c:pt idx="1">
                  <c:v>7.67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BF-4675-88DE-44DB9D243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3461247"/>
        <c:axId val="1883458751"/>
      </c:barChart>
      <c:catAx>
        <c:axId val="1883461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883458751"/>
        <c:crosses val="autoZero"/>
        <c:auto val="1"/>
        <c:lblAlgn val="ctr"/>
        <c:lblOffset val="100"/>
        <c:noMultiLvlLbl val="0"/>
      </c:catAx>
      <c:valAx>
        <c:axId val="18834587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3461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 sz="1600">
          <a:solidFill>
            <a:schemeClr val="tx1"/>
          </a:solidFill>
          <a:latin typeface="Montserrat" pitchFamily="2" charset="0"/>
        </a:defRPr>
      </a:pPr>
      <a:endParaRPr lang="en-M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r>
              <a:rPr lang="mn-MN" b="1"/>
              <a:t>ДНБ-ийн өсөлтөд үзүүлэх салбаруудын хувь нэмэр</a:t>
            </a:r>
            <a:endParaRPr lang="en-US" b="1"/>
          </a:p>
        </c:rich>
      </c:tx>
      <c:layout>
        <c:manualLayout>
          <c:xMode val="edge"/>
          <c:yMode val="edge"/>
          <c:x val="7.8728873716416481E-4"/>
          <c:y val="0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(I-XII)</c:v>
                </c:pt>
              </c:strCache>
            </c:strRef>
          </c:tx>
          <c:spPr>
            <a:solidFill>
              <a:srgbClr val="9AA5B1"/>
            </a:solidFill>
            <a:ln>
              <a:solidFill>
                <a:srgbClr val="9AA5B1"/>
              </a:solidFill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Хөдөө аж ахуй, ойн аж ахуй, загас барилт, ан агнуур</c:v>
                </c:pt>
                <c:pt idx="1">
                  <c:v>Уул уурхай, олборлолт</c:v>
                </c:pt>
                <c:pt idx="2">
                  <c:v>Боловсруулах үйлдвэрлэл</c:v>
                </c:pt>
                <c:pt idx="3">
                  <c:v>Цахилгаан, хий, уур, агааржуулалт</c:v>
                </c:pt>
                <c:pt idx="4">
                  <c:v>Барилга</c:v>
                </c:pt>
                <c:pt idx="5">
                  <c:v>Бөөний болон жижиглэн худалдаа, машин, мотоциклийн засвар, үйлчилгээ</c:v>
                </c:pt>
                <c:pt idx="6">
                  <c:v>Тээвэр ба агуулахын үйл ажиллагаа</c:v>
                </c:pt>
                <c:pt idx="7">
                  <c:v>Мэдээлэл, холбоо</c:v>
                </c:pt>
                <c:pt idx="8">
                  <c:v>Үйлчилгээний бусад үйл ажиллагаа</c:v>
                </c:pt>
                <c:pt idx="9">
                  <c:v>Бүтээгдэхүүний цэвэр татвар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2.86</c:v>
                </c:pt>
                <c:pt idx="1">
                  <c:v>1.41</c:v>
                </c:pt>
                <c:pt idx="2">
                  <c:v>0.74</c:v>
                </c:pt>
                <c:pt idx="3">
                  <c:v>0.25</c:v>
                </c:pt>
                <c:pt idx="4">
                  <c:v>0.52</c:v>
                </c:pt>
                <c:pt idx="5">
                  <c:v>-0.55000000000000004</c:v>
                </c:pt>
                <c:pt idx="6">
                  <c:v>0.31</c:v>
                </c:pt>
                <c:pt idx="7">
                  <c:v>0.24</c:v>
                </c:pt>
                <c:pt idx="8">
                  <c:v>1.03</c:v>
                </c:pt>
                <c:pt idx="9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EB-4C41-99D0-6DB6D0C4AB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(I-VI)</c:v>
                </c:pt>
              </c:strCache>
            </c:strRef>
          </c:tx>
          <c:spPr>
            <a:solidFill>
              <a:srgbClr val="E8712A"/>
            </a:solidFill>
            <a:ln>
              <a:solidFill>
                <a:srgbClr val="E8712A"/>
              </a:solidFill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Хөдөө аж ахуй, ойн аж ахуй, загас барилт, ан агнуур</c:v>
                </c:pt>
                <c:pt idx="1">
                  <c:v>Уул уурхай, олборлолт</c:v>
                </c:pt>
                <c:pt idx="2">
                  <c:v>Боловсруулах үйлдвэрлэл</c:v>
                </c:pt>
                <c:pt idx="3">
                  <c:v>Цахилгаан, хий, уур, агааржуулалт</c:v>
                </c:pt>
                <c:pt idx="4">
                  <c:v>Барилга</c:v>
                </c:pt>
                <c:pt idx="5">
                  <c:v>Бөөний болон жижиглэн худалдаа, машин, мотоциклийн засвар, үйлчилгээ</c:v>
                </c:pt>
                <c:pt idx="6">
                  <c:v>Тээвэр ба агуулахын үйл ажиллагаа</c:v>
                </c:pt>
                <c:pt idx="7">
                  <c:v>Мэдээлэл, холбоо</c:v>
                </c:pt>
                <c:pt idx="8">
                  <c:v>Үйлчилгээний бусад үйл ажиллагаа</c:v>
                </c:pt>
                <c:pt idx="9">
                  <c:v>Бүтээгдэхүүний цэвэр татвар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1.45</c:v>
                </c:pt>
                <c:pt idx="1">
                  <c:v>3.91</c:v>
                </c:pt>
                <c:pt idx="2">
                  <c:v>7.0000000000000007E-2</c:v>
                </c:pt>
                <c:pt idx="3">
                  <c:v>0.23</c:v>
                </c:pt>
                <c:pt idx="4">
                  <c:v>0.16</c:v>
                </c:pt>
                <c:pt idx="5">
                  <c:v>-0.02</c:v>
                </c:pt>
                <c:pt idx="6">
                  <c:v>0.82</c:v>
                </c:pt>
                <c:pt idx="7">
                  <c:v>0.25</c:v>
                </c:pt>
                <c:pt idx="8">
                  <c:v>0.76</c:v>
                </c:pt>
                <c:pt idx="9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EB-4C41-99D0-6DB6D0C4A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2"/>
        <c:axId val="777963807"/>
        <c:axId val="777969215"/>
      </c:barChart>
      <c:catAx>
        <c:axId val="77796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800"/>
            </a:pPr>
            <a:endParaRPr lang="en-MN"/>
          </a:p>
        </c:txPr>
        <c:crossAx val="777969215"/>
        <c:crosses val="autoZero"/>
        <c:auto val="1"/>
        <c:lblAlgn val="ctr"/>
        <c:lblOffset val="100"/>
        <c:noMultiLvlLbl val="0"/>
      </c:catAx>
      <c:valAx>
        <c:axId val="777969215"/>
        <c:scaling>
          <c:orientation val="minMax"/>
          <c:max val="6"/>
          <c:min val="-1"/>
        </c:scaling>
        <c:delete val="1"/>
        <c:axPos val="l"/>
        <c:numFmt formatCode="0.0" sourceLinked="0"/>
        <c:majorTickMark val="none"/>
        <c:minorTickMark val="none"/>
        <c:tickLblPos val="nextTo"/>
        <c:crossAx val="77796380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Montserrat" pitchFamily="2" charset="0"/>
        </a:defRPr>
      </a:pPr>
      <a:endParaRPr lang="en-M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200" dirty="0">
                <a:latin typeface=""/>
              </a:rPr>
              <a:t>Эдийн засгийн сарын өсөлт (жилийн өсөлт, хуримтлагдсан, 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Эдийн засгийн сарын өсөлт, жилийн өсөлт %</c:v>
                </c:pt>
              </c:strCache>
            </c:strRef>
          </c:tx>
          <c:spPr>
            <a:ln w="28575">
              <a:solidFill>
                <a:srgbClr val="002060"/>
              </a:solidFill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8.52</c:v>
                </c:pt>
                <c:pt idx="1">
                  <c:v>8.1</c:v>
                </c:pt>
                <c:pt idx="2">
                  <c:v>8.07</c:v>
                </c:pt>
                <c:pt idx="3">
                  <c:v>5.91</c:v>
                </c:pt>
                <c:pt idx="4">
                  <c:v>5.5</c:v>
                </c:pt>
                <c:pt idx="5">
                  <c:v>5.75</c:v>
                </c:pt>
                <c:pt idx="6">
                  <c:v>6.07</c:v>
                </c:pt>
                <c:pt idx="7">
                  <c:v>5.88</c:v>
                </c:pt>
                <c:pt idx="8">
                  <c:v>5.24</c:v>
                </c:pt>
                <c:pt idx="9">
                  <c:v>4.91</c:v>
                </c:pt>
                <c:pt idx="10">
                  <c:v>4.71</c:v>
                </c:pt>
                <c:pt idx="11">
                  <c:v>5.12</c:v>
                </c:pt>
                <c:pt idx="12">
                  <c:v>2.42</c:v>
                </c:pt>
                <c:pt idx="13">
                  <c:v>3.27</c:v>
                </c:pt>
                <c:pt idx="14">
                  <c:v>2.64</c:v>
                </c:pt>
                <c:pt idx="15">
                  <c:v>5.39</c:v>
                </c:pt>
                <c:pt idx="16">
                  <c:v>5.77</c:v>
                </c:pt>
                <c:pt idx="17">
                  <c:v>5.62</c:v>
                </c:pt>
                <c:pt idx="18">
                  <c:v>5.59</c:v>
                </c:pt>
                <c:pt idx="19">
                  <c:v>5.82</c:v>
                </c:pt>
                <c:pt idx="20">
                  <c:v>5.94</c:v>
                </c:pt>
                <c:pt idx="21">
                  <c:v>6.04</c:v>
                </c:pt>
                <c:pt idx="22">
                  <c:v>6.44</c:v>
                </c:pt>
                <c:pt idx="23">
                  <c:v>6.84</c:v>
                </c:pt>
                <c:pt idx="24">
                  <c:v>8.56</c:v>
                </c:pt>
                <c:pt idx="25">
                  <c:v>7.59</c:v>
                </c:pt>
                <c:pt idx="26">
                  <c:v>7.87</c:v>
                </c:pt>
                <c:pt idx="27">
                  <c:v>7.84</c:v>
                </c:pt>
                <c:pt idx="28">
                  <c:v>7.32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A6-0248-94E8-316BF1A833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ontserrat"/>
              </a:defRPr>
            </a:pPr>
            <a:endParaRPr lang="en-M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ontserrat"/>
              </a:defRPr>
            </a:pPr>
            <a:endParaRPr lang="en-M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latin typeface="Montserrat"/>
        </a:defRPr>
      </a:pPr>
      <a:endParaRPr lang="en-M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02060"/>
                </a:solidFill>
                <a:latin typeface="Montserrat"/>
              </a:defRPr>
            </a:pPr>
            <a:r>
              <a:rPr lang="mn-MN"/>
              <a:t>Салбаруудын хувь нэмэр, 2026 оны 5-р сар (нэгж хувь)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нэгж хувь</c:v>
                </c:pt>
              </c:strCache>
            </c:strRef>
          </c:tx>
          <c:spPr>
            <a:solidFill>
              <a:srgbClr val="1B2A5E"/>
            </a:solidFill>
            <a:ln w="28575">
              <a:solidFill>
                <a:srgbClr val="1B2A5E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Уул уурхай, олборлолт</c:v>
                </c:pt>
                <c:pt idx="1">
                  <c:v>Үйлчилгээ</c:v>
                </c:pt>
                <c:pt idx="2">
                  <c:v>Хөдөө аж ахуй</c:v>
                </c:pt>
                <c:pt idx="3">
                  <c:v>Аж үйлдвэр, барилга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3.71</c:v>
                </c:pt>
                <c:pt idx="1">
                  <c:v>1.91</c:v>
                </c:pt>
                <c:pt idx="2">
                  <c:v>1.52</c:v>
                </c:pt>
                <c:pt idx="3">
                  <c:v>0.27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1B2A5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119-1E40-B554-9587EAFD61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ontserrat"/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"/>
          <c:min val="-1"/>
        </c:scaling>
        <c:delete val="0"/>
        <c:axPos val="b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ontserrat"/>
              </a:defRPr>
            </a:pPr>
            <a:endParaRPr lang="en-MN"/>
          </a:p>
        </c:txPr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900">
          <a:latin typeface="Montserrat"/>
        </a:defRPr>
      </a:pPr>
      <a:endParaRPr lang="en-M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200" b="0" i="0" u="none" strike="noStrike" kern="1200" cap="none" spc="2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r>
              <a:rPr lang="mn-MN" sz="1200" b="1" dirty="0">
                <a:solidFill>
                  <a:schemeClr val="tx1"/>
                </a:solidFill>
                <a:latin typeface="Montserrat" pitchFamily="2" charset="0"/>
              </a:rPr>
              <a:t>Инфляцын</a:t>
            </a:r>
            <a:r>
              <a:rPr lang="mn-MN" sz="1200" b="1" baseline="0" dirty="0">
                <a:solidFill>
                  <a:schemeClr val="tx1"/>
                </a:solidFill>
                <a:latin typeface="Montserrat" pitchFamily="2" charset="0"/>
              </a:rPr>
              <a:t> түвшин</a:t>
            </a:r>
            <a:endParaRPr lang="en-US" sz="1200" b="1" dirty="0">
              <a:solidFill>
                <a:schemeClr val="tx1"/>
              </a:solidFill>
              <a:latin typeface="Montserrat" pitchFamily="2" charset="0"/>
            </a:endParaRPr>
          </a:p>
        </c:rich>
      </c:tx>
      <c:layout>
        <c:manualLayout>
          <c:xMode val="edge"/>
          <c:yMode val="edge"/>
          <c:x val="1.4634118322164426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200" b="0" i="0" u="none" strike="noStrike" kern="1200" cap="none" spc="2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title>
    <c:autoTitleDeleted val="0"/>
    <c:plotArea>
      <c:layout>
        <c:manualLayout>
          <c:layoutTarget val="inner"/>
          <c:xMode val="edge"/>
          <c:yMode val="edge"/>
          <c:x val="3.0927838842047653E-2"/>
          <c:y val="0.13089036277599997"/>
          <c:w val="0.92614584883411222"/>
          <c:h val="0.78853583612825273"/>
        </c:manualLayout>
      </c:layout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Инфляц, улсын дүн</c:v>
                </c:pt>
              </c:strCache>
            </c:strRef>
          </c:tx>
          <c:spPr>
            <a:ln w="28575" cap="rnd" cmpd="sng" algn="ctr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25400" cap="flat" cmpd="sng" algn="ctr">
                <a:solidFill>
                  <a:srgbClr val="002060"/>
                </a:solidFill>
                <a:round/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93D-4CDA-9917-D6534A422AC3}"/>
                </c:ext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746-4678-8C17-827D6497D7F6}"/>
                </c:ext>
              </c:extLst>
            </c:dLbl>
            <c:dLbl>
              <c:idx val="7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746-4678-8C17-827D6497D7F6}"/>
                </c:ext>
              </c:extLst>
            </c:dLbl>
            <c:dLbl>
              <c:idx val="9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746-4678-8C17-827D6497D7F6}"/>
                </c:ext>
              </c:extLst>
            </c:dLbl>
            <c:dLbl>
              <c:idx val="1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746-4678-8C17-827D6497D7F6}"/>
                </c:ext>
              </c:extLst>
            </c:dLbl>
            <c:dLbl>
              <c:idx val="1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46-4678-8C17-827D6497D7F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8.6999999999999994E-2</c:v>
                </c:pt>
                <c:pt idx="1">
                  <c:v>8.3000000000000004E-2</c:v>
                </c:pt>
                <c:pt idx="2">
                  <c:v>8.199999999999999E-2</c:v>
                </c:pt>
                <c:pt idx="3">
                  <c:v>8.1000000000000003E-2</c:v>
                </c:pt>
                <c:pt idx="4">
                  <c:v>8.8000000000000009E-2</c:v>
                </c:pt>
                <c:pt idx="5">
                  <c:v>0.09</c:v>
                </c:pt>
                <c:pt idx="6">
                  <c:v>9.1999999999999998E-2</c:v>
                </c:pt>
                <c:pt idx="7">
                  <c:v>8.199999999999999E-2</c:v>
                </c:pt>
                <c:pt idx="8">
                  <c:v>7.4999999999999997E-2</c:v>
                </c:pt>
                <c:pt idx="9">
                  <c:v>7.4999999999999997E-2</c:v>
                </c:pt>
                <c:pt idx="10">
                  <c:v>6.5000000000000002E-2</c:v>
                </c:pt>
                <c:pt idx="11">
                  <c:v>7.400000000000001E-2</c:v>
                </c:pt>
                <c:pt idx="12">
                  <c:v>0.10100000000000001</c:v>
                </c:pt>
                <c:pt idx="13">
                  <c:v>0.112</c:v>
                </c:pt>
                <c:pt idx="14">
                  <c:v>0.12</c:v>
                </c:pt>
                <c:pt idx="15">
                  <c:v>0.13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93D-4CDA-9917-D6534A422AC3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Инфляц, Улаанбаатар</c:v>
                </c:pt>
              </c:strCache>
            </c:strRef>
          </c:tx>
          <c:spPr>
            <a:ln w="9525" cap="rnd" cmpd="sng" algn="ctr">
              <a:solidFill>
                <a:schemeClr val="accent6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746-4678-8C17-827D6497D7F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9.9000000000000005E-2</c:v>
                </c:pt>
                <c:pt idx="1">
                  <c:v>9.4E-2</c:v>
                </c:pt>
                <c:pt idx="2">
                  <c:v>9.4E-2</c:v>
                </c:pt>
                <c:pt idx="3">
                  <c:v>9.3000000000000013E-2</c:v>
                </c:pt>
                <c:pt idx="4">
                  <c:v>9.8000000000000004E-2</c:v>
                </c:pt>
                <c:pt idx="5">
                  <c:v>9.9000000000000005E-2</c:v>
                </c:pt>
                <c:pt idx="6">
                  <c:v>9.9000000000000005E-2</c:v>
                </c:pt>
                <c:pt idx="7">
                  <c:v>8.6999999999999994E-2</c:v>
                </c:pt>
                <c:pt idx="8">
                  <c:v>7.5999999999999998E-2</c:v>
                </c:pt>
                <c:pt idx="9">
                  <c:v>7.4999999999999997E-2</c:v>
                </c:pt>
                <c:pt idx="10">
                  <c:v>0.06</c:v>
                </c:pt>
                <c:pt idx="11">
                  <c:v>7.2999999999999995E-2</c:v>
                </c:pt>
                <c:pt idx="12">
                  <c:v>0.10100000000000001</c:v>
                </c:pt>
                <c:pt idx="13">
                  <c:v>0.11</c:v>
                </c:pt>
                <c:pt idx="14">
                  <c:v>0.123</c:v>
                </c:pt>
                <c:pt idx="15">
                  <c:v>0.13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93D-4CDA-9917-D6534A422A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Зорилтот түвшин</c:v>
                </c:pt>
              </c:strCache>
            </c:strRef>
          </c:tx>
          <c:spPr>
            <a:ln w="9525" cap="rnd" cmpd="sng" algn="ctr">
              <a:solidFill>
                <a:schemeClr val="accent6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746-4678-8C17-827D6497D7F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0.08</c:v>
                </c:pt>
                <c:pt idx="1">
                  <c:v>0.08</c:v>
                </c:pt>
                <c:pt idx="2">
                  <c:v>0.08</c:v>
                </c:pt>
                <c:pt idx="3">
                  <c:v>0.08</c:v>
                </c:pt>
                <c:pt idx="4">
                  <c:v>0.08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  <c:pt idx="9">
                  <c:v>0.08</c:v>
                </c:pt>
                <c:pt idx="10">
                  <c:v>0.08</c:v>
                </c:pt>
                <c:pt idx="11">
                  <c:v>0.08</c:v>
                </c:pt>
                <c:pt idx="12">
                  <c:v>0.08</c:v>
                </c:pt>
                <c:pt idx="13">
                  <c:v>0.08</c:v>
                </c:pt>
                <c:pt idx="14">
                  <c:v>0.08</c:v>
                </c:pt>
                <c:pt idx="15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93D-4CDA-9917-D6534A422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313271040"/>
        <c:axId val="-1313281376"/>
      </c:lineChart>
      <c:catAx>
        <c:axId val="-1313271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-1313281376"/>
        <c:crosses val="autoZero"/>
        <c:auto val="1"/>
        <c:lblAlgn val="ctr"/>
        <c:lblOffset val="100"/>
        <c:noMultiLvlLbl val="1"/>
      </c:catAx>
      <c:valAx>
        <c:axId val="-131328137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-1313271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Montserrat" pitchFamily="2" charset="0"/>
        </a:defRPr>
      </a:pPr>
      <a:endParaRPr lang="en-M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100" b="1"/>
              <a:t>Инфляцын бүтэц, 2026 оны 7-р сар (нэгж хувь)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Хувь нэмэр, нэгж хувь</c:v>
                </c:pt>
              </c:strCache>
            </c:strRef>
          </c:tx>
          <c:spPr>
            <a:solidFill>
              <a:srgbClr val="002060"/>
            </a:solidFill>
            <a:ln w="28575">
              <a:solidFill>
                <a:srgbClr val="002060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Montserrat"/>
                  </a:defRPr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Холбоо</c:v>
                </c:pt>
                <c:pt idx="1">
                  <c:v>Даатгал, санхүү</c:v>
                </c:pt>
                <c:pt idx="2">
                  <c:v>Амралт, чөлөөт цаг</c:v>
                </c:pt>
                <c:pt idx="3">
                  <c:v>Архи, тамхи</c:v>
                </c:pt>
                <c:pt idx="4">
                  <c:v>Гэр ахуйн тавилга</c:v>
                </c:pt>
                <c:pt idx="5">
                  <c:v>Зочид буудал, хоол</c:v>
                </c:pt>
                <c:pt idx="6">
                  <c:v>Эм, эмнэлэг</c:v>
                </c:pt>
                <c:pt idx="7">
                  <c:v>Орон сууц, түлш</c:v>
                </c:pt>
                <c:pt idx="8">
                  <c:v>Бусад бараа</c:v>
                </c:pt>
                <c:pt idx="9">
                  <c:v>Боловсрол</c:v>
                </c:pt>
                <c:pt idx="10">
                  <c:v>Хувцас, гутал</c:v>
                </c:pt>
                <c:pt idx="11">
                  <c:v>Тээвэр</c:v>
                </c:pt>
                <c:pt idx="12">
                  <c:v>Хүнс, ундаа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0.08</c:v>
                </c:pt>
                <c:pt idx="1">
                  <c:v>0.08</c:v>
                </c:pt>
                <c:pt idx="2">
                  <c:v>0.1</c:v>
                </c:pt>
                <c:pt idx="3">
                  <c:v>0.12</c:v>
                </c:pt>
                <c:pt idx="4">
                  <c:v>0.41</c:v>
                </c:pt>
                <c:pt idx="5">
                  <c:v>0.43</c:v>
                </c:pt>
                <c:pt idx="6">
                  <c:v>0.53</c:v>
                </c:pt>
                <c:pt idx="7">
                  <c:v>0.54</c:v>
                </c:pt>
                <c:pt idx="8">
                  <c:v>0.57999999999999996</c:v>
                </c:pt>
                <c:pt idx="9">
                  <c:v>0.76</c:v>
                </c:pt>
                <c:pt idx="10">
                  <c:v>0.93</c:v>
                </c:pt>
                <c:pt idx="11">
                  <c:v>1.48</c:v>
                </c:pt>
                <c:pt idx="12">
                  <c:v>7.01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00206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564-9342-AA0E-52666B9E02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latin typeface="Montserrat"/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  <c:min val="0"/>
        </c:scaling>
        <c:delete val="0"/>
        <c:axPos val="b"/>
        <c:majorGridlines>
          <c:spPr>
            <a:ln w="6350">
              <a:solidFill>
                <a:srgbClr val="E6E6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ontserrat"/>
              </a:defRPr>
            </a:pPr>
            <a:endParaRPr lang="en-MN"/>
          </a:p>
        </c:txPr>
        <c:crossAx val="-2068027336"/>
        <c:crosses val="autoZero"/>
        <c:crossBetween val="between"/>
        <c:majorUnit val="2"/>
      </c:valAx>
    </c:plotArea>
    <c:plotVisOnly val="1"/>
    <c:dispBlanksAs val="gap"/>
    <c:showDLblsOverMax val="1"/>
  </c:chart>
  <c:txPr>
    <a:bodyPr/>
    <a:lstStyle/>
    <a:p>
      <a:pPr>
        <a:defRPr sz="900">
          <a:latin typeface="Montserrat"/>
        </a:defRPr>
      </a:pPr>
      <a:endParaRPr lang="en-M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r>
              <a:rPr lang="mn-MN" dirty="0">
                <a:latin typeface=""/>
              </a:rPr>
              <a:t>Зарим гол</a:t>
            </a:r>
            <a:r>
              <a:rPr lang="mn-MN" baseline="0" dirty="0">
                <a:latin typeface=""/>
              </a:rPr>
              <a:t> </a:t>
            </a:r>
            <a:r>
              <a:rPr lang="mn-MN" dirty="0">
                <a:latin typeface=""/>
              </a:rPr>
              <a:t>барааны үнэ, 7 хоногоор</a:t>
            </a:r>
            <a:endParaRPr lang="en-US" dirty="0">
              <a:latin typeface="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Bahnschrift Light" panose="020B0502040204020203" pitchFamily="34" charset="0"/>
              <a:ea typeface="+mn-ea"/>
              <a:cs typeface="+mn-cs"/>
            </a:defRPr>
          </a:pPr>
          <a:endParaRPr lang="en-M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Хонины мах, ястай, кг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12-30</c:v>
                </c:pt>
                <c:pt idx="1">
                  <c:v>01-05</c:v>
                </c:pt>
                <c:pt idx="2">
                  <c:v>01-12</c:v>
                </c:pt>
                <c:pt idx="3">
                  <c:v>01-19</c:v>
                </c:pt>
                <c:pt idx="4">
                  <c:v>01-26</c:v>
                </c:pt>
                <c:pt idx="5">
                  <c:v>02-02</c:v>
                </c:pt>
                <c:pt idx="6">
                  <c:v>02-09</c:v>
                </c:pt>
                <c:pt idx="7">
                  <c:v>02-23</c:v>
                </c:pt>
                <c:pt idx="8">
                  <c:v>03-02</c:v>
                </c:pt>
                <c:pt idx="9">
                  <c:v>03-09</c:v>
                </c:pt>
                <c:pt idx="10">
                  <c:v>03-16</c:v>
                </c:pt>
                <c:pt idx="11">
                  <c:v>03-23</c:v>
                </c:pt>
                <c:pt idx="12">
                  <c:v>03-30</c:v>
                </c:pt>
                <c:pt idx="13">
                  <c:v>04-06</c:v>
                </c:pt>
                <c:pt idx="14">
                  <c:v>04-13</c:v>
                </c:pt>
                <c:pt idx="15">
                  <c:v>04-20</c:v>
                </c:pt>
                <c:pt idx="16">
                  <c:v>04-27</c:v>
                </c:pt>
                <c:pt idx="17">
                  <c:v>05-04</c:v>
                </c:pt>
                <c:pt idx="18">
                  <c:v>05-11</c:v>
                </c:pt>
                <c:pt idx="19">
                  <c:v>05-18</c:v>
                </c:pt>
                <c:pt idx="20">
                  <c:v>05-25</c:v>
                </c:pt>
                <c:pt idx="21">
                  <c:v>06-02</c:v>
                </c:pt>
                <c:pt idx="22">
                  <c:v>06-08</c:v>
                </c:pt>
                <c:pt idx="23">
                  <c:v>06-15</c:v>
                </c:pt>
                <c:pt idx="24">
                  <c:v>06-22</c:v>
                </c:pt>
                <c:pt idx="25">
                  <c:v>06-29</c:v>
                </c:pt>
                <c:pt idx="26">
                  <c:v>07-06</c:v>
                </c:pt>
                <c:pt idx="27">
                  <c:v>07-20</c:v>
                </c:pt>
                <c:pt idx="28">
                  <c:v>07-27</c:v>
                </c:pt>
                <c:pt idx="29">
                  <c:v>08-03</c:v>
                </c:pt>
                <c:pt idx="30">
                  <c:v>08-10</c:v>
                </c:pt>
                <c:pt idx="31">
                  <c:v>08-17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17252</c:v>
                </c:pt>
                <c:pt idx="1">
                  <c:v>17343</c:v>
                </c:pt>
                <c:pt idx="2">
                  <c:v>18073</c:v>
                </c:pt>
                <c:pt idx="3">
                  <c:v>18484</c:v>
                </c:pt>
                <c:pt idx="4">
                  <c:v>18849</c:v>
                </c:pt>
                <c:pt idx="5">
                  <c:v>18919</c:v>
                </c:pt>
                <c:pt idx="6">
                  <c:v>19314</c:v>
                </c:pt>
                <c:pt idx="7">
                  <c:v>19314</c:v>
                </c:pt>
                <c:pt idx="8">
                  <c:v>20303</c:v>
                </c:pt>
                <c:pt idx="9">
                  <c:v>21197</c:v>
                </c:pt>
                <c:pt idx="10">
                  <c:v>21185</c:v>
                </c:pt>
                <c:pt idx="11">
                  <c:v>21435</c:v>
                </c:pt>
                <c:pt idx="12">
                  <c:v>21984</c:v>
                </c:pt>
                <c:pt idx="13">
                  <c:v>23724</c:v>
                </c:pt>
                <c:pt idx="14">
                  <c:v>24984</c:v>
                </c:pt>
                <c:pt idx="15">
                  <c:v>25483</c:v>
                </c:pt>
                <c:pt idx="16">
                  <c:v>25729</c:v>
                </c:pt>
                <c:pt idx="17">
                  <c:v>26337</c:v>
                </c:pt>
                <c:pt idx="18">
                  <c:v>26506</c:v>
                </c:pt>
                <c:pt idx="19">
                  <c:v>26740</c:v>
                </c:pt>
                <c:pt idx="20">
                  <c:v>26651</c:v>
                </c:pt>
                <c:pt idx="21">
                  <c:v>27666</c:v>
                </c:pt>
                <c:pt idx="22">
                  <c:v>27763</c:v>
                </c:pt>
                <c:pt idx="23">
                  <c:v>27413</c:v>
                </c:pt>
                <c:pt idx="24">
                  <c:v>27850</c:v>
                </c:pt>
                <c:pt idx="25">
                  <c:v>27706</c:v>
                </c:pt>
                <c:pt idx="26">
                  <c:v>27668</c:v>
                </c:pt>
                <c:pt idx="27">
                  <c:v>27798</c:v>
                </c:pt>
                <c:pt idx="28">
                  <c:v>27417</c:v>
                </c:pt>
                <c:pt idx="29">
                  <c:v>27342</c:v>
                </c:pt>
                <c:pt idx="30">
                  <c:v>27063</c:v>
                </c:pt>
                <c:pt idx="31">
                  <c:v>26152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F8-40BC-B871-614587C75A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Үхрийн мах, ястай, кг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12-30</c:v>
                </c:pt>
                <c:pt idx="1">
                  <c:v>01-05</c:v>
                </c:pt>
                <c:pt idx="2">
                  <c:v>01-12</c:v>
                </c:pt>
                <c:pt idx="3">
                  <c:v>01-19</c:v>
                </c:pt>
                <c:pt idx="4">
                  <c:v>01-26</c:v>
                </c:pt>
                <c:pt idx="5">
                  <c:v>02-02</c:v>
                </c:pt>
                <c:pt idx="6">
                  <c:v>02-09</c:v>
                </c:pt>
                <c:pt idx="7">
                  <c:v>02-23</c:v>
                </c:pt>
                <c:pt idx="8">
                  <c:v>03-02</c:v>
                </c:pt>
                <c:pt idx="9">
                  <c:v>03-09</c:v>
                </c:pt>
                <c:pt idx="10">
                  <c:v>03-16</c:v>
                </c:pt>
                <c:pt idx="11">
                  <c:v>03-23</c:v>
                </c:pt>
                <c:pt idx="12">
                  <c:v>03-30</c:v>
                </c:pt>
                <c:pt idx="13">
                  <c:v>04-06</c:v>
                </c:pt>
                <c:pt idx="14">
                  <c:v>04-13</c:v>
                </c:pt>
                <c:pt idx="15">
                  <c:v>04-20</c:v>
                </c:pt>
                <c:pt idx="16">
                  <c:v>04-27</c:v>
                </c:pt>
                <c:pt idx="17">
                  <c:v>05-04</c:v>
                </c:pt>
                <c:pt idx="18">
                  <c:v>05-11</c:v>
                </c:pt>
                <c:pt idx="19">
                  <c:v>05-18</c:v>
                </c:pt>
                <c:pt idx="20">
                  <c:v>05-25</c:v>
                </c:pt>
                <c:pt idx="21">
                  <c:v>06-02</c:v>
                </c:pt>
                <c:pt idx="22">
                  <c:v>06-08</c:v>
                </c:pt>
                <c:pt idx="23">
                  <c:v>06-15</c:v>
                </c:pt>
                <c:pt idx="24">
                  <c:v>06-22</c:v>
                </c:pt>
                <c:pt idx="25">
                  <c:v>06-29</c:v>
                </c:pt>
                <c:pt idx="26">
                  <c:v>07-06</c:v>
                </c:pt>
                <c:pt idx="27">
                  <c:v>07-20</c:v>
                </c:pt>
                <c:pt idx="28">
                  <c:v>07-27</c:v>
                </c:pt>
                <c:pt idx="29">
                  <c:v>08-03</c:v>
                </c:pt>
                <c:pt idx="30">
                  <c:v>08-10</c:v>
                </c:pt>
                <c:pt idx="31">
                  <c:v>08-17</c:v>
                </c:pt>
              </c:strCache>
            </c:strRef>
          </c:cat>
          <c:val>
            <c:numRef>
              <c:f>Sheet1!$C$2:$C$33</c:f>
              <c:numCache>
                <c:formatCode>General</c:formatCode>
                <c:ptCount val="32"/>
                <c:pt idx="0">
                  <c:v>22180</c:v>
                </c:pt>
                <c:pt idx="1">
                  <c:v>22685</c:v>
                </c:pt>
                <c:pt idx="2">
                  <c:v>23472</c:v>
                </c:pt>
                <c:pt idx="3">
                  <c:v>23976</c:v>
                </c:pt>
                <c:pt idx="4">
                  <c:v>24172</c:v>
                </c:pt>
                <c:pt idx="5">
                  <c:v>24254</c:v>
                </c:pt>
                <c:pt idx="6">
                  <c:v>24726</c:v>
                </c:pt>
                <c:pt idx="7">
                  <c:v>24765</c:v>
                </c:pt>
                <c:pt idx="8">
                  <c:v>25306</c:v>
                </c:pt>
                <c:pt idx="9">
                  <c:v>25841</c:v>
                </c:pt>
                <c:pt idx="10">
                  <c:v>26285</c:v>
                </c:pt>
                <c:pt idx="11">
                  <c:v>26515</c:v>
                </c:pt>
                <c:pt idx="12">
                  <c:v>26976</c:v>
                </c:pt>
                <c:pt idx="13">
                  <c:v>28328</c:v>
                </c:pt>
                <c:pt idx="14">
                  <c:v>28545</c:v>
                </c:pt>
                <c:pt idx="15">
                  <c:v>28913</c:v>
                </c:pt>
                <c:pt idx="16">
                  <c:v>29880</c:v>
                </c:pt>
                <c:pt idx="17">
                  <c:v>30521</c:v>
                </c:pt>
                <c:pt idx="18">
                  <c:v>30820</c:v>
                </c:pt>
                <c:pt idx="19">
                  <c:v>31474</c:v>
                </c:pt>
                <c:pt idx="20">
                  <c:v>32329</c:v>
                </c:pt>
                <c:pt idx="21">
                  <c:v>33742</c:v>
                </c:pt>
                <c:pt idx="22">
                  <c:v>33883</c:v>
                </c:pt>
                <c:pt idx="23">
                  <c:v>33883</c:v>
                </c:pt>
                <c:pt idx="24">
                  <c:v>34222</c:v>
                </c:pt>
                <c:pt idx="25">
                  <c:v>33882</c:v>
                </c:pt>
                <c:pt idx="26">
                  <c:v>33772</c:v>
                </c:pt>
                <c:pt idx="27">
                  <c:v>33685</c:v>
                </c:pt>
                <c:pt idx="28">
                  <c:v>32470</c:v>
                </c:pt>
                <c:pt idx="29">
                  <c:v>32520</c:v>
                </c:pt>
                <c:pt idx="30">
                  <c:v>32230</c:v>
                </c:pt>
                <c:pt idx="31">
                  <c:v>31680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F8-40BC-B871-614587C75A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4766175"/>
        <c:axId val="2034777407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Үхрийн мах, цул, кг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12-30</c:v>
                </c:pt>
                <c:pt idx="1">
                  <c:v>01-05</c:v>
                </c:pt>
                <c:pt idx="2">
                  <c:v>01-12</c:v>
                </c:pt>
                <c:pt idx="3">
                  <c:v>01-19</c:v>
                </c:pt>
                <c:pt idx="4">
                  <c:v>01-26</c:v>
                </c:pt>
                <c:pt idx="5">
                  <c:v>02-02</c:v>
                </c:pt>
                <c:pt idx="6">
                  <c:v>02-09</c:v>
                </c:pt>
                <c:pt idx="7">
                  <c:v>02-23</c:v>
                </c:pt>
                <c:pt idx="8">
                  <c:v>03-02</c:v>
                </c:pt>
                <c:pt idx="9">
                  <c:v>03-09</c:v>
                </c:pt>
                <c:pt idx="10">
                  <c:v>03-16</c:v>
                </c:pt>
                <c:pt idx="11">
                  <c:v>03-23</c:v>
                </c:pt>
                <c:pt idx="12">
                  <c:v>03-30</c:v>
                </c:pt>
                <c:pt idx="13">
                  <c:v>04-06</c:v>
                </c:pt>
                <c:pt idx="14">
                  <c:v>04-13</c:v>
                </c:pt>
                <c:pt idx="15">
                  <c:v>04-20</c:v>
                </c:pt>
                <c:pt idx="16">
                  <c:v>04-27</c:v>
                </c:pt>
                <c:pt idx="17">
                  <c:v>05-04</c:v>
                </c:pt>
                <c:pt idx="18">
                  <c:v>05-11</c:v>
                </c:pt>
                <c:pt idx="19">
                  <c:v>05-18</c:v>
                </c:pt>
                <c:pt idx="20">
                  <c:v>05-25</c:v>
                </c:pt>
                <c:pt idx="21">
                  <c:v>06-02</c:v>
                </c:pt>
                <c:pt idx="22">
                  <c:v>06-08</c:v>
                </c:pt>
                <c:pt idx="23">
                  <c:v>06-15</c:v>
                </c:pt>
                <c:pt idx="24">
                  <c:v>06-22</c:v>
                </c:pt>
                <c:pt idx="25">
                  <c:v>06-29</c:v>
                </c:pt>
                <c:pt idx="26">
                  <c:v>07-06</c:v>
                </c:pt>
                <c:pt idx="27">
                  <c:v>07-20</c:v>
                </c:pt>
                <c:pt idx="28">
                  <c:v>07-27</c:v>
                </c:pt>
                <c:pt idx="29">
                  <c:v>08-03</c:v>
                </c:pt>
                <c:pt idx="30">
                  <c:v>08-10</c:v>
                </c:pt>
                <c:pt idx="31">
                  <c:v>08-17</c:v>
                </c:pt>
              </c:strCache>
            </c:strRef>
          </c:cat>
          <c:val>
            <c:numRef>
              <c:f>Sheet1!$D$2:$D$33</c:f>
              <c:numCache>
                <c:formatCode>General</c:formatCode>
                <c:ptCount val="32"/>
                <c:pt idx="0">
                  <c:v>25791</c:v>
                </c:pt>
                <c:pt idx="1">
                  <c:v>26206</c:v>
                </c:pt>
                <c:pt idx="2">
                  <c:v>27198</c:v>
                </c:pt>
                <c:pt idx="3">
                  <c:v>27935</c:v>
                </c:pt>
                <c:pt idx="4">
                  <c:v>28287</c:v>
                </c:pt>
                <c:pt idx="5">
                  <c:v>28525</c:v>
                </c:pt>
                <c:pt idx="6">
                  <c:v>28926</c:v>
                </c:pt>
                <c:pt idx="7">
                  <c:v>28986</c:v>
                </c:pt>
                <c:pt idx="8">
                  <c:v>29352</c:v>
                </c:pt>
                <c:pt idx="9">
                  <c:v>29612</c:v>
                </c:pt>
                <c:pt idx="10">
                  <c:v>30179</c:v>
                </c:pt>
                <c:pt idx="11">
                  <c:v>30417</c:v>
                </c:pt>
                <c:pt idx="12">
                  <c:v>30887</c:v>
                </c:pt>
                <c:pt idx="13">
                  <c:v>31819</c:v>
                </c:pt>
                <c:pt idx="14">
                  <c:v>32733</c:v>
                </c:pt>
                <c:pt idx="15">
                  <c:v>33802</c:v>
                </c:pt>
                <c:pt idx="16">
                  <c:v>34707</c:v>
                </c:pt>
                <c:pt idx="17">
                  <c:v>35436</c:v>
                </c:pt>
                <c:pt idx="18">
                  <c:v>35848</c:v>
                </c:pt>
                <c:pt idx="19">
                  <c:v>36669</c:v>
                </c:pt>
                <c:pt idx="20">
                  <c:v>37101</c:v>
                </c:pt>
                <c:pt idx="21">
                  <c:v>37835</c:v>
                </c:pt>
                <c:pt idx="22">
                  <c:v>38210</c:v>
                </c:pt>
                <c:pt idx="23">
                  <c:v>38125</c:v>
                </c:pt>
                <c:pt idx="24">
                  <c:v>38619</c:v>
                </c:pt>
                <c:pt idx="25">
                  <c:v>38585</c:v>
                </c:pt>
                <c:pt idx="26">
                  <c:v>38500</c:v>
                </c:pt>
                <c:pt idx="27">
                  <c:v>38504</c:v>
                </c:pt>
                <c:pt idx="28">
                  <c:v>37878</c:v>
                </c:pt>
                <c:pt idx="29">
                  <c:v>37767</c:v>
                </c:pt>
                <c:pt idx="30">
                  <c:v>37223</c:v>
                </c:pt>
                <c:pt idx="31">
                  <c:v>36611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F8-40BC-B871-614587C75A0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Аи-92 автобензин, л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12-30</c:v>
                </c:pt>
                <c:pt idx="1">
                  <c:v>01-05</c:v>
                </c:pt>
                <c:pt idx="2">
                  <c:v>01-12</c:v>
                </c:pt>
                <c:pt idx="3">
                  <c:v>01-19</c:v>
                </c:pt>
                <c:pt idx="4">
                  <c:v>01-26</c:v>
                </c:pt>
                <c:pt idx="5">
                  <c:v>02-02</c:v>
                </c:pt>
                <c:pt idx="6">
                  <c:v>02-09</c:v>
                </c:pt>
                <c:pt idx="7">
                  <c:v>02-23</c:v>
                </c:pt>
                <c:pt idx="8">
                  <c:v>03-02</c:v>
                </c:pt>
                <c:pt idx="9">
                  <c:v>03-09</c:v>
                </c:pt>
                <c:pt idx="10">
                  <c:v>03-16</c:v>
                </c:pt>
                <c:pt idx="11">
                  <c:v>03-23</c:v>
                </c:pt>
                <c:pt idx="12">
                  <c:v>03-30</c:v>
                </c:pt>
                <c:pt idx="13">
                  <c:v>04-06</c:v>
                </c:pt>
                <c:pt idx="14">
                  <c:v>04-13</c:v>
                </c:pt>
                <c:pt idx="15">
                  <c:v>04-20</c:v>
                </c:pt>
                <c:pt idx="16">
                  <c:v>04-27</c:v>
                </c:pt>
                <c:pt idx="17">
                  <c:v>05-04</c:v>
                </c:pt>
                <c:pt idx="18">
                  <c:v>05-11</c:v>
                </c:pt>
                <c:pt idx="19">
                  <c:v>05-18</c:v>
                </c:pt>
                <c:pt idx="20">
                  <c:v>05-25</c:v>
                </c:pt>
                <c:pt idx="21">
                  <c:v>06-02</c:v>
                </c:pt>
                <c:pt idx="22">
                  <c:v>06-08</c:v>
                </c:pt>
                <c:pt idx="23">
                  <c:v>06-15</c:v>
                </c:pt>
                <c:pt idx="24">
                  <c:v>06-22</c:v>
                </c:pt>
                <c:pt idx="25">
                  <c:v>06-29</c:v>
                </c:pt>
                <c:pt idx="26">
                  <c:v>07-06</c:v>
                </c:pt>
                <c:pt idx="27">
                  <c:v>07-20</c:v>
                </c:pt>
                <c:pt idx="28">
                  <c:v>07-27</c:v>
                </c:pt>
                <c:pt idx="29">
                  <c:v>08-03</c:v>
                </c:pt>
                <c:pt idx="30">
                  <c:v>08-10</c:v>
                </c:pt>
                <c:pt idx="31">
                  <c:v>08-17</c:v>
                </c:pt>
              </c:strCache>
            </c:strRef>
          </c:cat>
          <c:val>
            <c:numRef>
              <c:f>Sheet1!$E$2:$E$33</c:f>
              <c:numCache>
                <c:formatCode>General</c:formatCode>
                <c:ptCount val="32"/>
                <c:pt idx="0">
                  <c:v>2590</c:v>
                </c:pt>
                <c:pt idx="1">
                  <c:v>2590</c:v>
                </c:pt>
                <c:pt idx="2">
                  <c:v>2590</c:v>
                </c:pt>
                <c:pt idx="3">
                  <c:v>2590</c:v>
                </c:pt>
                <c:pt idx="4">
                  <c:v>2590</c:v>
                </c:pt>
                <c:pt idx="5">
                  <c:v>2590</c:v>
                </c:pt>
                <c:pt idx="6">
                  <c:v>2590</c:v>
                </c:pt>
                <c:pt idx="7">
                  <c:v>2590</c:v>
                </c:pt>
                <c:pt idx="8">
                  <c:v>2590</c:v>
                </c:pt>
                <c:pt idx="9">
                  <c:v>2590</c:v>
                </c:pt>
                <c:pt idx="10">
                  <c:v>2590</c:v>
                </c:pt>
                <c:pt idx="11">
                  <c:v>2590</c:v>
                </c:pt>
                <c:pt idx="12">
                  <c:v>2590</c:v>
                </c:pt>
                <c:pt idx="13">
                  <c:v>2590</c:v>
                </c:pt>
                <c:pt idx="14">
                  <c:v>2590</c:v>
                </c:pt>
                <c:pt idx="15">
                  <c:v>2590</c:v>
                </c:pt>
                <c:pt idx="16">
                  <c:v>2590</c:v>
                </c:pt>
                <c:pt idx="17">
                  <c:v>2590</c:v>
                </c:pt>
                <c:pt idx="18">
                  <c:v>2590</c:v>
                </c:pt>
                <c:pt idx="19">
                  <c:v>2590</c:v>
                </c:pt>
                <c:pt idx="20">
                  <c:v>2590</c:v>
                </c:pt>
                <c:pt idx="21">
                  <c:v>2590</c:v>
                </c:pt>
                <c:pt idx="22">
                  <c:v>2590</c:v>
                </c:pt>
                <c:pt idx="23">
                  <c:v>2590</c:v>
                </c:pt>
                <c:pt idx="24">
                  <c:v>2590</c:v>
                </c:pt>
                <c:pt idx="25">
                  <c:v>2590</c:v>
                </c:pt>
                <c:pt idx="26">
                  <c:v>2590</c:v>
                </c:pt>
                <c:pt idx="27">
                  <c:v>2840</c:v>
                </c:pt>
                <c:pt idx="28">
                  <c:v>2840</c:v>
                </c:pt>
                <c:pt idx="29">
                  <c:v>2840</c:v>
                </c:pt>
                <c:pt idx="30">
                  <c:v>2840</c:v>
                </c:pt>
                <c:pt idx="31">
                  <c:v>3040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EF8-40BC-B871-614587C75A0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Дизелийн түлш, л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12-30</c:v>
                </c:pt>
                <c:pt idx="1">
                  <c:v>01-05</c:v>
                </c:pt>
                <c:pt idx="2">
                  <c:v>01-12</c:v>
                </c:pt>
                <c:pt idx="3">
                  <c:v>01-19</c:v>
                </c:pt>
                <c:pt idx="4">
                  <c:v>01-26</c:v>
                </c:pt>
                <c:pt idx="5">
                  <c:v>02-02</c:v>
                </c:pt>
                <c:pt idx="6">
                  <c:v>02-09</c:v>
                </c:pt>
                <c:pt idx="7">
                  <c:v>02-23</c:v>
                </c:pt>
                <c:pt idx="8">
                  <c:v>03-02</c:v>
                </c:pt>
                <c:pt idx="9">
                  <c:v>03-09</c:v>
                </c:pt>
                <c:pt idx="10">
                  <c:v>03-16</c:v>
                </c:pt>
                <c:pt idx="11">
                  <c:v>03-23</c:v>
                </c:pt>
                <c:pt idx="12">
                  <c:v>03-30</c:v>
                </c:pt>
                <c:pt idx="13">
                  <c:v>04-06</c:v>
                </c:pt>
                <c:pt idx="14">
                  <c:v>04-13</c:v>
                </c:pt>
                <c:pt idx="15">
                  <c:v>04-20</c:v>
                </c:pt>
                <c:pt idx="16">
                  <c:v>04-27</c:v>
                </c:pt>
                <c:pt idx="17">
                  <c:v>05-04</c:v>
                </c:pt>
                <c:pt idx="18">
                  <c:v>05-11</c:v>
                </c:pt>
                <c:pt idx="19">
                  <c:v>05-18</c:v>
                </c:pt>
                <c:pt idx="20">
                  <c:v>05-25</c:v>
                </c:pt>
                <c:pt idx="21">
                  <c:v>06-02</c:v>
                </c:pt>
                <c:pt idx="22">
                  <c:v>06-08</c:v>
                </c:pt>
                <c:pt idx="23">
                  <c:v>06-15</c:v>
                </c:pt>
                <c:pt idx="24">
                  <c:v>06-22</c:v>
                </c:pt>
                <c:pt idx="25">
                  <c:v>06-29</c:v>
                </c:pt>
                <c:pt idx="26">
                  <c:v>07-06</c:v>
                </c:pt>
                <c:pt idx="27">
                  <c:v>07-20</c:v>
                </c:pt>
                <c:pt idx="28">
                  <c:v>07-27</c:v>
                </c:pt>
                <c:pt idx="29">
                  <c:v>08-03</c:v>
                </c:pt>
                <c:pt idx="30">
                  <c:v>08-10</c:v>
                </c:pt>
                <c:pt idx="31">
                  <c:v>08-17</c:v>
                </c:pt>
              </c:strCache>
            </c:strRef>
          </c:cat>
          <c:val>
            <c:numRef>
              <c:f>Sheet1!$F$2:$F$33</c:f>
              <c:numCache>
                <c:formatCode>General</c:formatCode>
                <c:ptCount val="32"/>
                <c:pt idx="0">
                  <c:v>3140</c:v>
                </c:pt>
                <c:pt idx="1">
                  <c:v>3140</c:v>
                </c:pt>
                <c:pt idx="2">
                  <c:v>3140</c:v>
                </c:pt>
                <c:pt idx="3">
                  <c:v>3140</c:v>
                </c:pt>
                <c:pt idx="4">
                  <c:v>3140</c:v>
                </c:pt>
                <c:pt idx="5">
                  <c:v>3140</c:v>
                </c:pt>
                <c:pt idx="6">
                  <c:v>3140</c:v>
                </c:pt>
                <c:pt idx="7">
                  <c:v>3140</c:v>
                </c:pt>
                <c:pt idx="8">
                  <c:v>3140</c:v>
                </c:pt>
                <c:pt idx="9">
                  <c:v>3140</c:v>
                </c:pt>
                <c:pt idx="10">
                  <c:v>3140</c:v>
                </c:pt>
                <c:pt idx="11">
                  <c:v>3140</c:v>
                </c:pt>
                <c:pt idx="12">
                  <c:v>3447</c:v>
                </c:pt>
                <c:pt idx="13">
                  <c:v>3987</c:v>
                </c:pt>
                <c:pt idx="14">
                  <c:v>4335</c:v>
                </c:pt>
                <c:pt idx="15">
                  <c:v>4335</c:v>
                </c:pt>
                <c:pt idx="16">
                  <c:v>4335</c:v>
                </c:pt>
                <c:pt idx="17">
                  <c:v>4335</c:v>
                </c:pt>
                <c:pt idx="18">
                  <c:v>4335</c:v>
                </c:pt>
                <c:pt idx="19">
                  <c:v>4335</c:v>
                </c:pt>
                <c:pt idx="20">
                  <c:v>4335</c:v>
                </c:pt>
                <c:pt idx="21">
                  <c:v>4335</c:v>
                </c:pt>
                <c:pt idx="22">
                  <c:v>4335</c:v>
                </c:pt>
                <c:pt idx="23">
                  <c:v>4335</c:v>
                </c:pt>
                <c:pt idx="24">
                  <c:v>4335</c:v>
                </c:pt>
                <c:pt idx="25">
                  <c:v>4335</c:v>
                </c:pt>
                <c:pt idx="26">
                  <c:v>4335</c:v>
                </c:pt>
                <c:pt idx="27">
                  <c:v>4185</c:v>
                </c:pt>
                <c:pt idx="28">
                  <c:v>4185</c:v>
                </c:pt>
                <c:pt idx="29">
                  <c:v>4185</c:v>
                </c:pt>
                <c:pt idx="30">
                  <c:v>4185</c:v>
                </c:pt>
                <c:pt idx="31">
                  <c:v>4185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EF8-40BC-B871-614587C75A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1828463"/>
        <c:axId val="231801007"/>
      </c:lineChart>
      <c:catAx>
        <c:axId val="2034766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endParaRPr lang="en-MN"/>
          </a:p>
        </c:txPr>
        <c:crossAx val="2034777407"/>
        <c:crosses val="autoZero"/>
        <c:auto val="1"/>
        <c:lblAlgn val="ctr"/>
        <c:lblOffset val="100"/>
        <c:noMultiLvlLbl val="0"/>
      </c:catAx>
      <c:valAx>
        <c:axId val="20347774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endParaRPr lang="en-MN"/>
          </a:p>
        </c:txPr>
        <c:crossAx val="2034766175"/>
        <c:crosses val="autoZero"/>
        <c:crossBetween val="between"/>
      </c:valAx>
      <c:valAx>
        <c:axId val="23180100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endParaRPr lang="en-MN"/>
          </a:p>
        </c:txPr>
        <c:crossAx val="231828463"/>
        <c:crosses val="max"/>
        <c:crossBetween val="between"/>
      </c:valAx>
      <c:catAx>
        <c:axId val="2318284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318010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Bahnschrift Light" panose="020B0502040204020203" pitchFamily="34" charset="0"/>
              <a:ea typeface="+mn-ea"/>
              <a:cs typeface="+mn-cs"/>
            </a:defRPr>
          </a:pPr>
          <a:endParaRPr lang="en-M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Bahnschrift Light" panose="020B0502040204020203" pitchFamily="34" charset="0"/>
        </a:defRPr>
      </a:pPr>
      <a:endParaRPr lang="en-M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200" b="1" dirty="0">
                <a:latin typeface=""/>
              </a:rPr>
              <a:t>Хүнс, шатахууны үнийн өөрчлөлт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Оны эхнээс (%)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Мах</c:v>
                </c:pt>
                <c:pt idx="1">
                  <c:v>Шатахуун</c:v>
                </c:pt>
                <c:pt idx="2">
                  <c:v>Гурил, талх</c:v>
                </c:pt>
                <c:pt idx="3">
                  <c:v>Бусад хүнс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13.9</c:v>
                </c:pt>
                <c:pt idx="2">
                  <c:v>6</c:v>
                </c:pt>
                <c:pt idx="3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C0-A441-84B8-E3023A1F1A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Жилийн өмнөхөөс (%)</c:v>
                </c:pt>
              </c:strCache>
            </c:strRef>
          </c:tx>
          <c:spPr>
            <a:solidFill>
              <a:srgbClr val="C9A227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Мах</c:v>
                </c:pt>
                <c:pt idx="1">
                  <c:v>Шатахуун</c:v>
                </c:pt>
                <c:pt idx="2">
                  <c:v>Гурил, талх</c:v>
                </c:pt>
                <c:pt idx="3">
                  <c:v>Бусад хүнс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52.1</c:v>
                </c:pt>
                <c:pt idx="1">
                  <c:v>19.5</c:v>
                </c:pt>
                <c:pt idx="2">
                  <c:v>10.4</c:v>
                </c:pt>
                <c:pt idx="3">
                  <c:v>5.4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0C0-A441-84B8-E3023A1F1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"/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"/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>
                <a:solidFill>
                  <a:srgbClr val="002060"/>
                </a:solidFill>
                <a:latin typeface="Montserrat"/>
              </a:defRPr>
            </a:pPr>
            <a:r>
              <a:rPr lang="mn-MN"/>
              <a:t>Инфляц, бодлогын хүү, хадгаламжийн хүү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Инфляц, улсын дүн</c:v>
                </c:pt>
              </c:strCache>
            </c:strRef>
          </c:tx>
          <c:spPr>
            <a:ln w="25400">
              <a:solidFill>
                <a:srgbClr val="E8712A"/>
              </a:solidFill>
            </a:ln>
          </c:spPr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8.6999999999999994E-2</c:v>
                </c:pt>
                <c:pt idx="1">
                  <c:v>8.3000000000000004E-2</c:v>
                </c:pt>
                <c:pt idx="2">
                  <c:v>8.199999999999999E-2</c:v>
                </c:pt>
                <c:pt idx="3">
                  <c:v>8.1000000000000003E-2</c:v>
                </c:pt>
                <c:pt idx="4">
                  <c:v>8.8000000000000009E-2</c:v>
                </c:pt>
                <c:pt idx="5">
                  <c:v>0.09</c:v>
                </c:pt>
                <c:pt idx="6">
                  <c:v>9.1999999999999998E-2</c:v>
                </c:pt>
                <c:pt idx="7">
                  <c:v>8.199999999999999E-2</c:v>
                </c:pt>
                <c:pt idx="8">
                  <c:v>7.4999999999999997E-2</c:v>
                </c:pt>
                <c:pt idx="9">
                  <c:v>7.4999999999999997E-2</c:v>
                </c:pt>
                <c:pt idx="10">
                  <c:v>6.5000000000000002E-2</c:v>
                </c:pt>
                <c:pt idx="11">
                  <c:v>7.400000000000001E-2</c:v>
                </c:pt>
                <c:pt idx="12">
                  <c:v>0.10100000000000001</c:v>
                </c:pt>
                <c:pt idx="13">
                  <c:v>0.112</c:v>
                </c:pt>
                <c:pt idx="14">
                  <c:v>0.12</c:v>
                </c:pt>
                <c:pt idx="15">
                  <c:v>0.13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39-E540-98E9-3AC9EBDC46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Зорилтот түвшин</c:v>
                </c:pt>
              </c:strCache>
            </c:strRef>
          </c:tx>
          <c:spPr>
            <a:ln w="25400">
              <a:solidFill>
                <a:srgbClr val="1B2A5E"/>
              </a:solidFill>
            </a:ln>
          </c:spPr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0.08</c:v>
                </c:pt>
                <c:pt idx="1">
                  <c:v>0.08</c:v>
                </c:pt>
                <c:pt idx="2">
                  <c:v>0.08</c:v>
                </c:pt>
                <c:pt idx="3">
                  <c:v>0.08</c:v>
                </c:pt>
                <c:pt idx="4">
                  <c:v>0.08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  <c:pt idx="9">
                  <c:v>0.08</c:v>
                </c:pt>
                <c:pt idx="10">
                  <c:v>0.08</c:v>
                </c:pt>
                <c:pt idx="11">
                  <c:v>0.08</c:v>
                </c:pt>
                <c:pt idx="12">
                  <c:v>0.08</c:v>
                </c:pt>
                <c:pt idx="13">
                  <c:v>0.08</c:v>
                </c:pt>
                <c:pt idx="14">
                  <c:v>0.08</c:v>
                </c:pt>
                <c:pt idx="15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39-E540-98E9-3AC9EBDC46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Бодлогын хүү</c:v>
                </c:pt>
              </c:strCache>
            </c:strRef>
          </c:tx>
          <c:spPr>
            <a:ln w="25400">
              <a:solidFill>
                <a:srgbClr val="2E86C1"/>
              </a:solidFill>
            </a:ln>
          </c:spPr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0.12</c:v>
                </c:pt>
                <c:pt idx="1">
                  <c:v>0.12</c:v>
                </c:pt>
                <c:pt idx="2">
                  <c:v>0.12</c:v>
                </c:pt>
                <c:pt idx="3">
                  <c:v>0.12</c:v>
                </c:pt>
                <c:pt idx="4">
                  <c:v>0.12</c:v>
                </c:pt>
                <c:pt idx="5">
                  <c:v>0.12</c:v>
                </c:pt>
                <c:pt idx="6">
                  <c:v>0.12</c:v>
                </c:pt>
                <c:pt idx="7">
                  <c:v>0.12</c:v>
                </c:pt>
                <c:pt idx="8">
                  <c:v>0.12</c:v>
                </c:pt>
                <c:pt idx="9">
                  <c:v>0.12</c:v>
                </c:pt>
                <c:pt idx="10">
                  <c:v>0.12</c:v>
                </c:pt>
                <c:pt idx="11">
                  <c:v>0.12</c:v>
                </c:pt>
                <c:pt idx="12">
                  <c:v>0.12</c:v>
                </c:pt>
                <c:pt idx="13">
                  <c:v>0.12</c:v>
                </c:pt>
                <c:pt idx="14">
                  <c:v>0.12</c:v>
                </c:pt>
                <c:pt idx="15">
                  <c:v>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39-E540-98E9-3AC9EBDC46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Шинэ хадгаламжийн хүү</c:v>
                </c:pt>
              </c:strCache>
            </c:strRef>
          </c:tx>
          <c:spPr>
            <a:ln w="25400">
              <a:solidFill>
                <a:srgbClr val="179E8A"/>
              </a:solidFill>
            </a:ln>
          </c:spPr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0.11990000000000001</c:v>
                </c:pt>
                <c:pt idx="1">
                  <c:v>0.1188</c:v>
                </c:pt>
                <c:pt idx="2">
                  <c:v>0.1159</c:v>
                </c:pt>
                <c:pt idx="3">
                  <c:v>0.114</c:v>
                </c:pt>
                <c:pt idx="4">
                  <c:v>0.1172</c:v>
                </c:pt>
                <c:pt idx="5">
                  <c:v>0.1187</c:v>
                </c:pt>
                <c:pt idx="6">
                  <c:v>0.12280000000000001</c:v>
                </c:pt>
                <c:pt idx="7">
                  <c:v>0.11700000000000001</c:v>
                </c:pt>
                <c:pt idx="8">
                  <c:v>0.1203</c:v>
                </c:pt>
                <c:pt idx="9">
                  <c:v>0.1174</c:v>
                </c:pt>
                <c:pt idx="10">
                  <c:v>0.11840000000000001</c:v>
                </c:pt>
                <c:pt idx="11">
                  <c:v>0.11840000000000001</c:v>
                </c:pt>
                <c:pt idx="12">
                  <c:v>0.1188</c:v>
                </c:pt>
                <c:pt idx="13">
                  <c:v>0.11749999999999999</c:v>
                </c:pt>
                <c:pt idx="14">
                  <c:v>0.11070000000000001</c:v>
                </c:pt>
                <c:pt idx="15">
                  <c:v>0.1144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39-E540-98E9-3AC9EBDC466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Шинэ зээлийн хүү, зах зээлийн</c:v>
                </c:pt>
              </c:strCache>
            </c:strRef>
          </c:tx>
          <c:spPr>
            <a:ln w="25400">
              <a:solidFill>
                <a:srgbClr val="A93226"/>
              </a:solidFill>
            </a:ln>
          </c:spPr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0.17199999999999999</c:v>
                </c:pt>
                <c:pt idx="1">
                  <c:v>0.17180000000000001</c:v>
                </c:pt>
                <c:pt idx="2">
                  <c:v>0.17269999999999999</c:v>
                </c:pt>
                <c:pt idx="3">
                  <c:v>0.17100000000000001</c:v>
                </c:pt>
                <c:pt idx="4">
                  <c:v>0.17030000000000001</c:v>
                </c:pt>
                <c:pt idx="5">
                  <c:v>0.1726</c:v>
                </c:pt>
                <c:pt idx="6">
                  <c:v>0.1736</c:v>
                </c:pt>
                <c:pt idx="7">
                  <c:v>0.1734</c:v>
                </c:pt>
                <c:pt idx="8">
                  <c:v>0.17269999999999999</c:v>
                </c:pt>
                <c:pt idx="9">
                  <c:v>0.17130000000000001</c:v>
                </c:pt>
                <c:pt idx="10">
                  <c:v>0.1726</c:v>
                </c:pt>
                <c:pt idx="11">
                  <c:v>0.1759</c:v>
                </c:pt>
                <c:pt idx="12">
                  <c:v>0.17530000000000001</c:v>
                </c:pt>
                <c:pt idx="13">
                  <c:v>0.17499999999999999</c:v>
                </c:pt>
                <c:pt idx="14">
                  <c:v>0.1759</c:v>
                </c:pt>
                <c:pt idx="15">
                  <c:v>0.1741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39-E540-98E9-3AC9EBDC466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Шинэ зээлийн хүү, хөтөлбөрийн зээл оруулснаар</c:v>
                </c:pt>
              </c:strCache>
            </c:strRef>
          </c:tx>
          <c:spPr>
            <a:ln w="25400">
              <a:solidFill>
                <a:srgbClr val="E08A8A"/>
              </a:solidFill>
            </a:ln>
          </c:spPr>
          <c:cat>
            <c:strRef>
              <c:f>Sheet1!$A$2:$A$17</c:f>
              <c:strCache>
                <c:ptCount val="16"/>
                <c:pt idx="0">
                  <c:v>2025-04</c:v>
                </c:pt>
                <c:pt idx="1">
                  <c:v>2025-05</c:v>
                </c:pt>
                <c:pt idx="2">
                  <c:v>2025-06</c:v>
                </c:pt>
                <c:pt idx="3">
                  <c:v>2025-07</c:v>
                </c:pt>
                <c:pt idx="4">
                  <c:v>2025-08</c:v>
                </c:pt>
                <c:pt idx="5">
                  <c:v>2025-09</c:v>
                </c:pt>
                <c:pt idx="6">
                  <c:v>2025-10</c:v>
                </c:pt>
                <c:pt idx="7">
                  <c:v>2025-11</c:v>
                </c:pt>
                <c:pt idx="8">
                  <c:v>2025-12</c:v>
                </c:pt>
                <c:pt idx="9">
                  <c:v>2026-01</c:v>
                </c:pt>
                <c:pt idx="10">
                  <c:v>2026-02</c:v>
                </c:pt>
                <c:pt idx="11">
                  <c:v>2026-03</c:v>
                </c:pt>
                <c:pt idx="12">
                  <c:v>2026-04</c:v>
                </c:pt>
                <c:pt idx="13">
                  <c:v>2026-05</c:v>
                </c:pt>
                <c:pt idx="14">
                  <c:v>2026-06</c:v>
                </c:pt>
                <c:pt idx="15">
                  <c:v>2026-07</c:v>
                </c:pt>
              </c:strCache>
            </c:strRef>
          </c:cat>
          <c:val>
            <c:numRef>
              <c:f>Sheet1!$G$2:$G$17</c:f>
              <c:numCache>
                <c:formatCode>General</c:formatCode>
                <c:ptCount val="16"/>
                <c:pt idx="0">
                  <c:v>0.16619999999999999</c:v>
                </c:pt>
                <c:pt idx="1">
                  <c:v>0.1656</c:v>
                </c:pt>
                <c:pt idx="2">
                  <c:v>0.1681</c:v>
                </c:pt>
                <c:pt idx="3">
                  <c:v>0.16869999999999999</c:v>
                </c:pt>
                <c:pt idx="4">
                  <c:v>0.16800000000000001</c:v>
                </c:pt>
                <c:pt idx="5">
                  <c:v>0.16919999999999999</c:v>
                </c:pt>
                <c:pt idx="6">
                  <c:v>0.16969999999999999</c:v>
                </c:pt>
                <c:pt idx="7">
                  <c:v>0.16969999999999999</c:v>
                </c:pt>
                <c:pt idx="8">
                  <c:v>0.16739999999999999</c:v>
                </c:pt>
                <c:pt idx="9">
                  <c:v>0.16980000000000001</c:v>
                </c:pt>
                <c:pt idx="10">
                  <c:v>0.1709</c:v>
                </c:pt>
                <c:pt idx="11">
                  <c:v>0.17369999999999999</c:v>
                </c:pt>
                <c:pt idx="12">
                  <c:v>0.1711</c:v>
                </c:pt>
                <c:pt idx="13">
                  <c:v>0.17180000000000001</c:v>
                </c:pt>
                <c:pt idx="14">
                  <c:v>0.17299999999999999</c:v>
                </c:pt>
                <c:pt idx="15">
                  <c:v>0.17230000000000001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39-E540-98E9-3AC9EBDC4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ontserrat"/>
              </a:defRPr>
            </a:pPr>
            <a:endParaRPr lang="en-M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ontserrat"/>
              </a:defRPr>
            </a:pPr>
            <a:endParaRPr lang="en-M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Montserrat"/>
        </a:defRPr>
      </a:pPr>
      <a:endParaRPr lang="en-M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1200" b="1" i="0" u="none" strike="noStrike" kern="1200" spc="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r>
              <a:rPr lang="mn-MN" b="1"/>
              <a:t>Голлох бүтээгдэхүүний экспорт </a:t>
            </a:r>
            <a:endParaRPr lang="en-US" b="1"/>
          </a:p>
          <a:p>
            <a:pPr algn="l" rtl="0">
              <a:defRPr b="1"/>
            </a:pPr>
            <a:r>
              <a:rPr lang="en-US" b="1"/>
              <a:t>c</a:t>
            </a:r>
            <a:r>
              <a:rPr lang="mn-MN" b="1"/>
              <a:t>ая </a:t>
            </a:r>
            <a:r>
              <a:rPr lang="en-US" b="1"/>
              <a:t>$</a:t>
            </a:r>
          </a:p>
        </c:rich>
      </c:tx>
      <c:layout>
        <c:manualLayout>
          <c:xMode val="edge"/>
          <c:yMode val="edge"/>
          <c:x val="2.7150022301133821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1200" b="1" i="0" u="none" strike="noStrike" kern="1200" spc="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title>
    <c:autoTitleDeleted val="0"/>
    <c:plotArea>
      <c:layout>
        <c:manualLayout>
          <c:layoutTarget val="inner"/>
          <c:xMode val="edge"/>
          <c:yMode val="edge"/>
          <c:x val="0.16875871138001769"/>
          <c:y val="0.19210686917559947"/>
          <c:w val="0.74667813547758066"/>
          <c:h val="0.64932395099948492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2026 I-VII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Нүүрс</c:v>
                </c:pt>
                <c:pt idx="1">
                  <c:v>Зэс</c:v>
                </c:pt>
                <c:pt idx="2">
                  <c:v>Алт</c:v>
                </c:pt>
                <c:pt idx="3">
                  <c:v>Төмөр</c:v>
                </c:pt>
                <c:pt idx="4">
                  <c:v>Ноос, ноолуур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4636.8</c:v>
                </c:pt>
                <c:pt idx="1">
                  <c:v>5460.5</c:v>
                </c:pt>
                <c:pt idx="2">
                  <c:v>482.1</c:v>
                </c:pt>
                <c:pt idx="3">
                  <c:v>364.7</c:v>
                </c:pt>
                <c:pt idx="4">
                  <c:v>169.8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C9-40E0-9086-CD925C96926F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2025 I-VII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Нүүрс</c:v>
                </c:pt>
                <c:pt idx="1">
                  <c:v>Зэс</c:v>
                </c:pt>
                <c:pt idx="2">
                  <c:v>Алт</c:v>
                </c:pt>
                <c:pt idx="3">
                  <c:v>Төмөр</c:v>
                </c:pt>
                <c:pt idx="4">
                  <c:v>Ноос, ноолуур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2916.9</c:v>
                </c:pt>
                <c:pt idx="1">
                  <c:v>2879.1</c:v>
                </c:pt>
                <c:pt idx="2">
                  <c:v>472.5</c:v>
                </c:pt>
                <c:pt idx="3">
                  <c:v>332.4</c:v>
                </c:pt>
                <c:pt idx="4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C9-40E0-9086-CD925C9692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44482640"/>
        <c:axId val="1644483056"/>
      </c:barChart>
      <c:catAx>
        <c:axId val="1644482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644483056"/>
        <c:crosses val="autoZero"/>
        <c:auto val="1"/>
        <c:lblAlgn val="ctr"/>
        <c:lblOffset val="100"/>
        <c:noMultiLvlLbl val="0"/>
      </c:catAx>
      <c:valAx>
        <c:axId val="16444830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4482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Montserrat" pitchFamily="2" charset="0"/>
        </a:defRPr>
      </a:pPr>
      <a:endParaRPr lang="en-M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1200" b="1" i="0" u="none" strike="noStrike" kern="1200" spc="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r>
              <a:rPr lang="mn-MN" b="1"/>
              <a:t>Голлох бүтээгдэхүүний импорт</a:t>
            </a:r>
          </a:p>
          <a:p>
            <a:pPr algn="l" rtl="0">
              <a:defRPr b="1"/>
            </a:pPr>
            <a:r>
              <a:rPr lang="mn-MN" b="1"/>
              <a:t>сая </a:t>
            </a:r>
            <a:r>
              <a:rPr lang="en-US" b="1"/>
              <a:t>$</a:t>
            </a:r>
          </a:p>
        </c:rich>
      </c:tx>
      <c:layout>
        <c:manualLayout>
          <c:xMode val="edge"/>
          <c:yMode val="edge"/>
          <c:x val="1.6267497812773304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1200" b="1" i="0" u="none" strike="noStrike" kern="1200" spc="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title>
    <c:autoTitleDeleted val="0"/>
    <c:plotArea>
      <c:layout>
        <c:manualLayout>
          <c:layoutTarget val="inner"/>
          <c:xMode val="edge"/>
          <c:yMode val="edge"/>
          <c:x val="0.36776773777778515"/>
          <c:y val="0.18973597440944881"/>
          <c:w val="0.58968769328471315"/>
          <c:h val="0.68075861463585907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2026 I-VII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Нефт</c:v>
                </c:pt>
                <c:pt idx="1">
                  <c:v>Суудлын авто</c:v>
                </c:pt>
                <c:pt idx="2">
                  <c:v>Эрчим хүч</c:v>
                </c:pt>
                <c:pt idx="3">
                  <c:v>Ачааны авто</c:v>
                </c:pt>
                <c:pt idx="4">
                  <c:v>Машин тоног</c:v>
                </c:pt>
                <c:pt idx="5">
                  <c:v>Үндсэн төмөрлөг</c:v>
                </c:pt>
                <c:pt idx="6">
                  <c:v>Хүнс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1557.3</c:v>
                </c:pt>
                <c:pt idx="1">
                  <c:v>607.4</c:v>
                </c:pt>
                <c:pt idx="2">
                  <c:v>142.6</c:v>
                </c:pt>
                <c:pt idx="3">
                  <c:v>269.3</c:v>
                </c:pt>
                <c:pt idx="4">
                  <c:v>1465</c:v>
                </c:pt>
                <c:pt idx="5">
                  <c:v>662.6</c:v>
                </c:pt>
                <c:pt idx="6">
                  <c:v>532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7A-4365-9D3E-187893EDB353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2025 I-VII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459651553207181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7A-4365-9D3E-187893EDB3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Нефт</c:v>
                </c:pt>
                <c:pt idx="1">
                  <c:v>Суудлын авто</c:v>
                </c:pt>
                <c:pt idx="2">
                  <c:v>Эрчим хүч</c:v>
                </c:pt>
                <c:pt idx="3">
                  <c:v>Ачааны авто</c:v>
                </c:pt>
                <c:pt idx="4">
                  <c:v>Машин тоног</c:v>
                </c:pt>
                <c:pt idx="5">
                  <c:v>Үндсэн төмөрлөг</c:v>
                </c:pt>
                <c:pt idx="6">
                  <c:v>Хүнс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1153.5</c:v>
                </c:pt>
                <c:pt idx="1">
                  <c:v>762.2</c:v>
                </c:pt>
                <c:pt idx="2">
                  <c:v>121.6</c:v>
                </c:pt>
                <c:pt idx="3">
                  <c:v>326.2</c:v>
                </c:pt>
                <c:pt idx="4">
                  <c:v>1346.7</c:v>
                </c:pt>
                <c:pt idx="5">
                  <c:v>590</c:v>
                </c:pt>
                <c:pt idx="6">
                  <c:v>497.8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7A-4365-9D3E-187893EDB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35829728"/>
        <c:axId val="1635830560"/>
      </c:barChart>
      <c:catAx>
        <c:axId val="1635829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635830560"/>
        <c:crosses val="autoZero"/>
        <c:auto val="1"/>
        <c:lblAlgn val="ctr"/>
        <c:lblOffset val="100"/>
        <c:noMultiLvlLbl val="0"/>
      </c:catAx>
      <c:valAx>
        <c:axId val="16358305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3582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164149211740601E-3"/>
          <c:y val="0.9273612018713403"/>
          <c:w val="0.99498358507882589"/>
          <c:h val="6.22189819465712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Montserrat" pitchFamily="2" charset="0"/>
        </a:defRPr>
      </a:pPr>
      <a:endParaRPr lang="en-M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200"/>
              <a:t>Гадаад худалдаа, өссөн дүн — сая $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8249706802632549E-2"/>
          <c:y val="0.12462913086926104"/>
          <c:w val="0.82841405535351598"/>
          <c:h val="0.535159873182409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   Нийт эргэлт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2592.4</c:v>
                </c:pt>
                <c:pt idx="1">
                  <c:v>4622.3</c:v>
                </c:pt>
                <c:pt idx="2">
                  <c:v>7366.3</c:v>
                </c:pt>
                <c:pt idx="3">
                  <c:v>10481.6</c:v>
                </c:pt>
                <c:pt idx="4">
                  <c:v>13375.7</c:v>
                </c:pt>
                <c:pt idx="5">
                  <c:v>16510.8</c:v>
                </c:pt>
                <c:pt idx="6">
                  <c:v>19364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CA-401B-8911-305FCEA1EA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Экспорт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CA-401B-8911-305FCEA1EA5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CA-401B-8911-305FCEA1EA5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8A6-49DC-9B6C-A88ED37DEB5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4CA-401B-8911-305FCEA1EA5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4CA-401B-8911-305FCEA1EA5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4CA-401B-8911-305FCEA1EA5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4CA-401B-8911-305FCEA1EA5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4CA-401B-8911-305FCEA1EA5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4CA-401B-8911-305FCEA1EA5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4CA-401B-8911-305FCEA1EA5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4CA-401B-8911-305FCEA1EA5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4CA-401B-8911-305FCEA1EA5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4CA-401B-8911-305FCEA1EA5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E4CA-401B-8911-305FCEA1EA5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8A6-49DC-9B6C-A88ED37DEB5F}"/>
                </c:ext>
              </c:extLst>
            </c:dLbl>
            <c:numFmt formatCode="#,##0" sourceLinked="0"/>
            <c:spPr>
              <a:solidFill>
                <a:sysClr val="window" lastClr="FFFFFF"/>
              </a:solidFill>
              <a:ln>
                <a:solidFill>
                  <a:srgbClr val="002060"/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Times New Roman" panose="02020603050405020304" pitchFamily="18" charset="0"/>
                  </a:defRPr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1749.4</c:v>
                </c:pt>
                <c:pt idx="1">
                  <c:v>3046.4</c:v>
                </c:pt>
                <c:pt idx="2">
                  <c:v>4889</c:v>
                </c:pt>
                <c:pt idx="3">
                  <c:v>6813</c:v>
                </c:pt>
                <c:pt idx="4">
                  <c:v>8470.5</c:v>
                </c:pt>
                <c:pt idx="5">
                  <c:v>10393.9</c:v>
                </c:pt>
                <c:pt idx="6">
                  <c:v>12205.9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E4CA-401B-8911-305FCEA1EA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Импорт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E4CA-401B-8911-305FCEA1EA5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4CA-401B-8911-305FCEA1EA5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8A6-49DC-9B6C-A88ED37DEB5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E4CA-401B-8911-305FCEA1EA5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E4CA-401B-8911-305FCEA1EA5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4CA-401B-8911-305FCEA1EA5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E4CA-401B-8911-305FCEA1EA5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E4CA-401B-8911-305FCEA1EA5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E4CA-401B-8911-305FCEA1EA5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E4CA-401B-8911-305FCEA1EA5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E4CA-401B-8911-305FCEA1EA5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E4CA-401B-8911-305FCEA1EA5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E4CA-401B-8911-305FCEA1EA5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8A6-49DC-9B6C-A88ED37DEB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8A6-49DC-9B6C-A88ED37DEB5F}"/>
                </c:ext>
              </c:extLst>
            </c:dLbl>
            <c:numFmt formatCode="#,##0" sourceLinked="0"/>
            <c:spPr>
              <a:solidFill>
                <a:sysClr val="window" lastClr="FFFFFF"/>
              </a:solidFill>
              <a:ln>
                <a:solidFill>
                  <a:srgbClr val="A6A6A6"/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Times New Roman" panose="02020603050405020304" pitchFamily="18" charset="0"/>
                  </a:defRPr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843</c:v>
                </c:pt>
                <c:pt idx="1">
                  <c:v>1575.9</c:v>
                </c:pt>
                <c:pt idx="2">
                  <c:v>2477.3000000000002</c:v>
                </c:pt>
                <c:pt idx="3">
                  <c:v>3668.6</c:v>
                </c:pt>
                <c:pt idx="4">
                  <c:v>4905.2</c:v>
                </c:pt>
                <c:pt idx="5">
                  <c:v>6116.9</c:v>
                </c:pt>
                <c:pt idx="6">
                  <c:v>7158.1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6-E4CA-401B-8911-305FCEA1EA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246896415"/>
        <c:axId val="246918047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Тэнцэл</c:v>
                </c:pt>
              </c:strCache>
            </c:strRef>
          </c:tx>
          <c:spPr>
            <a:ln w="41275" cap="rnd">
              <a:solidFill>
                <a:srgbClr val="FF6600"/>
              </a:solidFill>
              <a:round/>
            </a:ln>
            <a:effectLst/>
          </c:spPr>
          <c:marker>
            <c:symbol val="none"/>
          </c:marker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38-E4CA-401B-8911-305FCEA1EA59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39-E4CA-401B-8911-305FCEA1EA59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3B-E4CA-401B-8911-305FCEA1EA59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3C-E4CA-401B-8911-305FCEA1EA59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3D-E4CA-401B-8911-305FCEA1EA59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E4CA-401B-8911-305FCEA1EA5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E4CA-401B-8911-305FCEA1EA5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E4CA-401B-8911-305FCEA1EA5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E4CA-401B-8911-305FCEA1EA59}"/>
                </c:ext>
              </c:extLst>
            </c:dLbl>
            <c:dLbl>
              <c:idx val="4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E4CA-401B-8911-305FCEA1EA5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E4CA-401B-8911-305FCEA1EA5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E4CA-401B-8911-305FCEA1EA5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E4CA-401B-8911-305FCEA1EA5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E4CA-401B-8911-305FCEA1EA5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E4CA-401B-8911-305FCEA1EA5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E4CA-401B-8911-305FCEA1EA5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E4CA-401B-8911-305FCEA1EA5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E4CA-401B-8911-305FCEA1EA5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E4CA-401B-8911-305FCEA1EA5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E4CA-401B-8911-305FCEA1EA5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8A6-49DC-9B6C-A88ED37DEB5F}"/>
                </c:ext>
              </c:extLst>
            </c:dLbl>
            <c:dLbl>
              <c:idx val="16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8A6-49DC-9B6C-A88ED37DEB5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F6783F"/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Times New Roman" panose="02020603050405020304" pitchFamily="18" charset="0"/>
                  </a:defRPr>
                </a:pPr>
                <a:endParaRPr lang="en-M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906.5</c:v>
                </c:pt>
                <c:pt idx="1">
                  <c:v>1470.5</c:v>
                </c:pt>
                <c:pt idx="2">
                  <c:v>2411.6999999999998</c:v>
                </c:pt>
                <c:pt idx="3">
                  <c:v>3144.5</c:v>
                </c:pt>
                <c:pt idx="4">
                  <c:v>3565.2</c:v>
                </c:pt>
                <c:pt idx="5">
                  <c:v>4277.1000000000004</c:v>
                </c:pt>
                <c:pt idx="6">
                  <c:v>5047.8999999999996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52-E4CA-401B-8911-305FCEA1EA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6896415"/>
        <c:axId val="246918047"/>
      </c:lineChart>
      <c:catAx>
        <c:axId val="246896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Times New Roman" panose="02020603050405020304" pitchFamily="18" charset="0"/>
              </a:defRPr>
            </a:pPr>
            <a:endParaRPr lang="en-MN"/>
          </a:p>
        </c:txPr>
        <c:crossAx val="246918047"/>
        <c:crosses val="autoZero"/>
        <c:auto val="1"/>
        <c:lblAlgn val="ctr"/>
        <c:lblOffset val="100"/>
        <c:noMultiLvlLbl val="0"/>
      </c:catAx>
      <c:valAx>
        <c:axId val="2469180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46896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.87695757716411138"/>
          <c:w val="0.91309498516924181"/>
          <c:h val="0.121360244040531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Times New Roman" panose="02020603050405020304" pitchFamily="18" charset="0"/>
            </a:defRPr>
          </a:pPr>
          <a:endParaRPr lang="en-M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tx1"/>
          </a:solidFill>
          <a:latin typeface="Montserrat" pitchFamily="2" charset="0"/>
          <a:cs typeface="Times New Roman" panose="02020603050405020304" pitchFamily="18" charset="0"/>
        </a:defRPr>
      </a:pPr>
      <a:endParaRPr lang="en-MN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200" b="1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Алт:</a:t>
            </a:r>
            <a:r>
              <a:rPr lang="en-US" sz="1200" b="1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 </a:t>
            </a:r>
            <a:r>
              <a:rPr lang="en-US" sz="1200" b="1" i="0" u="none" strike="noStrike" kern="1200" spc="0" baseline="0" dirty="0">
                <a:solidFill>
                  <a:srgbClr val="FF0000"/>
                </a:solidFill>
                <a:latin typeface="Montserrat" pitchFamily="2" charset="0"/>
              </a:rPr>
              <a:t>-35.3%</a:t>
            </a:r>
            <a:r>
              <a:rPr lang="mn-MN" sz="1050" b="0" i="0" u="none" strike="noStrike" kern="1200" spc="0" baseline="0" dirty="0">
                <a:solidFill>
                  <a:srgbClr val="089090"/>
                </a:solidFill>
                <a:latin typeface="Montserrat" pitchFamily="2" charset="0"/>
              </a:rPr>
              <a:t> </a:t>
            </a:r>
            <a:endParaRPr lang="en-US" sz="1050" b="0" i="0" u="none" strike="noStrike" kern="1200" spc="0" baseline="0" dirty="0">
              <a:solidFill>
                <a:srgbClr val="089090"/>
              </a:solidFill>
              <a:latin typeface="Montserrat" pitchFamily="2" charset="0"/>
            </a:endParaRPr>
          </a:p>
          <a:p>
            <a:r>
              <a:rPr lang="mn-MN" sz="1000" b="0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кг</a:t>
            </a:r>
            <a:endParaRPr lang="mn-MN" sz="1100" b="0" i="0" u="none" strike="noStrike" kern="1200" spc="0" baseline="0" dirty="0">
              <a:solidFill>
                <a:srgbClr val="112349"/>
              </a:solidFill>
              <a:latin typeface="Montserrat" pitchFamily="2" charset="0"/>
            </a:endParaRPr>
          </a:p>
        </c:rich>
      </c:tx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6.1634084133833762E-2"/>
          <c:y val="0.21847427017560478"/>
          <c:w val="0.87673183173233249"/>
          <c:h val="0.718301568666973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Алт, кг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accent6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2025 I-VII</c:v>
                </c:pt>
                <c:pt idx="1">
                  <c:v>2026 I-VII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4728</c:v>
                </c:pt>
                <c:pt idx="1">
                  <c:v>3061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35-4CDB-BBF7-6B58447682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72235808"/>
        <c:axId val="1172236224"/>
      </c:barChart>
      <c:catAx>
        <c:axId val="117223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172236224"/>
        <c:crosses val="autoZero"/>
        <c:auto val="1"/>
        <c:lblAlgn val="ctr"/>
        <c:lblOffset val="100"/>
        <c:noMultiLvlLbl val="0"/>
      </c:catAx>
      <c:valAx>
        <c:axId val="1172236224"/>
        <c:scaling>
          <c:orientation val="minMax"/>
          <c:min val="1000"/>
        </c:scaling>
        <c:delete val="1"/>
        <c:axPos val="l"/>
        <c:numFmt formatCode="General" sourceLinked="1"/>
        <c:majorTickMark val="out"/>
        <c:minorTickMark val="none"/>
        <c:tickLblPos val="nextTo"/>
        <c:crossAx val="117223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6"/>
          </a:solidFill>
          <a:latin typeface="Montserrat" pitchFamily="2" charset="0"/>
        </a:defRPr>
      </a:pPr>
      <a:endParaRPr lang="en-MN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200" b="1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Зэс: </a:t>
            </a:r>
            <a:r>
              <a:rPr lang="en-US" sz="1200" b="1" i="0" u="none" strike="noStrike" kern="1200" spc="0" baseline="0" dirty="0">
                <a:solidFill>
                  <a:srgbClr val="089090"/>
                </a:solidFill>
                <a:latin typeface="Montserrat" pitchFamily="2" charset="0"/>
              </a:rPr>
              <a:t>+23.0% </a:t>
            </a:r>
          </a:p>
          <a:p>
            <a:r>
              <a:rPr lang="mn-MN" sz="1000" b="0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мянган тонн</a:t>
            </a:r>
            <a:endParaRPr lang="mn-MN" sz="1100" b="0" i="0" u="none" strike="noStrike" kern="1200" spc="0" baseline="0" dirty="0">
              <a:solidFill>
                <a:srgbClr val="112349"/>
              </a:solidFill>
              <a:latin typeface="Montserrat" pitchFamily="2" charset="0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6.1634084133833762E-2"/>
          <c:y val="0.21716716279058465"/>
          <c:w val="0.87673183173233249"/>
          <c:h val="0.708471534789995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Зэс, мянган тонн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accent6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2025 I-VII</c:v>
                </c:pt>
                <c:pt idx="1">
                  <c:v>2026 I-VII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1242.8</c:v>
                </c:pt>
                <c:pt idx="1">
                  <c:v>1528.8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A1-4BD1-833C-33E29A1B2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72235808"/>
        <c:axId val="1172236224"/>
      </c:barChart>
      <c:catAx>
        <c:axId val="1172235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172236224"/>
        <c:crosses val="autoZero"/>
        <c:auto val="1"/>
        <c:lblAlgn val="ctr"/>
        <c:lblOffset val="100"/>
        <c:noMultiLvlLbl val="0"/>
      </c:catAx>
      <c:valAx>
        <c:axId val="1172236224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7223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6"/>
          </a:solidFill>
          <a:latin typeface="Montserrat" pitchFamily="2" charset="0"/>
        </a:defRPr>
      </a:pPr>
      <a:endParaRPr lang="en-MN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200" b="1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Чулуун нүүрс:</a:t>
            </a:r>
            <a:r>
              <a:rPr lang="en-US" sz="1200" b="1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 </a:t>
            </a:r>
            <a:r>
              <a:rPr lang="en-US" sz="1200" b="1" i="0" u="none" strike="noStrike" kern="1200" spc="0" baseline="0" dirty="0">
                <a:solidFill>
                  <a:srgbClr val="089090"/>
                </a:solidFill>
                <a:latin typeface="Montserrat" pitchFamily="2" charset="0"/>
              </a:rPr>
              <a:t>+58.6% </a:t>
            </a:r>
          </a:p>
          <a:p>
            <a:r>
              <a:rPr lang="mn-MN" sz="1000" b="0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сая тонн</a:t>
            </a:r>
            <a:endParaRPr lang="en-US" sz="1000" b="0" i="0" u="none" strike="noStrike" kern="1200" spc="0" baseline="0" dirty="0">
              <a:solidFill>
                <a:srgbClr val="112349"/>
              </a:solidFill>
              <a:latin typeface="Montserrat" pitchFamily="2" charset="0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Нүүрс, сая тонн</c:v>
                </c:pt>
              </c:strCache>
            </c:strRef>
          </c:tx>
          <c:spPr>
            <a:solidFill>
              <a:srgbClr val="F678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accent6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2025 I-VII</c:v>
                </c:pt>
                <c:pt idx="1">
                  <c:v>2026 I-VII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41.35</c:v>
                </c:pt>
                <c:pt idx="1">
                  <c:v>65.58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4-4DFD-8D5A-51FD1A91E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2235808"/>
        <c:axId val="1172236224"/>
      </c:barChart>
      <c:catAx>
        <c:axId val="117223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172236224"/>
        <c:crosses val="autoZero"/>
        <c:auto val="1"/>
        <c:lblAlgn val="ctr"/>
        <c:lblOffset val="100"/>
        <c:noMultiLvlLbl val="0"/>
      </c:catAx>
      <c:valAx>
        <c:axId val="1172236224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7223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6"/>
          </a:solidFill>
          <a:latin typeface="Montserrat" pitchFamily="2" charset="0"/>
        </a:defRPr>
      </a:pPr>
      <a:endParaRPr lang="en-MN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200" b="1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Төмөр:</a:t>
            </a:r>
            <a:r>
              <a:rPr lang="en-US" sz="1200" b="1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 </a:t>
            </a:r>
            <a:r>
              <a:rPr lang="en-US" sz="1200" b="1" i="0" u="none" strike="noStrike" kern="1200" spc="0" baseline="0" dirty="0">
                <a:solidFill>
                  <a:srgbClr val="089090"/>
                </a:solidFill>
                <a:latin typeface="Montserrat" pitchFamily="2" charset="0"/>
              </a:rPr>
              <a:t>+10.3%</a:t>
            </a:r>
            <a:endParaRPr lang="en-US" sz="1200" b="0" i="0" u="none" strike="noStrike" kern="1200" spc="0" baseline="0" dirty="0">
              <a:solidFill>
                <a:srgbClr val="089090"/>
              </a:solidFill>
              <a:latin typeface="Montserrat" pitchFamily="2" charset="0"/>
            </a:endParaRPr>
          </a:p>
          <a:p>
            <a:r>
              <a:rPr lang="mn-MN" sz="1000" b="0" i="0" u="none" strike="noStrike" kern="1200" spc="0" baseline="0" dirty="0">
                <a:solidFill>
                  <a:srgbClr val="112349"/>
                </a:solidFill>
                <a:latin typeface="Montserrat" pitchFamily="2" charset="0"/>
              </a:rPr>
              <a:t>сая тонн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6.1634084133833762E-2"/>
          <c:y val="0.21429122291813169"/>
          <c:w val="0.87673183173233249"/>
          <c:h val="0.722484740983506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Төмрийн хүдэр, сая тонн</c:v>
                </c:pt>
              </c:strCache>
            </c:strRef>
          </c:tx>
          <c:spPr>
            <a:solidFill>
              <a:schemeClr val="tx1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accent6"/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2025 I-VII</c:v>
                </c:pt>
                <c:pt idx="1">
                  <c:v>2026 I-VII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4.68</c:v>
                </c:pt>
                <c:pt idx="1">
                  <c:v>5.16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02-42F1-ADAF-69A0B35AB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72235808"/>
        <c:axId val="1172236224"/>
      </c:barChart>
      <c:catAx>
        <c:axId val="117223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172236224"/>
        <c:crosses val="autoZero"/>
        <c:auto val="1"/>
        <c:lblAlgn val="ctr"/>
        <c:lblOffset val="100"/>
        <c:noMultiLvlLbl val="0"/>
      </c:catAx>
      <c:valAx>
        <c:axId val="1172236224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7223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6"/>
          </a:solidFill>
          <a:latin typeface="Montserrat" pitchFamily="2" charset="0"/>
        </a:defRPr>
      </a:pPr>
      <a:endParaRPr lang="en-MN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spc="0" baseline="0">
                <a:solidFill>
                  <a:srgbClr val="002060"/>
                </a:solidFill>
                <a:latin typeface="Montserrat" pitchFamily="2" charset="0"/>
                <a:ea typeface="+mn-ea"/>
                <a:cs typeface="+mn-cs"/>
              </a:defRPr>
            </a:pPr>
            <a:r>
              <a:rPr lang="mn-MN" sz="1400" b="1" dirty="0">
                <a:solidFill>
                  <a:srgbClr val="002060"/>
                </a:solidFill>
                <a:latin typeface="Montserrat" pitchFamily="2" charset="0"/>
              </a:rPr>
              <a:t>Голлох түүхий эдийн экспортын тоо хэмжээ, 2026 оны 7-р сарын байдлаар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002060"/>
                </a:solidFill>
              </a:defRPr>
            </a:pPr>
            <a:r>
              <a:rPr lang="mn-MN" sz="1200" b="0" dirty="0">
                <a:solidFill>
                  <a:srgbClr val="002060"/>
                </a:solidFill>
              </a:rPr>
              <a:t>сая</a:t>
            </a:r>
            <a:r>
              <a:rPr lang="mn-MN" sz="1200" b="0" baseline="0" dirty="0">
                <a:solidFill>
                  <a:srgbClr val="002060"/>
                </a:solidFill>
              </a:rPr>
              <a:t> </a:t>
            </a:r>
            <a:r>
              <a:rPr lang="en-US" sz="1200" b="0" baseline="0" dirty="0">
                <a:solidFill>
                  <a:srgbClr val="002060"/>
                </a:solidFill>
              </a:rPr>
              <a:t>$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002060"/>
                </a:solidFill>
              </a:defRPr>
            </a:pPr>
            <a:r>
              <a:rPr lang="mn-MN" sz="1200" dirty="0"/>
              <a:t>Үнийн дүнгийн эзлэх хувь: зэс 49.9%, нүүрс 42.4%, алт 4.4%, төмрийн хүдэр 3.3% (нийт 10,944 сая $)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002060"/>
                </a:solidFill>
              </a:defRPr>
            </a:pPr>
            <a:endParaRPr lang="en-US" sz="1200" b="0" dirty="0">
              <a:solidFill>
                <a:srgbClr val="002060"/>
              </a:solidFill>
            </a:endParaRPr>
          </a:p>
        </c:rich>
      </c:tx>
      <c:layout>
        <c:manualLayout>
          <c:xMode val="edge"/>
          <c:yMode val="edge"/>
          <c:x val="1.3594519374866196E-2"/>
          <c:y val="1.538825040439595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spc="0" baseline="0">
              <a:solidFill>
                <a:srgbClr val="002060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title>
    <c:autoTitleDeleted val="0"/>
    <c:plotArea>
      <c:layout>
        <c:manualLayout>
          <c:layoutTarget val="inner"/>
          <c:xMode val="edge"/>
          <c:yMode val="edge"/>
          <c:x val="1.473587026332691E-2"/>
          <c:y val="0.21948915855350445"/>
          <c:w val="0.97397423641240932"/>
          <c:h val="0.7297176016975854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Нүүрс</c:v>
                </c:pt>
              </c:strCache>
            </c:strRef>
          </c:tx>
          <c:spPr>
            <a:solidFill>
              <a:srgbClr val="F6783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678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ED-9F4D-BFBA-458CD5A6FEF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2026 I-VII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0.42370000000000002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ED-9F4D-BFBA-458CD5A6FE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Зэс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8ED-9F4D-BFBA-458CD5A6FEF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2026 I-VII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0.49890000000000001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8ED-9F4D-BFBA-458CD5A6FE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Алт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0.04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1BB-1A46-A2C7-B4BBA04103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2026 I-VII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4.41E-2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ED-9F4D-BFBA-458CD5A6FE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Төмрийн хүдэр</c:v>
                </c:pt>
              </c:strCache>
            </c:strRef>
          </c:tx>
          <c:spPr>
            <a:solidFill>
              <a:schemeClr val="accent2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2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ontserrat" pitchFamily="2" charset="0"/>
                        <a:ea typeface="+mn-ea"/>
                        <a:cs typeface="+mn-cs"/>
                      </a:defRPr>
                    </a:pPr>
                    <a:r>
                      <a:rPr lang="en-US" sz="1200"/>
                      <a:t>0.03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Montserrat" pitchFamily="2" charset="0"/>
                      <a:ea typeface="+mn-ea"/>
                      <a:cs typeface="+mn-cs"/>
                    </a:defRPr>
                  </a:pPr>
                  <a:endParaRPr lang="en-M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1BB-1A46-A2C7-B4BBA04103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itchFamily="2" charset="0"/>
                    <a:ea typeface="+mn-ea"/>
                    <a:cs typeface="+mn-cs"/>
                  </a:defRPr>
                </a:pPr>
                <a:endParaRPr lang="en-M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2026 I-VII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3.3300000000000003E-2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8ED-9F4D-BFBA-458CD5A6FE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61774431"/>
        <c:axId val="661754463"/>
      </c:barChart>
      <c:catAx>
        <c:axId val="66177443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61754463"/>
        <c:crosses val="autoZero"/>
        <c:auto val="1"/>
        <c:lblAlgn val="ctr"/>
        <c:lblOffset val="100"/>
        <c:noMultiLvlLbl val="0"/>
      </c:catAx>
      <c:valAx>
        <c:axId val="661754463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661774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latin typeface="Montserrat" pitchFamily="2" charset="0"/>
        </a:defRPr>
      </a:pPr>
      <a:endParaRPr lang="en-MN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100" b="1"/>
              <a:t>Нүүрсний хилийн үнэ, $/тонн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Нүүрсний хилийн үнэ, $/тонн</c:v>
                </c:pt>
              </c:strCache>
            </c:strRef>
          </c:tx>
          <c:spPr>
            <a:ln w="38100" cap="rnd">
              <a:solidFill>
                <a:srgbClr val="1B2A5E"/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5">
                  <c:v>2025-06</c:v>
                </c:pt>
                <c:pt idx="11">
                  <c:v>2026-01</c:v>
                </c:pt>
                <c:pt idx="17">
                  <c:v>2026-07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86.2</c:v>
                </c:pt>
                <c:pt idx="1">
                  <c:v>81.3</c:v>
                </c:pt>
                <c:pt idx="2">
                  <c:v>75.7</c:v>
                </c:pt>
                <c:pt idx="3">
                  <c:v>68.8</c:v>
                </c:pt>
                <c:pt idx="4">
                  <c:v>67</c:v>
                </c:pt>
                <c:pt idx="5">
                  <c:v>62.5</c:v>
                </c:pt>
                <c:pt idx="6">
                  <c:v>57.4</c:v>
                </c:pt>
                <c:pt idx="7">
                  <c:v>56.8</c:v>
                </c:pt>
                <c:pt idx="8">
                  <c:v>61.4</c:v>
                </c:pt>
                <c:pt idx="9">
                  <c:v>61.6</c:v>
                </c:pt>
                <c:pt idx="10">
                  <c:v>63.9</c:v>
                </c:pt>
                <c:pt idx="11">
                  <c:v>64.5</c:v>
                </c:pt>
                <c:pt idx="12">
                  <c:v>66.400000000000006</c:v>
                </c:pt>
                <c:pt idx="13">
                  <c:v>68.900000000000006</c:v>
                </c:pt>
                <c:pt idx="14">
                  <c:v>68.599999999999994</c:v>
                </c:pt>
                <c:pt idx="15">
                  <c:v>72</c:v>
                </c:pt>
                <c:pt idx="16">
                  <c:v>74.7</c:v>
                </c:pt>
                <c:pt idx="17">
                  <c:v>79.5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D5-496A-B383-F362799886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7094336"/>
        <c:axId val="1767097664"/>
      </c:lineChart>
      <c:catAx>
        <c:axId val="1767094336"/>
        <c:scaling>
          <c:orientation val="minMax"/>
          <c:min val="44986"/>
        </c:scaling>
        <c:delete val="0"/>
        <c:axPos val="b"/>
        <c:numFmt formatCode="[$-409]mmm\-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vert="horz"/>
          <a:lstStyle/>
          <a:p>
            <a:pPr>
              <a:defRPr sz="900"/>
            </a:pPr>
            <a:endParaRPr lang="en-MN"/>
          </a:p>
        </c:txPr>
        <c:crossAx val="1767097664"/>
        <c:crosses val="autoZero"/>
        <c:auto val="1"/>
        <c:lblAlgn val="ctr"/>
        <c:lblOffset val="100"/>
        <c:tickLblSkip val="6"/>
        <c:tickMarkSkip val="6"/>
        <c:noMultiLvlLbl val="1"/>
      </c:catAx>
      <c:valAx>
        <c:axId val="1767097664"/>
        <c:scaling>
          <c:orientation val="minMax"/>
          <c:max val="90"/>
          <c:min val="5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/>
                <a:ea typeface="+mn-ea"/>
                <a:cs typeface="+mn-cs"/>
              </a:defRPr>
            </a:pPr>
            <a:endParaRPr lang="en-MN"/>
          </a:p>
        </c:txPr>
        <c:crossAx val="176709433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ontserrat" panose="00000500000000000000"/>
        </a:defRPr>
      </a:pPr>
      <a:endParaRPr lang="en-MN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100" b="1"/>
              <a:t>Зэсийн баяжмалын хилийн үнэ, $/тонн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Зэсийн баяжмалын хилийн үнэ, $/тонн</c:v>
                </c:pt>
              </c:strCache>
            </c:strRef>
          </c:tx>
          <c:spPr>
            <a:ln w="38100" cap="rnd">
              <a:solidFill>
                <a:srgbClr val="E8712A"/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5">
                  <c:v>2025-06</c:v>
                </c:pt>
                <c:pt idx="11">
                  <c:v>2026-01</c:v>
                </c:pt>
                <c:pt idx="17">
                  <c:v>2026-07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1950</c:v>
                </c:pt>
                <c:pt idx="1">
                  <c:v>1985.4</c:v>
                </c:pt>
                <c:pt idx="2">
                  <c:v>2150.3000000000002</c:v>
                </c:pt>
                <c:pt idx="3">
                  <c:v>2306.5</c:v>
                </c:pt>
                <c:pt idx="4">
                  <c:v>2354.4</c:v>
                </c:pt>
                <c:pt idx="5">
                  <c:v>2478.6999999999998</c:v>
                </c:pt>
                <c:pt idx="6">
                  <c:v>2785.1</c:v>
                </c:pt>
                <c:pt idx="7">
                  <c:v>2672.8</c:v>
                </c:pt>
                <c:pt idx="8">
                  <c:v>2594.1</c:v>
                </c:pt>
                <c:pt idx="9">
                  <c:v>2808.8</c:v>
                </c:pt>
                <c:pt idx="10">
                  <c:v>2897.5</c:v>
                </c:pt>
                <c:pt idx="11">
                  <c:v>3274</c:v>
                </c:pt>
                <c:pt idx="12">
                  <c:v>3420.8</c:v>
                </c:pt>
                <c:pt idx="13">
                  <c:v>3397.7</c:v>
                </c:pt>
                <c:pt idx="14">
                  <c:v>3728.2</c:v>
                </c:pt>
                <c:pt idx="15">
                  <c:v>3647.2</c:v>
                </c:pt>
                <c:pt idx="16">
                  <c:v>3853.4</c:v>
                </c:pt>
                <c:pt idx="17">
                  <c:v>3671.7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C8-4013-9416-DDB7046B5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7094336"/>
        <c:axId val="1767097664"/>
      </c:lineChart>
      <c:catAx>
        <c:axId val="1767094336"/>
        <c:scaling>
          <c:orientation val="minMax"/>
          <c:min val="44986"/>
        </c:scaling>
        <c:delete val="0"/>
        <c:axPos val="b"/>
        <c:numFmt formatCode="[$-409]mmm\-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vert="horz"/>
          <a:lstStyle/>
          <a:p>
            <a:pPr>
              <a:defRPr sz="900"/>
            </a:pPr>
            <a:endParaRPr lang="en-MN"/>
          </a:p>
        </c:txPr>
        <c:crossAx val="1767097664"/>
        <c:crosses val="autoZero"/>
        <c:auto val="1"/>
        <c:lblAlgn val="ctr"/>
        <c:lblOffset val="100"/>
        <c:tickLblSkip val="6"/>
        <c:tickMarkSkip val="6"/>
        <c:noMultiLvlLbl val="1"/>
      </c:catAx>
      <c:valAx>
        <c:axId val="1767097664"/>
        <c:scaling>
          <c:orientation val="minMax"/>
          <c:max val="4500"/>
          <c:min val="15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/>
                <a:ea typeface="+mn-ea"/>
                <a:cs typeface="+mn-cs"/>
              </a:defRPr>
            </a:pPr>
            <a:endParaRPr lang="en-MN"/>
          </a:p>
        </c:txPr>
        <c:crossAx val="176709433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ontserrat" panose="00000500000000000000"/>
        </a:defRPr>
      </a:pPr>
      <a:endParaRPr lang="en-MN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100" b="1"/>
              <a:t>Мөнгөжөөгүй алтны хилийн үнэ, $/унц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Мөнгөжөөгүй алтны хилийн үнэ, $/унц</c:v>
                </c:pt>
              </c:strCache>
            </c:strRef>
          </c:tx>
          <c:spPr>
            <a:ln w="38100" cap="rnd">
              <a:solidFill>
                <a:srgbClr val="E0A52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5">
                  <c:v>2025-06</c:v>
                </c:pt>
                <c:pt idx="11">
                  <c:v>2026-01</c:v>
                </c:pt>
                <c:pt idx="17">
                  <c:v>2026-07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2732.9</c:v>
                </c:pt>
                <c:pt idx="1">
                  <c:v>2825.3</c:v>
                </c:pt>
                <c:pt idx="2">
                  <c:v>3024.1</c:v>
                </c:pt>
                <c:pt idx="3">
                  <c:v>3261.7</c:v>
                </c:pt>
                <c:pt idx="4">
                  <c:v>3274.6</c:v>
                </c:pt>
                <c:pt idx="5">
                  <c:v>3384.7</c:v>
                </c:pt>
                <c:pt idx="6">
                  <c:v>3368</c:v>
                </c:pt>
                <c:pt idx="7">
                  <c:v>3380.1</c:v>
                </c:pt>
                <c:pt idx="8">
                  <c:v>3520.2</c:v>
                </c:pt>
                <c:pt idx="9">
                  <c:v>4030.2</c:v>
                </c:pt>
                <c:pt idx="10">
                  <c:v>4142.3999999999996</c:v>
                </c:pt>
                <c:pt idx="11">
                  <c:v>4897.5</c:v>
                </c:pt>
                <c:pt idx="12">
                  <c:v>5180.1000000000004</c:v>
                </c:pt>
                <c:pt idx="13">
                  <c:v>5648.5</c:v>
                </c:pt>
                <c:pt idx="14">
                  <c:v>4792.8</c:v>
                </c:pt>
                <c:pt idx="15">
                  <c:v>4532.8</c:v>
                </c:pt>
                <c:pt idx="16">
                  <c:v>4346.8</c:v>
                </c:pt>
                <c:pt idx="17">
                  <c:v>4091.5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16-465B-AF32-87A61ADA0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7094336"/>
        <c:axId val="1767097664"/>
      </c:lineChart>
      <c:catAx>
        <c:axId val="1767094336"/>
        <c:scaling>
          <c:orientation val="minMax"/>
          <c:min val="44986"/>
        </c:scaling>
        <c:delete val="0"/>
        <c:axPos val="b"/>
        <c:numFmt formatCode="[$-409]mmm\-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vert="horz"/>
          <a:lstStyle/>
          <a:p>
            <a:pPr>
              <a:defRPr sz="900"/>
            </a:pPr>
            <a:endParaRPr lang="en-MN"/>
          </a:p>
        </c:txPr>
        <c:crossAx val="1767097664"/>
        <c:crosses val="autoZero"/>
        <c:auto val="1"/>
        <c:lblAlgn val="ctr"/>
        <c:lblOffset val="100"/>
        <c:tickLblSkip val="6"/>
        <c:tickMarkSkip val="6"/>
        <c:noMultiLvlLbl val="1"/>
      </c:catAx>
      <c:valAx>
        <c:axId val="1767097664"/>
        <c:scaling>
          <c:orientation val="minMax"/>
          <c:max val="6000"/>
          <c:min val="20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/>
                <a:ea typeface="+mn-ea"/>
                <a:cs typeface="+mn-cs"/>
              </a:defRPr>
            </a:pPr>
            <a:endParaRPr lang="en-MN"/>
          </a:p>
        </c:txPr>
        <c:crossAx val="1767094336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ontserrat" panose="00000500000000000000"/>
        </a:defRPr>
      </a:pPr>
      <a:endParaRPr lang="en-MN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100" b="1"/>
              <a:t>Төмрийн хүдрийн хилийн үнэ, $/тонн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Төмрийн хүдрийн хилийн үнэ, $/тонн</c:v>
                </c:pt>
              </c:strCache>
            </c:strRef>
          </c:tx>
          <c:spPr>
            <a:ln w="38100">
              <a:solidFill>
                <a:srgbClr val="179E8A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5">
                  <c:v>2025-06</c:v>
                </c:pt>
                <c:pt idx="11">
                  <c:v>2026-01</c:v>
                </c:pt>
                <c:pt idx="17">
                  <c:v>2026-07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74.099999999999994</c:v>
                </c:pt>
                <c:pt idx="1">
                  <c:v>72</c:v>
                </c:pt>
                <c:pt idx="2">
                  <c:v>71.8</c:v>
                </c:pt>
                <c:pt idx="3">
                  <c:v>70.2</c:v>
                </c:pt>
                <c:pt idx="4">
                  <c:v>68.400000000000006</c:v>
                </c:pt>
                <c:pt idx="5">
                  <c:v>73</c:v>
                </c:pt>
                <c:pt idx="6">
                  <c:v>68.7</c:v>
                </c:pt>
                <c:pt idx="7">
                  <c:v>73.900000000000006</c:v>
                </c:pt>
                <c:pt idx="8">
                  <c:v>73.599999999999994</c:v>
                </c:pt>
                <c:pt idx="9">
                  <c:v>74.3</c:v>
                </c:pt>
                <c:pt idx="10">
                  <c:v>75.3</c:v>
                </c:pt>
                <c:pt idx="11">
                  <c:v>70.7</c:v>
                </c:pt>
                <c:pt idx="12">
                  <c:v>69.5</c:v>
                </c:pt>
                <c:pt idx="13">
                  <c:v>68</c:v>
                </c:pt>
                <c:pt idx="14">
                  <c:v>70.2</c:v>
                </c:pt>
                <c:pt idx="15">
                  <c:v>71.900000000000006</c:v>
                </c:pt>
                <c:pt idx="16">
                  <c:v>72.900000000000006</c:v>
                </c:pt>
                <c:pt idx="17">
                  <c:v>70.400000000000006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C6-3E49-903B-4D1CECFFC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700000" vert="horz"/>
          <a:lstStyle/>
          <a:p>
            <a:pPr>
              <a:defRPr sz="900"/>
            </a:pPr>
            <a:endParaRPr lang="en-MN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78"/>
          <c:min val="66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MN"/>
          </a:p>
        </c:txPr>
        <c:crossAx val="2118791784"/>
        <c:crosses val="autoZero"/>
        <c:crossBetween val="between"/>
        <c:majorUnit val="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mn-MN" sz="1100" b="1"/>
              <a:t>Төлбөрийн тэнцэл, Гадаад валютын нөөц</a:t>
            </a:r>
          </a:p>
          <a:p>
            <a:r>
              <a:rPr lang="mn-MN" sz="1100" b="1"/>
              <a:t>тэрбум $</a:t>
            </a:r>
          </a:p>
        </c:rich>
      </c:tx>
      <c:layout>
        <c:manualLayout>
          <c:xMode val="edge"/>
          <c:yMode val="edge"/>
          <c:x val="1.0781249999999964E-3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Төлбөрийн тэнцэл</c:v>
                </c:pt>
              </c:strCache>
            </c:strRef>
          </c:tx>
          <c:spPr>
            <a:solidFill>
              <a:srgbClr val="1B2A5E"/>
            </a:solidFill>
            <a:effectLst/>
          </c:spPr>
          <c:invertIfNegative val="0"/>
          <c:dLbls>
            <c:numFmt formatCode="0.0;\(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
I-VI сар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-0.72699999999999998</c:v>
                </c:pt>
                <c:pt idx="1">
                  <c:v>1.4570000000000001</c:v>
                </c:pt>
                <c:pt idx="2">
                  <c:v>0.622</c:v>
                </c:pt>
                <c:pt idx="3">
                  <c:v>1.034</c:v>
                </c:pt>
                <c:pt idx="4">
                  <c:v>0.56699999999999995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0C-4DAB-9F53-57446ADAD0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Урсгал данс</c:v>
                </c:pt>
              </c:strCache>
            </c:strRef>
          </c:tx>
          <c:spPr>
            <a:solidFill>
              <a:srgbClr val="E8712A"/>
            </a:solidFill>
            <a:effectLst/>
          </c:spPr>
          <c:invertIfNegative val="0"/>
          <c:dLbls>
            <c:numFmt formatCode="0.0;\(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
I-VI сар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-2.3039999999999998</c:v>
                </c:pt>
                <c:pt idx="1">
                  <c:v>0.121</c:v>
                </c:pt>
                <c:pt idx="2">
                  <c:v>-2.4849999999999999</c:v>
                </c:pt>
                <c:pt idx="3">
                  <c:v>-2.12</c:v>
                </c:pt>
                <c:pt idx="4">
                  <c:v>0.20699999999999999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C-4DAB-9F53-57446ADAD0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8448944"/>
        <c:axId val="11963920"/>
      </c:barChart>
      <c:lineChart>
        <c:grouping val="standard"/>
        <c:varyColors val="0"/>
        <c:ser>
          <c:idx val="4"/>
          <c:order val="2"/>
          <c:tx>
            <c:strRef>
              <c:f>Sheet1!$D$1</c:f>
              <c:strCache>
                <c:ptCount val="1"/>
                <c:pt idx="0">
                  <c:v>ГВ нөөц</c:v>
                </c:pt>
              </c:strCache>
            </c:strRef>
          </c:tx>
          <c:spPr>
            <a:ln w="25400">
              <a:solidFill>
                <a:srgbClr val="9AA5B1"/>
              </a:solidFill>
            </a:ln>
            <a:effectLst/>
          </c:spPr>
          <c:dLbls>
            <c:numFmt formatCode="0.0;\(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n-M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
I-VI сар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3.4</c:v>
                </c:pt>
                <c:pt idx="1">
                  <c:v>4.9210000000000003</c:v>
                </c:pt>
                <c:pt idx="2">
                  <c:v>5.51</c:v>
                </c:pt>
                <c:pt idx="3">
                  <c:v>7</c:v>
                </c:pt>
                <c:pt idx="4">
                  <c:v>7.9630000000000001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9D0C-4DAB-9F53-57446ADAD0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8448944"/>
        <c:axId val="11963920"/>
      </c:lineChart>
      <c:catAx>
        <c:axId val="213844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pPr>
            <a:endParaRPr lang="en-MN"/>
          </a:p>
        </c:txPr>
        <c:crossAx val="11963920"/>
        <c:crosses val="autoZero"/>
        <c:auto val="1"/>
        <c:lblAlgn val="ctr"/>
        <c:lblOffset val="100"/>
        <c:noMultiLvlLbl val="0"/>
      </c:catAx>
      <c:valAx>
        <c:axId val="11963920"/>
        <c:scaling>
          <c:orientation val="minMax"/>
          <c:max val="9"/>
          <c:min val="-4"/>
        </c:scaling>
        <c:delete val="1"/>
        <c:axPos val="l"/>
        <c:numFmt formatCode="0.0;\(0.0\)" sourceLinked="0"/>
        <c:majorTickMark val="none"/>
        <c:minorTickMark val="none"/>
        <c:tickLblPos val="nextTo"/>
        <c:crossAx val="213844894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itchFamily="2" charset="0"/>
              <a:ea typeface="+mn-ea"/>
              <a:cs typeface="+mn-cs"/>
            </a:defRPr>
          </a:pPr>
          <a:endParaRPr lang="en-M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ontserrat" pitchFamily="2" charset="0"/>
        </a:defRPr>
      </a:pPr>
      <a:endParaRPr lang="en-MN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100" b="1"/>
              <a:t>Зээл ба хадгаламжийн үлдэгдэл, их наяд ₮ (2025-08 → 2026-07)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Банкны салбарын зээл, их наяд ₮</c:v>
                </c:pt>
              </c:strCache>
            </c:strRef>
          </c:tx>
          <c:spPr>
            <a:ln w="38100">
              <a:solidFill>
                <a:srgbClr val="1B2A5E"/>
              </a:solidFill>
            </a:ln>
          </c:spPr>
          <c:cat>
            <c:strRef>
              <c:f>Sheet1!$A$2:$A$13</c:f>
              <c:strCache>
                <c:ptCount val="12"/>
                <c:pt idx="0">
                  <c:v>Aug-25</c:v>
                </c:pt>
                <c:pt idx="1">
                  <c:v>Sep-25</c:v>
                </c:pt>
                <c:pt idx="2">
                  <c:v>Oct-25</c:v>
                </c:pt>
                <c:pt idx="3">
                  <c:v>Nov-25</c:v>
                </c:pt>
                <c:pt idx="4">
                  <c:v>Dec-25</c:v>
                </c:pt>
                <c:pt idx="5">
                  <c:v>Jan-26</c:v>
                </c:pt>
                <c:pt idx="6">
                  <c:v>Feb-26</c:v>
                </c:pt>
                <c:pt idx="7">
                  <c:v>Mar-26</c:v>
                </c:pt>
                <c:pt idx="8">
                  <c:v>Apr-26</c:v>
                </c:pt>
                <c:pt idx="9">
                  <c:v>May-26</c:v>
                </c:pt>
                <c:pt idx="10">
                  <c:v>Jun-26</c:v>
                </c:pt>
                <c:pt idx="11">
                  <c:v>Jul-26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42.29</c:v>
                </c:pt>
                <c:pt idx="1">
                  <c:v>42.73</c:v>
                </c:pt>
                <c:pt idx="2">
                  <c:v>43.46</c:v>
                </c:pt>
                <c:pt idx="3">
                  <c:v>43.11</c:v>
                </c:pt>
                <c:pt idx="4">
                  <c:v>43.75</c:v>
                </c:pt>
                <c:pt idx="5">
                  <c:v>43.91</c:v>
                </c:pt>
                <c:pt idx="6">
                  <c:v>43.89</c:v>
                </c:pt>
                <c:pt idx="7">
                  <c:v>45.01</c:v>
                </c:pt>
                <c:pt idx="8">
                  <c:v>45.96</c:v>
                </c:pt>
                <c:pt idx="9">
                  <c:v>47.26</c:v>
                </c:pt>
                <c:pt idx="10">
                  <c:v>48.96</c:v>
                </c:pt>
                <c:pt idx="11">
                  <c:v>47.88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B2-1B49-AFC1-13971F4322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Харилцах, хадгаламж, их наяд ₮</c:v>
                </c:pt>
              </c:strCache>
            </c:strRef>
          </c:tx>
          <c:spPr>
            <a:ln w="38100">
              <a:solidFill>
                <a:srgbClr val="E8712A"/>
              </a:solidFill>
            </a:ln>
          </c:spPr>
          <c:cat>
            <c:strRef>
              <c:f>Sheet1!$A$2:$A$13</c:f>
              <c:strCache>
                <c:ptCount val="12"/>
                <c:pt idx="0">
                  <c:v>Aug-25</c:v>
                </c:pt>
                <c:pt idx="1">
                  <c:v>Sep-25</c:v>
                </c:pt>
                <c:pt idx="2">
                  <c:v>Oct-25</c:v>
                </c:pt>
                <c:pt idx="3">
                  <c:v>Nov-25</c:v>
                </c:pt>
                <c:pt idx="4">
                  <c:v>Dec-25</c:v>
                </c:pt>
                <c:pt idx="5">
                  <c:v>Jan-26</c:v>
                </c:pt>
                <c:pt idx="6">
                  <c:v>Feb-26</c:v>
                </c:pt>
                <c:pt idx="7">
                  <c:v>Mar-26</c:v>
                </c:pt>
                <c:pt idx="8">
                  <c:v>Apr-26</c:v>
                </c:pt>
                <c:pt idx="9">
                  <c:v>May-26</c:v>
                </c:pt>
                <c:pt idx="10">
                  <c:v>Jun-26</c:v>
                </c:pt>
                <c:pt idx="11">
                  <c:v>Jul-26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40.75</c:v>
                </c:pt>
                <c:pt idx="1">
                  <c:v>40.770000000000003</c:v>
                </c:pt>
                <c:pt idx="2">
                  <c:v>41.66</c:v>
                </c:pt>
                <c:pt idx="3">
                  <c:v>41.94</c:v>
                </c:pt>
                <c:pt idx="4">
                  <c:v>42.97</c:v>
                </c:pt>
                <c:pt idx="5">
                  <c:v>42.95</c:v>
                </c:pt>
                <c:pt idx="6">
                  <c:v>44.36</c:v>
                </c:pt>
                <c:pt idx="7">
                  <c:v>45.21</c:v>
                </c:pt>
                <c:pt idx="8">
                  <c:v>46.66</c:v>
                </c:pt>
                <c:pt idx="9">
                  <c:v>47.83</c:v>
                </c:pt>
                <c:pt idx="10">
                  <c:v>49.44</c:v>
                </c:pt>
                <c:pt idx="11">
                  <c:v>49.53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B2-1B49-AFC1-13971F4322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 rot="0" vert="horz"/>
          <a:lstStyle/>
          <a:p>
            <a:pPr>
              <a:defRPr sz="900"/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-2113994440"/>
        <c:scaling>
          <c:orientation val="minMax"/>
          <c:max val="52"/>
          <c:min val="4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MN"/>
          </a:p>
        </c:txPr>
        <c:crossAx val="-2068027336"/>
        <c:crosses val="autoZero"/>
        <c:crossBetween val="between"/>
        <c:majorUnit val="2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100" b="1" dirty="0"/>
              <a:t>Сарын бууралтанд хамгийн их нөлөөлсөн 10 салбар (нэгж хувь)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Хувь нэмэр, нэгж хувь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Montserrat"/>
                  </a:defRPr>
                </a:pPr>
                <a:endParaRPr lang="en-M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Үл хөдлөх хөрөнгө</c:v>
                </c:pt>
                <c:pt idx="1">
                  <c:v>Худалдаа, засвар</c:v>
                </c:pt>
                <c:pt idx="2">
                  <c:v>Бусад</c:v>
                </c:pt>
                <c:pt idx="3">
                  <c:v>Хөдөө аж ахуй</c:v>
                </c:pt>
                <c:pt idx="4">
                  <c:v>Үйлчилгээний бусад</c:v>
                </c:pt>
                <c:pt idx="5">
                  <c:v>Боловсруулах үйлдвэр</c:v>
                </c:pt>
                <c:pt idx="6">
                  <c:v>Санхүү, даатгал</c:v>
                </c:pt>
                <c:pt idx="7">
                  <c:v>Цахилгаан, хий, уур</c:v>
                </c:pt>
                <c:pt idx="8">
                  <c:v>Барилга</c:v>
                </c:pt>
                <c:pt idx="9">
                  <c:v>Ус Хангамж; Сувагжилты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-1.26</c:v>
                </c:pt>
                <c:pt idx="1">
                  <c:v>-0.94</c:v>
                </c:pt>
                <c:pt idx="2">
                  <c:v>-0.11</c:v>
                </c:pt>
                <c:pt idx="3">
                  <c:v>-0.06</c:v>
                </c:pt>
                <c:pt idx="4">
                  <c:v>-0.06</c:v>
                </c:pt>
                <c:pt idx="5">
                  <c:v>-0.04</c:v>
                </c:pt>
                <c:pt idx="6">
                  <c:v>-0.03</c:v>
                </c:pt>
                <c:pt idx="7">
                  <c:v>-0.02</c:v>
                </c:pt>
                <c:pt idx="8">
                  <c:v>-0.01</c:v>
                </c:pt>
                <c:pt idx="9">
                  <c:v>-0.01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64-9342-AA0E-52666B9E02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high"/>
        <c:txPr>
          <a:bodyPr/>
          <a:lstStyle/>
          <a:p>
            <a:pPr>
              <a:defRPr sz="800">
                <a:latin typeface="Montserrat"/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>
              <a:solidFill>
                <a:srgbClr val="E6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ontserrat"/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Montserrat"/>
        </a:defRPr>
      </a:pPr>
      <a:endParaRPr lang="en-MN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>
                <a:solidFill>
                  <a:srgbClr val="404040"/>
                </a:solidFill>
              </a:rPr>
              <a:t>Уул уурхайн дэд салбарууд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Чулуун, хүрэн нүүрс олборлолт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-0.21065999999999999</c:v>
                </c:pt>
                <c:pt idx="1">
                  <c:v>-0.22908999999999999</c:v>
                </c:pt>
                <c:pt idx="2">
                  <c:v>-0.20369000000000001</c:v>
                </c:pt>
                <c:pt idx="3">
                  <c:v>-0.20302000000000001</c:v>
                </c:pt>
                <c:pt idx="4">
                  <c:v>-0.21873000000000001</c:v>
                </c:pt>
                <c:pt idx="5">
                  <c:v>-0.20951</c:v>
                </c:pt>
                <c:pt idx="6">
                  <c:v>-0.19961000000000001</c:v>
                </c:pt>
                <c:pt idx="7">
                  <c:v>-0.17957000000000001</c:v>
                </c:pt>
                <c:pt idx="8">
                  <c:v>-0.16799</c:v>
                </c:pt>
                <c:pt idx="9">
                  <c:v>-0.15010000000000001</c:v>
                </c:pt>
                <c:pt idx="10">
                  <c:v>-0.12670000000000001</c:v>
                </c:pt>
                <c:pt idx="11">
                  <c:v>0.26219999999999999</c:v>
                </c:pt>
                <c:pt idx="12">
                  <c:v>0.15384</c:v>
                </c:pt>
                <c:pt idx="13">
                  <c:v>0.21104000000000001</c:v>
                </c:pt>
                <c:pt idx="14">
                  <c:v>0.21498999999999999</c:v>
                </c:pt>
                <c:pt idx="15">
                  <c:v>0.20832999999999999</c:v>
                </c:pt>
                <c:pt idx="16">
                  <c:v>0.22536</c:v>
                </c:pt>
                <c:pt idx="17">
                  <c:v>0.22142999999999999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28-9C45-B3BE-7C711F3823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Газрын түүхий тос, байгалийн хий о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-3.29E-3</c:v>
                </c:pt>
                <c:pt idx="1">
                  <c:v>-3.2200000000000002E-3</c:v>
                </c:pt>
                <c:pt idx="2">
                  <c:v>-4.3E-3</c:v>
                </c:pt>
                <c:pt idx="3">
                  <c:v>-4.2599999999999999E-3</c:v>
                </c:pt>
                <c:pt idx="4">
                  <c:v>-3.3600000000000001E-3</c:v>
                </c:pt>
                <c:pt idx="5">
                  <c:v>-3.2799999999999999E-3</c:v>
                </c:pt>
                <c:pt idx="6">
                  <c:v>-3.3400000000000001E-3</c:v>
                </c:pt>
                <c:pt idx="7">
                  <c:v>-3.4399999999999999E-3</c:v>
                </c:pt>
                <c:pt idx="8">
                  <c:v>-3.46E-3</c:v>
                </c:pt>
                <c:pt idx="9">
                  <c:v>-3.6600000000000001E-3</c:v>
                </c:pt>
                <c:pt idx="10">
                  <c:v>-3.7799999999999999E-3</c:v>
                </c:pt>
                <c:pt idx="11">
                  <c:v>-5.45E-3</c:v>
                </c:pt>
                <c:pt idx="12">
                  <c:v>-6.6699999999999997E-3</c:v>
                </c:pt>
                <c:pt idx="13">
                  <c:v>-4.0899999999999999E-3</c:v>
                </c:pt>
                <c:pt idx="14">
                  <c:v>-1.2600000000000001E-3</c:v>
                </c:pt>
                <c:pt idx="15">
                  <c:v>6.9999999999999994E-5</c:v>
                </c:pt>
                <c:pt idx="16">
                  <c:v>3.8000000000000002E-4</c:v>
                </c:pt>
                <c:pt idx="17">
                  <c:v>3.0000000000000001E-5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28-9C45-B3BE-7C711F38237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Металлын хүдэр олборлолт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4.6829999999999997E-2</c:v>
                </c:pt>
                <c:pt idx="1">
                  <c:v>6.6909999999999997E-2</c:v>
                </c:pt>
                <c:pt idx="2">
                  <c:v>7.5410000000000005E-2</c:v>
                </c:pt>
                <c:pt idx="3">
                  <c:v>0.10922999999999999</c:v>
                </c:pt>
                <c:pt idx="4">
                  <c:v>0.13732</c:v>
                </c:pt>
                <c:pt idx="5">
                  <c:v>0.15468000000000001</c:v>
                </c:pt>
                <c:pt idx="6">
                  <c:v>0.17909</c:v>
                </c:pt>
                <c:pt idx="7">
                  <c:v>0.19786999999999999</c:v>
                </c:pt>
                <c:pt idx="8">
                  <c:v>0.20446</c:v>
                </c:pt>
                <c:pt idx="9">
                  <c:v>0.21529999999999999</c:v>
                </c:pt>
                <c:pt idx="10">
                  <c:v>0.24958</c:v>
                </c:pt>
                <c:pt idx="11">
                  <c:v>1.0248299999999999</c:v>
                </c:pt>
                <c:pt idx="12">
                  <c:v>0.60433000000000003</c:v>
                </c:pt>
                <c:pt idx="13">
                  <c:v>0.53615999999999997</c:v>
                </c:pt>
                <c:pt idx="14">
                  <c:v>0.53603999999999996</c:v>
                </c:pt>
                <c:pt idx="15">
                  <c:v>0.48068</c:v>
                </c:pt>
                <c:pt idx="16">
                  <c:v>0.39444000000000001</c:v>
                </c:pt>
                <c:pt idx="17">
                  <c:v>0.40067999999999998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28-9C45-B3BE-7C711F38237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Бусад ашигт малтмал олборлолт</c:v>
                </c:pt>
              </c:strCache>
            </c:strRef>
          </c:tx>
          <c:spPr>
            <a:solidFill>
              <a:srgbClr val="264478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1.153E-2</c:v>
                </c:pt>
                <c:pt idx="1">
                  <c:v>9.6200000000000001E-3</c:v>
                </c:pt>
                <c:pt idx="2">
                  <c:v>7.5700000000000003E-3</c:v>
                </c:pt>
                <c:pt idx="3">
                  <c:v>6.1399999999999996E-3</c:v>
                </c:pt>
                <c:pt idx="4">
                  <c:v>3.9100000000000003E-3</c:v>
                </c:pt>
                <c:pt idx="5">
                  <c:v>1.9400000000000001E-3</c:v>
                </c:pt>
                <c:pt idx="6">
                  <c:v>1.97E-3</c:v>
                </c:pt>
                <c:pt idx="7">
                  <c:v>1.9599999999999999E-3</c:v>
                </c:pt>
                <c:pt idx="8">
                  <c:v>1.6199999999999999E-3</c:v>
                </c:pt>
                <c:pt idx="9">
                  <c:v>1.66E-3</c:v>
                </c:pt>
                <c:pt idx="10">
                  <c:v>1.72E-3</c:v>
                </c:pt>
                <c:pt idx="11">
                  <c:v>-1.155E-2</c:v>
                </c:pt>
                <c:pt idx="12">
                  <c:v>-1.4499999999999999E-3</c:v>
                </c:pt>
                <c:pt idx="13">
                  <c:v>-7.2999999999999996E-4</c:v>
                </c:pt>
                <c:pt idx="14">
                  <c:v>3.5E-4</c:v>
                </c:pt>
                <c:pt idx="15">
                  <c:v>3.6999999999999999E-4</c:v>
                </c:pt>
                <c:pt idx="16">
                  <c:v>1.8E-3</c:v>
                </c:pt>
                <c:pt idx="17">
                  <c:v>3.31E-3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028-9C45-B3BE-7C711F38237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Уул уурхайн туслах үйл ажиллагаа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8.7500000000000008E-3</c:v>
                </c:pt>
                <c:pt idx="1">
                  <c:v>6.1399999999999996E-3</c:v>
                </c:pt>
                <c:pt idx="2">
                  <c:v>4.9199999999999999E-3</c:v>
                </c:pt>
                <c:pt idx="3">
                  <c:v>4.0400000000000002E-3</c:v>
                </c:pt>
                <c:pt idx="4">
                  <c:v>2.2300000000000002E-3</c:v>
                </c:pt>
                <c:pt idx="5">
                  <c:v>1.6800000000000001E-3</c:v>
                </c:pt>
                <c:pt idx="6">
                  <c:v>1.6100000000000001E-3</c:v>
                </c:pt>
                <c:pt idx="7">
                  <c:v>1.5E-3</c:v>
                </c:pt>
                <c:pt idx="8">
                  <c:v>1.0499999999999999E-3</c:v>
                </c:pt>
                <c:pt idx="9">
                  <c:v>1.01E-3</c:v>
                </c:pt>
                <c:pt idx="10">
                  <c:v>8.0000000000000004E-4</c:v>
                </c:pt>
                <c:pt idx="11">
                  <c:v>-1.48E-3</c:v>
                </c:pt>
                <c:pt idx="12">
                  <c:v>-7.3000000000000001E-3</c:v>
                </c:pt>
                <c:pt idx="13">
                  <c:v>-4.1200000000000004E-3</c:v>
                </c:pt>
                <c:pt idx="14">
                  <c:v>-2.1800000000000001E-3</c:v>
                </c:pt>
                <c:pt idx="15">
                  <c:v>-4.8999999999999998E-4</c:v>
                </c:pt>
                <c:pt idx="16">
                  <c:v>1.5100000000000001E-3</c:v>
                </c:pt>
                <c:pt idx="17">
                  <c:v>2.0300000000000001E-3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28-9C45-B3BE-7C711F382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Бүлгийн дүн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7"/>
              <c:layout>
                <c:manualLayout>
                  <c:x val="0"/>
                  <c:y val="-2.7777777777777828E-2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7BF-EA49-9CE5-2609F4D7627F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Sheet1!$G$2:$G$19</c:f>
              <c:numCache>
                <c:formatCode>General</c:formatCode>
                <c:ptCount val="18"/>
                <c:pt idx="0">
                  <c:v>-0.14682999999999999</c:v>
                </c:pt>
                <c:pt idx="1">
                  <c:v>-0.14964</c:v>
                </c:pt>
                <c:pt idx="2">
                  <c:v>-0.12009</c:v>
                </c:pt>
                <c:pt idx="3">
                  <c:v>-8.7859999999999994E-2</c:v>
                </c:pt>
                <c:pt idx="4">
                  <c:v>-7.8630000000000005E-2</c:v>
                </c:pt>
                <c:pt idx="5">
                  <c:v>-5.4489999999999997E-2</c:v>
                </c:pt>
                <c:pt idx="6">
                  <c:v>-2.0279999999999999E-2</c:v>
                </c:pt>
                <c:pt idx="7">
                  <c:v>1.8329999999999999E-2</c:v>
                </c:pt>
                <c:pt idx="8">
                  <c:v>3.5680000000000003E-2</c:v>
                </c:pt>
                <c:pt idx="9">
                  <c:v>6.4219999999999999E-2</c:v>
                </c:pt>
                <c:pt idx="10">
                  <c:v>0.12162000000000001</c:v>
                </c:pt>
                <c:pt idx="11">
                  <c:v>1.2685500000000001</c:v>
                </c:pt>
                <c:pt idx="12">
                  <c:v>0.74273999999999996</c:v>
                </c:pt>
                <c:pt idx="13">
                  <c:v>0.73826999999999998</c:v>
                </c:pt>
                <c:pt idx="14">
                  <c:v>0.74794000000000005</c:v>
                </c:pt>
                <c:pt idx="15">
                  <c:v>0.68898000000000004</c:v>
                </c:pt>
                <c:pt idx="16">
                  <c:v>0.62348999999999999</c:v>
                </c:pt>
                <c:pt idx="17">
                  <c:v>0.62748000000000004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2028-9C45-B3BE-7C711F382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>
                <a:solidFill>
                  <a:srgbClr val="404040"/>
                </a:solidFill>
              </a:rPr>
              <a:t>Хүнсний үйлдвэрлэл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Мах боловсруулах, консервлох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1.64E-3</c:v>
                </c:pt>
                <c:pt idx="1">
                  <c:v>-6.4999999999999997E-4</c:v>
                </c:pt>
                <c:pt idx="2">
                  <c:v>-5.5000000000000003E-4</c:v>
                </c:pt>
                <c:pt idx="3">
                  <c:v>1.2800000000000001E-3</c:v>
                </c:pt>
                <c:pt idx="4">
                  <c:v>2.7699999999999999E-3</c:v>
                </c:pt>
                <c:pt idx="5">
                  <c:v>3.3899999999999998E-3</c:v>
                </c:pt>
                <c:pt idx="6">
                  <c:v>3.5300000000000002E-3</c:v>
                </c:pt>
                <c:pt idx="7">
                  <c:v>4.8900000000000002E-3</c:v>
                </c:pt>
                <c:pt idx="8">
                  <c:v>5.11E-3</c:v>
                </c:pt>
                <c:pt idx="9">
                  <c:v>5.4099999999999999E-3</c:v>
                </c:pt>
                <c:pt idx="10">
                  <c:v>4.3400000000000001E-3</c:v>
                </c:pt>
                <c:pt idx="11">
                  <c:v>-4.6999999999999999E-4</c:v>
                </c:pt>
                <c:pt idx="12">
                  <c:v>-5.9999999999999995E-4</c:v>
                </c:pt>
                <c:pt idx="13">
                  <c:v>1E-4</c:v>
                </c:pt>
                <c:pt idx="14">
                  <c:v>6.8999999999999997E-4</c:v>
                </c:pt>
                <c:pt idx="15">
                  <c:v>-1.2099999999999999E-3</c:v>
                </c:pt>
                <c:pt idx="16">
                  <c:v>-2.64E-3</c:v>
                </c:pt>
                <c:pt idx="17">
                  <c:v>-2.66E-3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7-324A-8D0E-C861DA672D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Жимс болон төмс, хүнсний ногоо бол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5.6999999999999998E-4</c:v>
                </c:pt>
                <c:pt idx="1">
                  <c:v>3.6000000000000002E-4</c:v>
                </c:pt>
                <c:pt idx="2">
                  <c:v>3.2000000000000003E-4</c:v>
                </c:pt>
                <c:pt idx="3">
                  <c:v>3.3E-4</c:v>
                </c:pt>
                <c:pt idx="4">
                  <c:v>3.2000000000000003E-4</c:v>
                </c:pt>
                <c:pt idx="5">
                  <c:v>2.5999999999999998E-4</c:v>
                </c:pt>
                <c:pt idx="6">
                  <c:v>2.2000000000000001E-4</c:v>
                </c:pt>
                <c:pt idx="7">
                  <c:v>2.3000000000000001E-4</c:v>
                </c:pt>
                <c:pt idx="8">
                  <c:v>2.4000000000000001E-4</c:v>
                </c:pt>
                <c:pt idx="9">
                  <c:v>2.3000000000000001E-4</c:v>
                </c:pt>
                <c:pt idx="10">
                  <c:v>1.9000000000000001E-4</c:v>
                </c:pt>
                <c:pt idx="11">
                  <c:v>4.8999999999999998E-4</c:v>
                </c:pt>
                <c:pt idx="12">
                  <c:v>-3.4000000000000002E-4</c:v>
                </c:pt>
                <c:pt idx="13">
                  <c:v>1.0000000000000001E-5</c:v>
                </c:pt>
                <c:pt idx="14">
                  <c:v>6.0000000000000002E-5</c:v>
                </c:pt>
                <c:pt idx="15">
                  <c:v>5.0000000000000002E-5</c:v>
                </c:pt>
                <c:pt idx="16">
                  <c:v>-1.1E-4</c:v>
                </c:pt>
                <c:pt idx="17">
                  <c:v>-6.9999999999999994E-5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17-324A-8D0E-C861DA672D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Сүүн бүтээгдэхүүн үйлдвэрлэл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2.49E-3</c:v>
                </c:pt>
                <c:pt idx="1">
                  <c:v>-6.9999999999999994E-5</c:v>
                </c:pt>
                <c:pt idx="2">
                  <c:v>-1.23E-3</c:v>
                </c:pt>
                <c:pt idx="3">
                  <c:v>-1.1000000000000001E-3</c:v>
                </c:pt>
                <c:pt idx="4">
                  <c:v>-7.2999999999999996E-4</c:v>
                </c:pt>
                <c:pt idx="5">
                  <c:v>-5.2999999999999998E-4</c:v>
                </c:pt>
                <c:pt idx="6">
                  <c:v>-3.8000000000000002E-4</c:v>
                </c:pt>
                <c:pt idx="7">
                  <c:v>-3.6999999999999999E-4</c:v>
                </c:pt>
                <c:pt idx="8">
                  <c:v>-2.7999999999999998E-4</c:v>
                </c:pt>
                <c:pt idx="9">
                  <c:v>-1.2E-4</c:v>
                </c:pt>
                <c:pt idx="10">
                  <c:v>4.0000000000000003E-5</c:v>
                </c:pt>
                <c:pt idx="11">
                  <c:v>2.9099999999999998E-3</c:v>
                </c:pt>
                <c:pt idx="12">
                  <c:v>8.4000000000000003E-4</c:v>
                </c:pt>
                <c:pt idx="13">
                  <c:v>3.5200000000000001E-3</c:v>
                </c:pt>
                <c:pt idx="14">
                  <c:v>4.7999999999999996E-3</c:v>
                </c:pt>
                <c:pt idx="15">
                  <c:v>4.6800000000000001E-3</c:v>
                </c:pt>
                <c:pt idx="16">
                  <c:v>4.1599999999999996E-3</c:v>
                </c:pt>
                <c:pt idx="17">
                  <c:v>3.9899999999999996E-3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17-324A-8D0E-C861DA672D4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Yр тарианы гурлын болон цардуул, ц</c:v>
                </c:pt>
              </c:strCache>
            </c:strRef>
          </c:tx>
          <c:spPr>
            <a:solidFill>
              <a:srgbClr val="264478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-1.56E-3</c:v>
                </c:pt>
                <c:pt idx="1">
                  <c:v>-1.65E-3</c:v>
                </c:pt>
                <c:pt idx="2">
                  <c:v>-1.8400000000000001E-3</c:v>
                </c:pt>
                <c:pt idx="3">
                  <c:v>-1.41E-3</c:v>
                </c:pt>
                <c:pt idx="4">
                  <c:v>-1E-3</c:v>
                </c:pt>
                <c:pt idx="5">
                  <c:v>-7.3999999999999999E-4</c:v>
                </c:pt>
                <c:pt idx="6">
                  <c:v>-4.8000000000000001E-4</c:v>
                </c:pt>
                <c:pt idx="7">
                  <c:v>-3.4000000000000002E-4</c:v>
                </c:pt>
                <c:pt idx="8">
                  <c:v>-2.1000000000000001E-4</c:v>
                </c:pt>
                <c:pt idx="9">
                  <c:v>-4.0000000000000003E-5</c:v>
                </c:pt>
                <c:pt idx="10">
                  <c:v>1.2E-4</c:v>
                </c:pt>
                <c:pt idx="11">
                  <c:v>3.8400000000000001E-3</c:v>
                </c:pt>
                <c:pt idx="12">
                  <c:v>1.47E-3</c:v>
                </c:pt>
                <c:pt idx="13">
                  <c:v>1.89E-3</c:v>
                </c:pt>
                <c:pt idx="14">
                  <c:v>2.7200000000000002E-3</c:v>
                </c:pt>
                <c:pt idx="15">
                  <c:v>2.4499999999999999E-3</c:v>
                </c:pt>
                <c:pt idx="16">
                  <c:v>2.2499999999999998E-3</c:v>
                </c:pt>
                <c:pt idx="17">
                  <c:v>2.0200000000000001E-3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17-324A-8D0E-C861DA672D4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Хүнсний бусад бүтээгдэхүүн үйлдвэр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2.48E-3</c:v>
                </c:pt>
                <c:pt idx="1">
                  <c:v>6.8999999999999997E-4</c:v>
                </c:pt>
                <c:pt idx="2">
                  <c:v>9.5E-4</c:v>
                </c:pt>
                <c:pt idx="3">
                  <c:v>1.08E-3</c:v>
                </c:pt>
                <c:pt idx="4">
                  <c:v>1.2999999999999999E-3</c:v>
                </c:pt>
                <c:pt idx="5">
                  <c:v>1.4E-3</c:v>
                </c:pt>
                <c:pt idx="6">
                  <c:v>1.4599999999999999E-3</c:v>
                </c:pt>
                <c:pt idx="7">
                  <c:v>1.5100000000000001E-3</c:v>
                </c:pt>
                <c:pt idx="8">
                  <c:v>1.56E-3</c:v>
                </c:pt>
                <c:pt idx="9">
                  <c:v>1.56E-3</c:v>
                </c:pt>
                <c:pt idx="10">
                  <c:v>1.81E-3</c:v>
                </c:pt>
                <c:pt idx="11">
                  <c:v>3.7299999999999998E-3</c:v>
                </c:pt>
                <c:pt idx="12">
                  <c:v>3.8000000000000002E-4</c:v>
                </c:pt>
                <c:pt idx="13">
                  <c:v>1.5100000000000001E-3</c:v>
                </c:pt>
                <c:pt idx="14">
                  <c:v>1.4400000000000001E-3</c:v>
                </c:pt>
                <c:pt idx="15">
                  <c:v>1.34E-3</c:v>
                </c:pt>
                <c:pt idx="16">
                  <c:v>1.3699999999999999E-3</c:v>
                </c:pt>
                <c:pt idx="17">
                  <c:v>1.4499999999999999E-3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17-324A-8D0E-C861DA672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Бүлгийн дүн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7"/>
              <c:layout>
                <c:manualLayout>
                  <c:x val="0"/>
                  <c:y val="3.888888888888889E-2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154-EC42-A3E3-17EA6A925B21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Sheet1!$G$2:$G$19</c:f>
              <c:numCache>
                <c:formatCode>General</c:formatCode>
                <c:ptCount val="18"/>
                <c:pt idx="0">
                  <c:v>5.6299999999999996E-3</c:v>
                </c:pt>
                <c:pt idx="1">
                  <c:v>-1.32E-3</c:v>
                </c:pt>
                <c:pt idx="2">
                  <c:v>-2.3500000000000001E-3</c:v>
                </c:pt>
                <c:pt idx="3">
                  <c:v>1.9000000000000001E-4</c:v>
                </c:pt>
                <c:pt idx="4">
                  <c:v>2.66E-3</c:v>
                </c:pt>
                <c:pt idx="5">
                  <c:v>3.79E-3</c:v>
                </c:pt>
                <c:pt idx="6">
                  <c:v>4.3499999999999997E-3</c:v>
                </c:pt>
                <c:pt idx="7">
                  <c:v>5.9199999999999999E-3</c:v>
                </c:pt>
                <c:pt idx="8">
                  <c:v>6.43E-3</c:v>
                </c:pt>
                <c:pt idx="9">
                  <c:v>7.0299999999999998E-3</c:v>
                </c:pt>
                <c:pt idx="10">
                  <c:v>6.4900000000000001E-3</c:v>
                </c:pt>
                <c:pt idx="11">
                  <c:v>1.0489999999999999E-2</c:v>
                </c:pt>
                <c:pt idx="12">
                  <c:v>1.74E-3</c:v>
                </c:pt>
                <c:pt idx="13">
                  <c:v>7.0299999999999998E-3</c:v>
                </c:pt>
                <c:pt idx="14">
                  <c:v>9.7099999999999999E-3</c:v>
                </c:pt>
                <c:pt idx="15">
                  <c:v>7.3000000000000001E-3</c:v>
                </c:pt>
                <c:pt idx="16">
                  <c:v>5.0299999999999997E-3</c:v>
                </c:pt>
                <c:pt idx="17">
                  <c:v>4.7299999999999998E-3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CB17-324A-8D0E-C861DA672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.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 dirty="0">
                <a:solidFill>
                  <a:srgbClr val="404040"/>
                </a:solidFill>
              </a:rPr>
              <a:t>Ундаа,</a:t>
            </a:r>
            <a:r>
              <a:rPr lang="mn-MN" sz="1300" b="0" baseline="0" dirty="0">
                <a:solidFill>
                  <a:srgbClr val="404040"/>
                </a:solidFill>
              </a:rPr>
              <a:t> тамхи болон ахуйн үйлдвэрлэл</a:t>
            </a:r>
            <a:endParaRPr lang="mn-MN" sz="1300" b="0" dirty="0">
              <a:solidFill>
                <a:srgbClr val="404040"/>
              </a:solidFill>
            </a:endParaRP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Ундаа үйлдвэрлэл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8.7799999999999996E-3</c:v>
                </c:pt>
                <c:pt idx="1">
                  <c:v>1.0149999999999999E-2</c:v>
                </c:pt>
                <c:pt idx="2">
                  <c:v>1.0059999999999999E-2</c:v>
                </c:pt>
                <c:pt idx="3">
                  <c:v>9.6900000000000007E-3</c:v>
                </c:pt>
                <c:pt idx="4">
                  <c:v>1.0970000000000001E-2</c:v>
                </c:pt>
                <c:pt idx="5">
                  <c:v>1.1560000000000001E-2</c:v>
                </c:pt>
                <c:pt idx="6">
                  <c:v>1.0279999999999999E-2</c:v>
                </c:pt>
                <c:pt idx="7">
                  <c:v>1.018E-2</c:v>
                </c:pt>
                <c:pt idx="8">
                  <c:v>9.7800000000000005E-3</c:v>
                </c:pt>
                <c:pt idx="9">
                  <c:v>8.8900000000000003E-3</c:v>
                </c:pt>
                <c:pt idx="10">
                  <c:v>8.1200000000000005E-3</c:v>
                </c:pt>
                <c:pt idx="11">
                  <c:v>6.2199999999999998E-3</c:v>
                </c:pt>
                <c:pt idx="12">
                  <c:v>1.64E-3</c:v>
                </c:pt>
                <c:pt idx="13">
                  <c:v>1.6000000000000001E-4</c:v>
                </c:pt>
                <c:pt idx="14">
                  <c:v>2.9499999999999999E-3</c:v>
                </c:pt>
                <c:pt idx="15">
                  <c:v>3.2499999999999999E-3</c:v>
                </c:pt>
                <c:pt idx="16">
                  <c:v>2.2100000000000002E-3</c:v>
                </c:pt>
                <c:pt idx="17">
                  <c:v>2.2799999999999999E-3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FA-AE4C-A323-190F6719BC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Тамхи үйлдвэрлэл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5.5999999999999995E-4</c:v>
                </c:pt>
                <c:pt idx="1">
                  <c:v>4.2000000000000002E-4</c:v>
                </c:pt>
                <c:pt idx="2">
                  <c:v>3.8000000000000002E-4</c:v>
                </c:pt>
                <c:pt idx="3">
                  <c:v>1.2E-4</c:v>
                </c:pt>
                <c:pt idx="4">
                  <c:v>2.0000000000000002E-5</c:v>
                </c:pt>
                <c:pt idx="5">
                  <c:v>-2.9E-4</c:v>
                </c:pt>
                <c:pt idx="6">
                  <c:v>-2.3000000000000001E-4</c:v>
                </c:pt>
                <c:pt idx="7">
                  <c:v>-4.0000000000000002E-4</c:v>
                </c:pt>
                <c:pt idx="8">
                  <c:v>-4.2999999999999999E-4</c:v>
                </c:pt>
                <c:pt idx="9">
                  <c:v>-4.0000000000000002E-4</c:v>
                </c:pt>
                <c:pt idx="10">
                  <c:v>-3.4000000000000002E-4</c:v>
                </c:pt>
                <c:pt idx="11">
                  <c:v>7.2999999999999996E-4</c:v>
                </c:pt>
                <c:pt idx="12">
                  <c:v>-3.0000000000000001E-5</c:v>
                </c:pt>
                <c:pt idx="13">
                  <c:v>-2.1000000000000001E-4</c:v>
                </c:pt>
                <c:pt idx="14">
                  <c:v>-3.6000000000000002E-4</c:v>
                </c:pt>
                <c:pt idx="15">
                  <c:v>-3.4000000000000002E-4</c:v>
                </c:pt>
                <c:pt idx="16">
                  <c:v>-3.2000000000000003E-4</c:v>
                </c:pt>
                <c:pt idx="17">
                  <c:v>-2.9999999999999997E-4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FA-AE4C-A323-190F6719BC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Ээрэх, нэхэх, даавуун материал бэл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-1.1299999999999999E-3</c:v>
                </c:pt>
                <c:pt idx="1">
                  <c:v>-8.8000000000000003E-4</c:v>
                </c:pt>
                <c:pt idx="2">
                  <c:v>-1.8600000000000001E-3</c:v>
                </c:pt>
                <c:pt idx="3">
                  <c:v>-7.5300000000000002E-3</c:v>
                </c:pt>
                <c:pt idx="4">
                  <c:v>-9.0799999999999995E-3</c:v>
                </c:pt>
                <c:pt idx="5">
                  <c:v>-1.0460000000000001E-2</c:v>
                </c:pt>
                <c:pt idx="6">
                  <c:v>-6.6400000000000001E-3</c:v>
                </c:pt>
                <c:pt idx="7">
                  <c:v>-1.34E-3</c:v>
                </c:pt>
                <c:pt idx="8">
                  <c:v>2.48E-3</c:v>
                </c:pt>
                <c:pt idx="9">
                  <c:v>4.1700000000000001E-3</c:v>
                </c:pt>
                <c:pt idx="10">
                  <c:v>6.2199999999999998E-3</c:v>
                </c:pt>
                <c:pt idx="11">
                  <c:v>1.23E-3</c:v>
                </c:pt>
                <c:pt idx="12">
                  <c:v>-9.2000000000000003E-4</c:v>
                </c:pt>
                <c:pt idx="13">
                  <c:v>-6.9999999999999999E-4</c:v>
                </c:pt>
                <c:pt idx="14">
                  <c:v>8.0000000000000007E-5</c:v>
                </c:pt>
                <c:pt idx="15">
                  <c:v>1.1800000000000001E-3</c:v>
                </c:pt>
                <c:pt idx="16">
                  <c:v>4.1000000000000003E-3</c:v>
                </c:pt>
                <c:pt idx="17">
                  <c:v>6.1199999999999996E-3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FA-AE4C-A323-190F6719BC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Хувцас үйлдвэрлэл</c:v>
                </c:pt>
              </c:strCache>
            </c:strRef>
          </c:tx>
          <c:spPr>
            <a:solidFill>
              <a:srgbClr val="264478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8.4999999999999995E-4</c:v>
                </c:pt>
                <c:pt idx="1">
                  <c:v>6.3000000000000003E-4</c:v>
                </c:pt>
                <c:pt idx="2">
                  <c:v>6.0999999999999997E-4</c:v>
                </c:pt>
                <c:pt idx="3">
                  <c:v>3.5E-4</c:v>
                </c:pt>
                <c:pt idx="4">
                  <c:v>2.4000000000000001E-4</c:v>
                </c:pt>
                <c:pt idx="5">
                  <c:v>1.2999999999999999E-4</c:v>
                </c:pt>
                <c:pt idx="6">
                  <c:v>3.0000000000000001E-5</c:v>
                </c:pt>
                <c:pt idx="7">
                  <c:v>1.0000000000000001E-5</c:v>
                </c:pt>
                <c:pt idx="8">
                  <c:v>6.0000000000000002E-5</c:v>
                </c:pt>
                <c:pt idx="9">
                  <c:v>4.0000000000000003E-5</c:v>
                </c:pt>
                <c:pt idx="10">
                  <c:v>2.1000000000000001E-4</c:v>
                </c:pt>
                <c:pt idx="11">
                  <c:v>8.0000000000000004E-4</c:v>
                </c:pt>
                <c:pt idx="12">
                  <c:v>3.3E-4</c:v>
                </c:pt>
                <c:pt idx="13">
                  <c:v>8.8000000000000003E-4</c:v>
                </c:pt>
                <c:pt idx="14">
                  <c:v>8.5999999999999998E-4</c:v>
                </c:pt>
                <c:pt idx="15">
                  <c:v>8.4999999999999995E-4</c:v>
                </c:pt>
                <c:pt idx="16">
                  <c:v>7.2000000000000005E-4</c:v>
                </c:pt>
                <c:pt idx="17">
                  <c:v>7.2000000000000005E-4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FA-AE4C-A323-190F6719BC4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Арьс, арьсан бүтээгдэхүүн үйлдвэрл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-4.2999999999999999E-4</c:v>
                </c:pt>
                <c:pt idx="1">
                  <c:v>-3.6999999999999999E-4</c:v>
                </c:pt>
                <c:pt idx="2">
                  <c:v>-1.3999999999999999E-4</c:v>
                </c:pt>
                <c:pt idx="3">
                  <c:v>-1.4999999999999999E-4</c:v>
                </c:pt>
                <c:pt idx="4">
                  <c:v>-1.3999999999999999E-4</c:v>
                </c:pt>
                <c:pt idx="5">
                  <c:v>-8.0000000000000007E-5</c:v>
                </c:pt>
                <c:pt idx="6">
                  <c:v>-6.0000000000000002E-5</c:v>
                </c:pt>
                <c:pt idx="7">
                  <c:v>0</c:v>
                </c:pt>
                <c:pt idx="8">
                  <c:v>4.0000000000000003E-5</c:v>
                </c:pt>
                <c:pt idx="9">
                  <c:v>3.0000000000000001E-5</c:v>
                </c:pt>
                <c:pt idx="10">
                  <c:v>-3.0000000000000001E-5</c:v>
                </c:pt>
                <c:pt idx="11">
                  <c:v>5.9999999999999995E-4</c:v>
                </c:pt>
                <c:pt idx="12">
                  <c:v>2.9999999999999997E-4</c:v>
                </c:pt>
                <c:pt idx="13">
                  <c:v>2.4000000000000001E-4</c:v>
                </c:pt>
                <c:pt idx="14">
                  <c:v>1.2999999999999999E-4</c:v>
                </c:pt>
                <c:pt idx="15">
                  <c:v>1E-4</c:v>
                </c:pt>
                <c:pt idx="16">
                  <c:v>8.0000000000000007E-5</c:v>
                </c:pt>
                <c:pt idx="17">
                  <c:v>2.0000000000000001E-4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FA-AE4C-A323-190F6719BC4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Тавилгаас бусад мод болон модон бү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Sheet1!$G$2:$G$19</c:f>
              <c:numCache>
                <c:formatCode>General</c:formatCode>
                <c:ptCount val="18"/>
                <c:pt idx="0">
                  <c:v>-1.1E-4</c:v>
                </c:pt>
                <c:pt idx="1">
                  <c:v>-6.9999999999999994E-5</c:v>
                </c:pt>
                <c:pt idx="2">
                  <c:v>-1.0000000000000001E-5</c:v>
                </c:pt>
                <c:pt idx="3">
                  <c:v>2.0000000000000002E-5</c:v>
                </c:pt>
                <c:pt idx="4">
                  <c:v>6.0000000000000002E-5</c:v>
                </c:pt>
                <c:pt idx="5">
                  <c:v>5.0000000000000002E-5</c:v>
                </c:pt>
                <c:pt idx="6">
                  <c:v>5.0000000000000002E-5</c:v>
                </c:pt>
                <c:pt idx="7">
                  <c:v>8.0000000000000007E-5</c:v>
                </c:pt>
                <c:pt idx="8">
                  <c:v>8.0000000000000007E-5</c:v>
                </c:pt>
                <c:pt idx="9">
                  <c:v>6.9999999999999994E-5</c:v>
                </c:pt>
                <c:pt idx="10">
                  <c:v>6.9999999999999994E-5</c:v>
                </c:pt>
                <c:pt idx="11">
                  <c:v>1.4999999999999999E-4</c:v>
                </c:pt>
                <c:pt idx="12">
                  <c:v>1.1E-4</c:v>
                </c:pt>
                <c:pt idx="13">
                  <c:v>1E-4</c:v>
                </c:pt>
                <c:pt idx="14">
                  <c:v>1.2E-4</c:v>
                </c:pt>
                <c:pt idx="15">
                  <c:v>1E-4</c:v>
                </c:pt>
                <c:pt idx="16">
                  <c:v>4.0000000000000003E-5</c:v>
                </c:pt>
                <c:pt idx="17">
                  <c:v>1.0000000000000001E-5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3FA-AE4C-A323-190F6719BC4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Цаас болон цаасан бүтээгдэхүүн үйл</c:v>
                </c:pt>
              </c:strCache>
            </c:strRef>
          </c:tx>
          <c:spPr>
            <a:solidFill>
              <a:srgbClr val="9E480E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Sheet1!$H$2:$H$19</c:f>
              <c:numCache>
                <c:formatCode>General</c:formatCode>
                <c:ptCount val="18"/>
                <c:pt idx="0">
                  <c:v>2.2000000000000001E-4</c:v>
                </c:pt>
                <c:pt idx="1">
                  <c:v>5.0000000000000002E-5</c:v>
                </c:pt>
                <c:pt idx="2">
                  <c:v>1E-4</c:v>
                </c:pt>
                <c:pt idx="3">
                  <c:v>6.9999999999999994E-5</c:v>
                </c:pt>
                <c:pt idx="4">
                  <c:v>1.2E-4</c:v>
                </c:pt>
                <c:pt idx="5">
                  <c:v>1.2E-4</c:v>
                </c:pt>
                <c:pt idx="6">
                  <c:v>1.1E-4</c:v>
                </c:pt>
                <c:pt idx="7">
                  <c:v>1.8000000000000001E-4</c:v>
                </c:pt>
                <c:pt idx="8">
                  <c:v>2.0000000000000001E-4</c:v>
                </c:pt>
                <c:pt idx="9">
                  <c:v>2.0000000000000001E-4</c:v>
                </c:pt>
                <c:pt idx="10">
                  <c:v>2.1000000000000001E-4</c:v>
                </c:pt>
                <c:pt idx="11">
                  <c:v>2.0000000000000002E-5</c:v>
                </c:pt>
                <c:pt idx="12">
                  <c:v>-2.9999999999999997E-4</c:v>
                </c:pt>
                <c:pt idx="13">
                  <c:v>-1.9000000000000001E-4</c:v>
                </c:pt>
                <c:pt idx="14">
                  <c:v>-6.0000000000000002E-5</c:v>
                </c:pt>
                <c:pt idx="15">
                  <c:v>-2.0000000000000002E-5</c:v>
                </c:pt>
                <c:pt idx="16">
                  <c:v>-1.0000000000000001E-5</c:v>
                </c:pt>
                <c:pt idx="17">
                  <c:v>2.0000000000000002E-5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3FA-AE4C-A323-190F6719BC42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Хэвлэх, дуу бичлэгийг хувилах, дах</c:v>
                </c:pt>
              </c:strCache>
            </c:strRef>
          </c:tx>
          <c:spPr>
            <a:solidFill>
              <a:srgbClr val="636363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Sheet1!$I$2:$I$19</c:f>
              <c:numCache>
                <c:formatCode>General</c:formatCode>
                <c:ptCount val="18"/>
                <c:pt idx="0">
                  <c:v>-2.0000000000000002E-5</c:v>
                </c:pt>
                <c:pt idx="1">
                  <c:v>-5.0000000000000002E-5</c:v>
                </c:pt>
                <c:pt idx="2">
                  <c:v>0</c:v>
                </c:pt>
                <c:pt idx="3">
                  <c:v>-2.1000000000000001E-4</c:v>
                </c:pt>
                <c:pt idx="4">
                  <c:v>-2.7999999999999998E-4</c:v>
                </c:pt>
                <c:pt idx="5">
                  <c:v>-2.7999999999999998E-4</c:v>
                </c:pt>
                <c:pt idx="6">
                  <c:v>-3.6000000000000002E-4</c:v>
                </c:pt>
                <c:pt idx="7">
                  <c:v>-3.5E-4</c:v>
                </c:pt>
                <c:pt idx="8">
                  <c:v>-3.6000000000000002E-4</c:v>
                </c:pt>
                <c:pt idx="9">
                  <c:v>-3.4000000000000002E-4</c:v>
                </c:pt>
                <c:pt idx="10">
                  <c:v>-2.9999999999999997E-4</c:v>
                </c:pt>
                <c:pt idx="11">
                  <c:v>-1.3999999999999999E-4</c:v>
                </c:pt>
                <c:pt idx="12">
                  <c:v>-8.0000000000000007E-5</c:v>
                </c:pt>
                <c:pt idx="13">
                  <c:v>1E-4</c:v>
                </c:pt>
                <c:pt idx="14">
                  <c:v>1.2E-4</c:v>
                </c:pt>
                <c:pt idx="15">
                  <c:v>1.9000000000000001E-4</c:v>
                </c:pt>
                <c:pt idx="16">
                  <c:v>1.7000000000000001E-4</c:v>
                </c:pt>
                <c:pt idx="17">
                  <c:v>1.8000000000000001E-4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3FA-AE4C-A323-190F6719BC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8"/>
          <c:order val="8"/>
          <c:tx>
            <c:strRef>
              <c:f>Sheet1!$J$1</c:f>
              <c:strCache>
                <c:ptCount val="1"/>
                <c:pt idx="0">
                  <c:v>Бүлгийн дүн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7"/>
              <c:layout>
                <c:manualLayout>
                  <c:x val="-2.2768670309655588E-3"/>
                  <c:y val="-3.8888888888888917E-2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79D-5D49-8ED0-FE69412FABEF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Sheet1!$J$2:$J$19</c:f>
              <c:numCache>
                <c:formatCode>General</c:formatCode>
                <c:ptCount val="18"/>
                <c:pt idx="0">
                  <c:v>8.7200000000000003E-3</c:v>
                </c:pt>
                <c:pt idx="1">
                  <c:v>9.8799999999999999E-3</c:v>
                </c:pt>
                <c:pt idx="2">
                  <c:v>9.1400000000000006E-3</c:v>
                </c:pt>
                <c:pt idx="3">
                  <c:v>2.3600000000000001E-3</c:v>
                </c:pt>
                <c:pt idx="4">
                  <c:v>1.91E-3</c:v>
                </c:pt>
                <c:pt idx="5">
                  <c:v>7.3999999999999999E-4</c:v>
                </c:pt>
                <c:pt idx="6">
                  <c:v>3.1800000000000001E-3</c:v>
                </c:pt>
                <c:pt idx="7">
                  <c:v>8.3499999999999998E-3</c:v>
                </c:pt>
                <c:pt idx="8">
                  <c:v>1.1860000000000001E-2</c:v>
                </c:pt>
                <c:pt idx="9">
                  <c:v>1.2670000000000001E-2</c:v>
                </c:pt>
                <c:pt idx="10">
                  <c:v>1.4160000000000001E-2</c:v>
                </c:pt>
                <c:pt idx="11">
                  <c:v>9.6200000000000001E-3</c:v>
                </c:pt>
                <c:pt idx="12">
                  <c:v>1.06E-3</c:v>
                </c:pt>
                <c:pt idx="13">
                  <c:v>3.8000000000000002E-4</c:v>
                </c:pt>
                <c:pt idx="14">
                  <c:v>3.8400000000000001E-3</c:v>
                </c:pt>
                <c:pt idx="15">
                  <c:v>5.3099999999999996E-3</c:v>
                </c:pt>
                <c:pt idx="16">
                  <c:v>6.9899999999999997E-3</c:v>
                </c:pt>
                <c:pt idx="17">
                  <c:v>9.2200000000000008E-3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13FA-AE4C-A323-190F6719BC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.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 dirty="0">
                <a:solidFill>
                  <a:srgbClr val="404040"/>
                </a:solidFill>
              </a:rPr>
              <a:t>Хими, эмийн</a:t>
            </a:r>
            <a:r>
              <a:rPr lang="mn-MN" sz="1300" b="0" baseline="0" dirty="0">
                <a:solidFill>
                  <a:srgbClr val="404040"/>
                </a:solidFill>
              </a:rPr>
              <a:t> болон бусад</a:t>
            </a:r>
            <a:r>
              <a:rPr lang="mn-MN" sz="1300" b="0" dirty="0">
                <a:solidFill>
                  <a:srgbClr val="404040"/>
                </a:solidFill>
              </a:rPr>
              <a:t> материал</a:t>
            </a:r>
            <a:r>
              <a:rPr lang="mn-MN" sz="1300" b="0" baseline="0" dirty="0">
                <a:solidFill>
                  <a:srgbClr val="404040"/>
                </a:solidFill>
              </a:rPr>
              <a:t> үйлдвэрлэл</a:t>
            </a:r>
            <a:endParaRPr lang="mn-MN" sz="1300" b="0" dirty="0">
              <a:solidFill>
                <a:srgbClr val="404040"/>
              </a:solidFill>
            </a:endParaRP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Химийн бодис болон химийн бүтээгдэ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1.82E-3</c:v>
                </c:pt>
                <c:pt idx="1">
                  <c:v>1.7700000000000001E-3</c:v>
                </c:pt>
                <c:pt idx="2">
                  <c:v>1.08E-3</c:v>
                </c:pt>
                <c:pt idx="3">
                  <c:v>8.8000000000000003E-4</c:v>
                </c:pt>
                <c:pt idx="4">
                  <c:v>7.6000000000000004E-4</c:v>
                </c:pt>
                <c:pt idx="5">
                  <c:v>6.6E-4</c:v>
                </c:pt>
                <c:pt idx="6">
                  <c:v>6.7000000000000002E-4</c:v>
                </c:pt>
                <c:pt idx="7">
                  <c:v>9.3000000000000005E-4</c:v>
                </c:pt>
                <c:pt idx="8">
                  <c:v>9.7000000000000005E-4</c:v>
                </c:pt>
                <c:pt idx="9">
                  <c:v>9.6000000000000002E-4</c:v>
                </c:pt>
                <c:pt idx="10">
                  <c:v>1.34E-3</c:v>
                </c:pt>
                <c:pt idx="11">
                  <c:v>8.3499999999999998E-3</c:v>
                </c:pt>
                <c:pt idx="12">
                  <c:v>3.9699999999999996E-3</c:v>
                </c:pt>
                <c:pt idx="13">
                  <c:v>4.9300000000000004E-3</c:v>
                </c:pt>
                <c:pt idx="14">
                  <c:v>5.6299999999999996E-3</c:v>
                </c:pt>
                <c:pt idx="15">
                  <c:v>5.13E-3</c:v>
                </c:pt>
                <c:pt idx="16">
                  <c:v>3.5500000000000002E-3</c:v>
                </c:pt>
                <c:pt idx="17">
                  <c:v>4.0800000000000003E-3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AC-BC4C-9ED3-CBC3C49984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Үндсэн эмийн бүтээгдэхүүн болон эм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1.1E-4</c:v>
                </c:pt>
                <c:pt idx="1">
                  <c:v>9.0000000000000006E-5</c:v>
                </c:pt>
                <c:pt idx="2">
                  <c:v>9.0000000000000006E-5</c:v>
                </c:pt>
                <c:pt idx="3">
                  <c:v>1.7000000000000001E-4</c:v>
                </c:pt>
                <c:pt idx="4">
                  <c:v>2.4000000000000001E-4</c:v>
                </c:pt>
                <c:pt idx="5">
                  <c:v>1.4999999999999999E-4</c:v>
                </c:pt>
                <c:pt idx="6">
                  <c:v>1.1E-4</c:v>
                </c:pt>
                <c:pt idx="7">
                  <c:v>1.4999999999999999E-4</c:v>
                </c:pt>
                <c:pt idx="8">
                  <c:v>1.4999999999999999E-4</c:v>
                </c:pt>
                <c:pt idx="9">
                  <c:v>1.2999999999999999E-4</c:v>
                </c:pt>
                <c:pt idx="10">
                  <c:v>1.9000000000000001E-4</c:v>
                </c:pt>
                <c:pt idx="11">
                  <c:v>1.0300000000000001E-3</c:v>
                </c:pt>
                <c:pt idx="12">
                  <c:v>4.2000000000000002E-4</c:v>
                </c:pt>
                <c:pt idx="13">
                  <c:v>4.8000000000000001E-4</c:v>
                </c:pt>
                <c:pt idx="14">
                  <c:v>6.4000000000000005E-4</c:v>
                </c:pt>
                <c:pt idx="15">
                  <c:v>5.1999999999999995E-4</c:v>
                </c:pt>
                <c:pt idx="16">
                  <c:v>4.8000000000000001E-4</c:v>
                </c:pt>
                <c:pt idx="17">
                  <c:v>5.4000000000000001E-4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AC-BC4C-9ED3-CBC3C49984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Резинэн болон хуванцар бүтээгдэхүү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2.4000000000000001E-4</c:v>
                </c:pt>
                <c:pt idx="1">
                  <c:v>3.1E-4</c:v>
                </c:pt>
                <c:pt idx="2">
                  <c:v>1.9000000000000001E-4</c:v>
                </c:pt>
                <c:pt idx="3">
                  <c:v>1.7000000000000001E-4</c:v>
                </c:pt>
                <c:pt idx="4">
                  <c:v>2.1000000000000001E-4</c:v>
                </c:pt>
                <c:pt idx="5">
                  <c:v>1.3999999999999999E-4</c:v>
                </c:pt>
                <c:pt idx="6">
                  <c:v>1.6000000000000001E-4</c:v>
                </c:pt>
                <c:pt idx="7">
                  <c:v>8.0000000000000007E-5</c:v>
                </c:pt>
                <c:pt idx="8">
                  <c:v>-4.0000000000000003E-5</c:v>
                </c:pt>
                <c:pt idx="9">
                  <c:v>-1.7000000000000001E-4</c:v>
                </c:pt>
                <c:pt idx="10">
                  <c:v>-1.3999999999999999E-4</c:v>
                </c:pt>
                <c:pt idx="11">
                  <c:v>-6.0000000000000002E-5</c:v>
                </c:pt>
                <c:pt idx="12">
                  <c:v>-2.2000000000000001E-4</c:v>
                </c:pt>
                <c:pt idx="13">
                  <c:v>-8.0000000000000007E-5</c:v>
                </c:pt>
                <c:pt idx="14">
                  <c:v>1.2E-4</c:v>
                </c:pt>
                <c:pt idx="15">
                  <c:v>2.9E-4</c:v>
                </c:pt>
                <c:pt idx="16">
                  <c:v>2.4000000000000001E-4</c:v>
                </c:pt>
                <c:pt idx="17">
                  <c:v>2.5999999999999998E-4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AC-BC4C-9ED3-CBC3C499846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Төмөрлөг бус эрдэс бодисоор хийсэн</c:v>
                </c:pt>
              </c:strCache>
            </c:strRef>
          </c:tx>
          <c:spPr>
            <a:solidFill>
              <a:srgbClr val="264478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7.1000000000000002E-4</c:v>
                </c:pt>
                <c:pt idx="1">
                  <c:v>1.3999999999999999E-4</c:v>
                </c:pt>
                <c:pt idx="2">
                  <c:v>1.6000000000000001E-4</c:v>
                </c:pt>
                <c:pt idx="3">
                  <c:v>5.6999999999999998E-4</c:v>
                </c:pt>
                <c:pt idx="4">
                  <c:v>1.24E-3</c:v>
                </c:pt>
                <c:pt idx="5">
                  <c:v>1.8E-3</c:v>
                </c:pt>
                <c:pt idx="6">
                  <c:v>2.16E-3</c:v>
                </c:pt>
                <c:pt idx="7">
                  <c:v>2.3500000000000001E-3</c:v>
                </c:pt>
                <c:pt idx="8">
                  <c:v>2.0300000000000001E-3</c:v>
                </c:pt>
                <c:pt idx="9">
                  <c:v>2.2000000000000001E-3</c:v>
                </c:pt>
                <c:pt idx="10">
                  <c:v>2.0200000000000001E-3</c:v>
                </c:pt>
                <c:pt idx="11">
                  <c:v>-6.9999999999999999E-4</c:v>
                </c:pt>
                <c:pt idx="12">
                  <c:v>-3.4000000000000002E-4</c:v>
                </c:pt>
                <c:pt idx="13">
                  <c:v>9.2000000000000003E-4</c:v>
                </c:pt>
                <c:pt idx="14">
                  <c:v>1.74E-3</c:v>
                </c:pt>
                <c:pt idx="15">
                  <c:v>1.7700000000000001E-3</c:v>
                </c:pt>
                <c:pt idx="16">
                  <c:v>2.15E-3</c:v>
                </c:pt>
                <c:pt idx="17">
                  <c:v>1.8E-3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AC-BC4C-9ED3-CBC3C499846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Металл боловсруулах үйлдвэрлэл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2.7499999999999998E-3</c:v>
                </c:pt>
                <c:pt idx="1">
                  <c:v>0</c:v>
                </c:pt>
                <c:pt idx="2">
                  <c:v>-1.1E-4</c:v>
                </c:pt>
                <c:pt idx="3">
                  <c:v>-3.4000000000000002E-4</c:v>
                </c:pt>
                <c:pt idx="4">
                  <c:v>-1.6000000000000001E-4</c:v>
                </c:pt>
                <c:pt idx="5">
                  <c:v>2.1700000000000001E-3</c:v>
                </c:pt>
                <c:pt idx="6">
                  <c:v>2.0600000000000002E-3</c:v>
                </c:pt>
                <c:pt idx="7">
                  <c:v>1.49E-3</c:v>
                </c:pt>
                <c:pt idx="8">
                  <c:v>1.3600000000000001E-3</c:v>
                </c:pt>
                <c:pt idx="9">
                  <c:v>1.6199999999999999E-3</c:v>
                </c:pt>
                <c:pt idx="10">
                  <c:v>1.5100000000000001E-3</c:v>
                </c:pt>
                <c:pt idx="11">
                  <c:v>-6.0000000000000001E-3</c:v>
                </c:pt>
                <c:pt idx="12">
                  <c:v>-6.0699999999999999E-3</c:v>
                </c:pt>
                <c:pt idx="13">
                  <c:v>-4.8900000000000002E-3</c:v>
                </c:pt>
                <c:pt idx="14">
                  <c:v>-3.9199999999999999E-3</c:v>
                </c:pt>
                <c:pt idx="15">
                  <c:v>-2.3500000000000001E-3</c:v>
                </c:pt>
                <c:pt idx="16">
                  <c:v>-7.1000000000000002E-4</c:v>
                </c:pt>
                <c:pt idx="17">
                  <c:v>-2.4399999999999999E-3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AC-BC4C-9ED3-CBC3C499846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Машин, тоног төхөөрөмжөөс бусад ме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Sheet1!$G$2:$G$19</c:f>
              <c:numCache>
                <c:formatCode>General</c:formatCode>
                <c:ptCount val="18"/>
                <c:pt idx="0">
                  <c:v>3.6999999999999999E-4</c:v>
                </c:pt>
                <c:pt idx="1">
                  <c:v>1.2E-4</c:v>
                </c:pt>
                <c:pt idx="2">
                  <c:v>1.1E-4</c:v>
                </c:pt>
                <c:pt idx="3">
                  <c:v>1.2E-4</c:v>
                </c:pt>
                <c:pt idx="4">
                  <c:v>1.6000000000000001E-4</c:v>
                </c:pt>
                <c:pt idx="5">
                  <c:v>1.3999999999999999E-4</c:v>
                </c:pt>
                <c:pt idx="6">
                  <c:v>6.9999999999999994E-5</c:v>
                </c:pt>
                <c:pt idx="7">
                  <c:v>6.9999999999999994E-5</c:v>
                </c:pt>
                <c:pt idx="8">
                  <c:v>2.0000000000000002E-5</c:v>
                </c:pt>
                <c:pt idx="9">
                  <c:v>0</c:v>
                </c:pt>
                <c:pt idx="10">
                  <c:v>-1.0000000000000001E-5</c:v>
                </c:pt>
                <c:pt idx="11">
                  <c:v>-2.3000000000000001E-4</c:v>
                </c:pt>
                <c:pt idx="12">
                  <c:v>-2.3000000000000001E-4</c:v>
                </c:pt>
                <c:pt idx="13">
                  <c:v>-1.2E-4</c:v>
                </c:pt>
                <c:pt idx="14">
                  <c:v>-2.2000000000000001E-4</c:v>
                </c:pt>
                <c:pt idx="15">
                  <c:v>-2.9999999999999997E-4</c:v>
                </c:pt>
                <c:pt idx="16">
                  <c:v>-3.3E-4</c:v>
                </c:pt>
                <c:pt idx="17">
                  <c:v>-2.9999999999999997E-4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2AC-BC4C-9ED3-CBC3C499846B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Тээврийн хэрэгслийн бусад тоног тө</c:v>
                </c:pt>
              </c:strCache>
            </c:strRef>
          </c:tx>
          <c:spPr>
            <a:solidFill>
              <a:srgbClr val="9E480E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Sheet1!$H$2:$H$19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-1.0000000000000001E-5</c:v>
                </c:pt>
                <c:pt idx="3">
                  <c:v>0</c:v>
                </c:pt>
                <c:pt idx="4">
                  <c:v>-2.0000000000000002E-5</c:v>
                </c:pt>
                <c:pt idx="5">
                  <c:v>-1.0000000000000001E-5</c:v>
                </c:pt>
                <c:pt idx="6">
                  <c:v>-1.0000000000000001E-5</c:v>
                </c:pt>
                <c:pt idx="7">
                  <c:v>-1.0000000000000001E-5</c:v>
                </c:pt>
                <c:pt idx="8">
                  <c:v>-1.0000000000000001E-5</c:v>
                </c:pt>
                <c:pt idx="9">
                  <c:v>-1.0000000000000001E-5</c:v>
                </c:pt>
                <c:pt idx="10">
                  <c:v>-1.0000000000000001E-5</c:v>
                </c:pt>
                <c:pt idx="11">
                  <c:v>-3.0000000000000001E-5</c:v>
                </c:pt>
                <c:pt idx="12">
                  <c:v>1.0000000000000001E-5</c:v>
                </c:pt>
                <c:pt idx="13">
                  <c:v>2.0000000000000002E-5</c:v>
                </c:pt>
                <c:pt idx="14">
                  <c:v>3.0000000000000001E-5</c:v>
                </c:pt>
                <c:pt idx="15">
                  <c:v>3.0000000000000001E-5</c:v>
                </c:pt>
                <c:pt idx="16">
                  <c:v>4.0000000000000003E-5</c:v>
                </c:pt>
                <c:pt idx="17">
                  <c:v>3.0000000000000001E-5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2AC-BC4C-9ED3-CBC3C499846B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Тавилга үйлдвэрлэл</c:v>
                </c:pt>
              </c:strCache>
            </c:strRef>
          </c:tx>
          <c:spPr>
            <a:solidFill>
              <a:srgbClr val="636363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Sheet1!$I$2:$I$19</c:f>
              <c:numCache>
                <c:formatCode>General</c:formatCode>
                <c:ptCount val="18"/>
                <c:pt idx="0">
                  <c:v>1.9000000000000001E-4</c:v>
                </c:pt>
                <c:pt idx="1">
                  <c:v>8.0000000000000007E-5</c:v>
                </c:pt>
                <c:pt idx="2">
                  <c:v>5.0000000000000002E-5</c:v>
                </c:pt>
                <c:pt idx="3">
                  <c:v>5.0000000000000002E-5</c:v>
                </c:pt>
                <c:pt idx="4">
                  <c:v>6.9999999999999994E-5</c:v>
                </c:pt>
                <c:pt idx="5">
                  <c:v>8.0000000000000007E-5</c:v>
                </c:pt>
                <c:pt idx="6">
                  <c:v>6.9999999999999994E-5</c:v>
                </c:pt>
                <c:pt idx="7">
                  <c:v>6.0000000000000002E-5</c:v>
                </c:pt>
                <c:pt idx="8">
                  <c:v>5.0000000000000002E-5</c:v>
                </c:pt>
                <c:pt idx="9">
                  <c:v>2.0000000000000002E-5</c:v>
                </c:pt>
                <c:pt idx="10">
                  <c:v>1.0000000000000001E-5</c:v>
                </c:pt>
                <c:pt idx="11">
                  <c:v>-4.0999999999999999E-4</c:v>
                </c:pt>
                <c:pt idx="12">
                  <c:v>-2.7999999999999998E-4</c:v>
                </c:pt>
                <c:pt idx="13">
                  <c:v>-1.7000000000000001E-4</c:v>
                </c:pt>
                <c:pt idx="14">
                  <c:v>-1.4999999999999999E-4</c:v>
                </c:pt>
                <c:pt idx="15">
                  <c:v>-1.2999999999999999E-4</c:v>
                </c:pt>
                <c:pt idx="16">
                  <c:v>-1.1E-4</c:v>
                </c:pt>
                <c:pt idx="17">
                  <c:v>-4.0000000000000003E-5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AC-BC4C-9ED3-CBC3C499846B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Бусад боловсруулах үйлдвэрлэл</c:v>
                </c:pt>
              </c:strCache>
            </c:strRef>
          </c:tx>
          <c:spPr>
            <a:solidFill>
              <a:srgbClr val="997300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Sheet1!$J$2:$J$19</c:f>
              <c:numCache>
                <c:formatCode>General</c:formatCode>
                <c:ptCount val="18"/>
                <c:pt idx="0">
                  <c:v>3.5200000000000001E-3</c:v>
                </c:pt>
                <c:pt idx="1">
                  <c:v>2.15E-3</c:v>
                </c:pt>
                <c:pt idx="2">
                  <c:v>1.42E-3</c:v>
                </c:pt>
                <c:pt idx="3">
                  <c:v>2.2000000000000001E-3</c:v>
                </c:pt>
                <c:pt idx="4">
                  <c:v>2.0600000000000002E-3</c:v>
                </c:pt>
                <c:pt idx="5">
                  <c:v>1.74E-3</c:v>
                </c:pt>
                <c:pt idx="6">
                  <c:v>1.6199999999999999E-3</c:v>
                </c:pt>
                <c:pt idx="7">
                  <c:v>1.8699999999999999E-3</c:v>
                </c:pt>
                <c:pt idx="8">
                  <c:v>1.8600000000000001E-3</c:v>
                </c:pt>
                <c:pt idx="9">
                  <c:v>1.7600000000000001E-3</c:v>
                </c:pt>
                <c:pt idx="10">
                  <c:v>1.9599999999999999E-3</c:v>
                </c:pt>
                <c:pt idx="11">
                  <c:v>4.6999999999999999E-4</c:v>
                </c:pt>
                <c:pt idx="12">
                  <c:v>-2.5999999999999998E-4</c:v>
                </c:pt>
                <c:pt idx="13">
                  <c:v>1.2899999999999999E-3</c:v>
                </c:pt>
                <c:pt idx="14">
                  <c:v>1.5E-3</c:v>
                </c:pt>
                <c:pt idx="15">
                  <c:v>9.7999999999999997E-4</c:v>
                </c:pt>
                <c:pt idx="16">
                  <c:v>1.4E-3</c:v>
                </c:pt>
                <c:pt idx="17">
                  <c:v>1.5299999999999999E-3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AC-BC4C-9ED3-CBC3C4998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9"/>
          <c:order val="9"/>
          <c:tx>
            <c:strRef>
              <c:f>Sheet1!$K$1</c:f>
              <c:strCache>
                <c:ptCount val="1"/>
                <c:pt idx="0">
                  <c:v>Бүлгийн дүн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7"/>
              <c:layout>
                <c:manualLayout>
                  <c:x val="-4.6296296296297994E-3"/>
                  <c:y val="4.7222222222222221E-2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931-0146-AAF9-EE8DB1208333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2">
                  <c:v>Apr-25</c:v>
                </c:pt>
                <c:pt idx="5">
                  <c:v>Jul-25</c:v>
                </c:pt>
                <c:pt idx="8">
                  <c:v>Oct-25</c:v>
                </c:pt>
                <c:pt idx="11">
                  <c:v>Jan-26</c:v>
                </c:pt>
                <c:pt idx="14">
                  <c:v>Apr-26</c:v>
                </c:pt>
                <c:pt idx="17">
                  <c:v>Jul-26</c:v>
                </c:pt>
              </c:strCache>
            </c:strRef>
          </c:cat>
          <c:val>
            <c:numRef>
              <c:f>Sheet1!$K$2:$K$19</c:f>
              <c:numCache>
                <c:formatCode>General</c:formatCode>
                <c:ptCount val="18"/>
                <c:pt idx="0">
                  <c:v>9.7099999999999999E-3</c:v>
                </c:pt>
                <c:pt idx="1">
                  <c:v>4.6600000000000001E-3</c:v>
                </c:pt>
                <c:pt idx="2">
                  <c:v>2.99E-3</c:v>
                </c:pt>
                <c:pt idx="3">
                  <c:v>3.8300000000000001E-3</c:v>
                </c:pt>
                <c:pt idx="4">
                  <c:v>4.5700000000000003E-3</c:v>
                </c:pt>
                <c:pt idx="5">
                  <c:v>6.8700000000000002E-3</c:v>
                </c:pt>
                <c:pt idx="6">
                  <c:v>6.9100000000000003E-3</c:v>
                </c:pt>
                <c:pt idx="7">
                  <c:v>7.0000000000000001E-3</c:v>
                </c:pt>
                <c:pt idx="8">
                  <c:v>6.3699999999999998E-3</c:v>
                </c:pt>
                <c:pt idx="9">
                  <c:v>6.4999999999999997E-3</c:v>
                </c:pt>
                <c:pt idx="10">
                  <c:v>6.8700000000000002E-3</c:v>
                </c:pt>
                <c:pt idx="11">
                  <c:v>2.4099999999999998E-3</c:v>
                </c:pt>
                <c:pt idx="12">
                  <c:v>-3.0000000000000001E-3</c:v>
                </c:pt>
                <c:pt idx="13">
                  <c:v>2.3900000000000002E-3</c:v>
                </c:pt>
                <c:pt idx="14">
                  <c:v>5.3600000000000002E-3</c:v>
                </c:pt>
                <c:pt idx="15">
                  <c:v>5.94E-3</c:v>
                </c:pt>
                <c:pt idx="16">
                  <c:v>6.7000000000000002E-3</c:v>
                </c:pt>
                <c:pt idx="17">
                  <c:v>5.47E-3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D2AC-BC4C-9ED3-CBC3C4998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.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 dirty="0">
                <a:solidFill>
                  <a:srgbClr val="404040"/>
                </a:solidFill>
              </a:rPr>
              <a:t>Худалдааны салбарын өсөлт, бүсчилсэн хувь нэмэр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Улаанбаатар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0"/>
          <c:cat>
            <c:strRef>
              <c:f>Sheet1!$A$2:$A$31</c:f>
              <c:strCache>
                <c:ptCount val="30"/>
                <c:pt idx="5">
                  <c:v>Jun-24</c:v>
                </c:pt>
                <c:pt idx="11">
                  <c:v>Dec-24</c:v>
                </c:pt>
                <c:pt idx="17">
                  <c:v>Jun-25</c:v>
                </c:pt>
                <c:pt idx="23">
                  <c:v>Dec-25</c:v>
                </c:pt>
                <c:pt idx="29">
                  <c:v>Jun-26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0.20791999999999999</c:v>
                </c:pt>
                <c:pt idx="1">
                  <c:v>0.18490999999999999</c:v>
                </c:pt>
                <c:pt idx="2">
                  <c:v>0.17222000000000001</c:v>
                </c:pt>
                <c:pt idx="3">
                  <c:v>0.18392</c:v>
                </c:pt>
                <c:pt idx="4">
                  <c:v>0.17641000000000001</c:v>
                </c:pt>
                <c:pt idx="5">
                  <c:v>0.14488999999999999</c:v>
                </c:pt>
                <c:pt idx="6">
                  <c:v>0.14437</c:v>
                </c:pt>
                <c:pt idx="7">
                  <c:v>0.12867999999999999</c:v>
                </c:pt>
                <c:pt idx="8">
                  <c:v>0.13646</c:v>
                </c:pt>
                <c:pt idx="9">
                  <c:v>0.13106000000000001</c:v>
                </c:pt>
                <c:pt idx="10">
                  <c:v>0.12236</c:v>
                </c:pt>
                <c:pt idx="11">
                  <c:v>0.1191</c:v>
                </c:pt>
                <c:pt idx="12">
                  <c:v>-9.6799999999999994E-3</c:v>
                </c:pt>
                <c:pt idx="13">
                  <c:v>5.7700000000000001E-2</c:v>
                </c:pt>
                <c:pt idx="14">
                  <c:v>8.8100000000000001E-3</c:v>
                </c:pt>
                <c:pt idx="15">
                  <c:v>-6.0899999999999999E-3</c:v>
                </c:pt>
                <c:pt idx="16">
                  <c:v>-8.77E-3</c:v>
                </c:pt>
                <c:pt idx="17">
                  <c:v>1.1E-4</c:v>
                </c:pt>
                <c:pt idx="18">
                  <c:v>5.8500000000000002E-3</c:v>
                </c:pt>
                <c:pt idx="19">
                  <c:v>1.256E-2</c:v>
                </c:pt>
                <c:pt idx="20">
                  <c:v>1.427E-2</c:v>
                </c:pt>
                <c:pt idx="21">
                  <c:v>1.52E-2</c:v>
                </c:pt>
                <c:pt idx="22">
                  <c:v>1.6420000000000001E-2</c:v>
                </c:pt>
                <c:pt idx="23">
                  <c:v>2.2710000000000001E-2</c:v>
                </c:pt>
                <c:pt idx="24">
                  <c:v>4.0489999999999998E-2</c:v>
                </c:pt>
                <c:pt idx="25">
                  <c:v>1.201E-2</c:v>
                </c:pt>
                <c:pt idx="26">
                  <c:v>5.287E-2</c:v>
                </c:pt>
                <c:pt idx="27">
                  <c:v>8.6349999999999996E-2</c:v>
                </c:pt>
                <c:pt idx="28">
                  <c:v>8.2830000000000001E-2</c:v>
                </c:pt>
                <c:pt idx="29">
                  <c:v>8.5949999999999999E-2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EA-2E4F-B84A-4607E25370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Төвийн бүс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0"/>
          <c:cat>
            <c:strRef>
              <c:f>Sheet1!$A$2:$A$31</c:f>
              <c:strCache>
                <c:ptCount val="30"/>
                <c:pt idx="5">
                  <c:v>Jun-24</c:v>
                </c:pt>
                <c:pt idx="11">
                  <c:v>Dec-24</c:v>
                </c:pt>
                <c:pt idx="17">
                  <c:v>Jun-25</c:v>
                </c:pt>
                <c:pt idx="23">
                  <c:v>Dec-25</c:v>
                </c:pt>
                <c:pt idx="29">
                  <c:v>Jun-26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8.0499999999999999E-3</c:v>
                </c:pt>
                <c:pt idx="1">
                  <c:v>9.1800000000000007E-3</c:v>
                </c:pt>
                <c:pt idx="2">
                  <c:v>9.4800000000000006E-3</c:v>
                </c:pt>
                <c:pt idx="3">
                  <c:v>1.0149999999999999E-2</c:v>
                </c:pt>
                <c:pt idx="4">
                  <c:v>9.6600000000000002E-3</c:v>
                </c:pt>
                <c:pt idx="5">
                  <c:v>9.1199999999999996E-3</c:v>
                </c:pt>
                <c:pt idx="6">
                  <c:v>1.076E-2</c:v>
                </c:pt>
                <c:pt idx="7">
                  <c:v>1.043E-2</c:v>
                </c:pt>
                <c:pt idx="8">
                  <c:v>8.6099999999999996E-3</c:v>
                </c:pt>
                <c:pt idx="9">
                  <c:v>8.7899999999999992E-3</c:v>
                </c:pt>
                <c:pt idx="10">
                  <c:v>8.1899999999999994E-3</c:v>
                </c:pt>
                <c:pt idx="11">
                  <c:v>7.7400000000000004E-3</c:v>
                </c:pt>
                <c:pt idx="12">
                  <c:v>7.5199999999999998E-3</c:v>
                </c:pt>
                <c:pt idx="13">
                  <c:v>8.3899999999999999E-3</c:v>
                </c:pt>
                <c:pt idx="14">
                  <c:v>3.7100000000000002E-3</c:v>
                </c:pt>
                <c:pt idx="15">
                  <c:v>3.47E-3</c:v>
                </c:pt>
                <c:pt idx="16">
                  <c:v>3.0899999999999999E-3</c:v>
                </c:pt>
                <c:pt idx="17">
                  <c:v>3.5300000000000002E-3</c:v>
                </c:pt>
                <c:pt idx="18">
                  <c:v>2.2100000000000002E-3</c:v>
                </c:pt>
                <c:pt idx="19">
                  <c:v>2.3500000000000001E-3</c:v>
                </c:pt>
                <c:pt idx="20">
                  <c:v>3.2200000000000002E-3</c:v>
                </c:pt>
                <c:pt idx="21">
                  <c:v>3.3300000000000001E-3</c:v>
                </c:pt>
                <c:pt idx="22">
                  <c:v>3.62E-3</c:v>
                </c:pt>
                <c:pt idx="23">
                  <c:v>3.31E-3</c:v>
                </c:pt>
                <c:pt idx="24">
                  <c:v>8.1999999999999998E-4</c:v>
                </c:pt>
                <c:pt idx="25">
                  <c:v>-7.7999999999999999E-4</c:v>
                </c:pt>
                <c:pt idx="26">
                  <c:v>3.8E-3</c:v>
                </c:pt>
                <c:pt idx="27">
                  <c:v>5.9800000000000001E-3</c:v>
                </c:pt>
                <c:pt idx="28">
                  <c:v>6.8100000000000001E-3</c:v>
                </c:pt>
                <c:pt idx="29">
                  <c:v>8.7299999999999999E-3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EA-2E4F-B84A-4607E25370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Хангайн бүс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0"/>
          <c:cat>
            <c:strRef>
              <c:f>Sheet1!$A$2:$A$31</c:f>
              <c:strCache>
                <c:ptCount val="30"/>
                <c:pt idx="5">
                  <c:v>Jun-24</c:v>
                </c:pt>
                <c:pt idx="11">
                  <c:v>Dec-24</c:v>
                </c:pt>
                <c:pt idx="17">
                  <c:v>Jun-25</c:v>
                </c:pt>
                <c:pt idx="23">
                  <c:v>Dec-25</c:v>
                </c:pt>
                <c:pt idx="29">
                  <c:v>Jun-26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7.3000000000000001E-3</c:v>
                </c:pt>
                <c:pt idx="1">
                  <c:v>4.5199999999999997E-3</c:v>
                </c:pt>
                <c:pt idx="2">
                  <c:v>1.3799999999999999E-3</c:v>
                </c:pt>
                <c:pt idx="3">
                  <c:v>3.3700000000000002E-3</c:v>
                </c:pt>
                <c:pt idx="4">
                  <c:v>3.49E-3</c:v>
                </c:pt>
                <c:pt idx="5">
                  <c:v>3.49E-3</c:v>
                </c:pt>
                <c:pt idx="6">
                  <c:v>4.6100000000000004E-3</c:v>
                </c:pt>
                <c:pt idx="7">
                  <c:v>4.7600000000000003E-3</c:v>
                </c:pt>
                <c:pt idx="8">
                  <c:v>4.7600000000000003E-3</c:v>
                </c:pt>
                <c:pt idx="9">
                  <c:v>4.4900000000000001E-3</c:v>
                </c:pt>
                <c:pt idx="10">
                  <c:v>4.47E-3</c:v>
                </c:pt>
                <c:pt idx="11">
                  <c:v>4.1799999999999997E-3</c:v>
                </c:pt>
                <c:pt idx="12">
                  <c:v>-2.1000000000000001E-4</c:v>
                </c:pt>
                <c:pt idx="13">
                  <c:v>3.2599999999999999E-3</c:v>
                </c:pt>
                <c:pt idx="14">
                  <c:v>3.0699999999999998E-3</c:v>
                </c:pt>
                <c:pt idx="15">
                  <c:v>3.14E-3</c:v>
                </c:pt>
                <c:pt idx="16">
                  <c:v>3.5100000000000001E-3</c:v>
                </c:pt>
                <c:pt idx="17">
                  <c:v>3.3700000000000002E-3</c:v>
                </c:pt>
                <c:pt idx="18">
                  <c:v>3.79E-3</c:v>
                </c:pt>
                <c:pt idx="19">
                  <c:v>3.6800000000000001E-3</c:v>
                </c:pt>
                <c:pt idx="20">
                  <c:v>3.29E-3</c:v>
                </c:pt>
                <c:pt idx="21">
                  <c:v>3.0999999999999999E-3</c:v>
                </c:pt>
                <c:pt idx="22">
                  <c:v>2.7799999999999999E-3</c:v>
                </c:pt>
                <c:pt idx="23">
                  <c:v>2.31E-3</c:v>
                </c:pt>
                <c:pt idx="24">
                  <c:v>2.49E-3</c:v>
                </c:pt>
                <c:pt idx="25">
                  <c:v>2.98E-3</c:v>
                </c:pt>
                <c:pt idx="26">
                  <c:v>3.5999999999999999E-3</c:v>
                </c:pt>
                <c:pt idx="27">
                  <c:v>3.98E-3</c:v>
                </c:pt>
                <c:pt idx="28">
                  <c:v>4.0200000000000001E-3</c:v>
                </c:pt>
                <c:pt idx="29">
                  <c:v>3.9100000000000003E-3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EA-2E4F-B84A-4607E253700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Баруун бүс</c:v>
                </c:pt>
              </c:strCache>
            </c:strRef>
          </c:tx>
          <c:spPr>
            <a:solidFill>
              <a:srgbClr val="264478"/>
            </a:solidFill>
            <a:ln>
              <a:noFill/>
            </a:ln>
          </c:spPr>
          <c:invertIfNegative val="0"/>
          <c:cat>
            <c:strRef>
              <c:f>Sheet1!$A$2:$A$31</c:f>
              <c:strCache>
                <c:ptCount val="30"/>
                <c:pt idx="5">
                  <c:v>Jun-24</c:v>
                </c:pt>
                <c:pt idx="11">
                  <c:v>Dec-24</c:v>
                </c:pt>
                <c:pt idx="17">
                  <c:v>Jun-25</c:v>
                </c:pt>
                <c:pt idx="23">
                  <c:v>Dec-25</c:v>
                </c:pt>
                <c:pt idx="29">
                  <c:v>Jun-26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4.4900000000000001E-3</c:v>
                </c:pt>
                <c:pt idx="1">
                  <c:v>3.9199999999999999E-3</c:v>
                </c:pt>
                <c:pt idx="2">
                  <c:v>3.2000000000000002E-3</c:v>
                </c:pt>
                <c:pt idx="3">
                  <c:v>3.0000000000000001E-3</c:v>
                </c:pt>
                <c:pt idx="4">
                  <c:v>2.9499999999999999E-3</c:v>
                </c:pt>
                <c:pt idx="5">
                  <c:v>3.2000000000000002E-3</c:v>
                </c:pt>
                <c:pt idx="6">
                  <c:v>3.5300000000000002E-3</c:v>
                </c:pt>
                <c:pt idx="7">
                  <c:v>3.5100000000000001E-3</c:v>
                </c:pt>
                <c:pt idx="8">
                  <c:v>3.4199999999999999E-3</c:v>
                </c:pt>
                <c:pt idx="9">
                  <c:v>3.3400000000000001E-3</c:v>
                </c:pt>
                <c:pt idx="10">
                  <c:v>3.0000000000000001E-3</c:v>
                </c:pt>
                <c:pt idx="11">
                  <c:v>3.0000000000000001E-3</c:v>
                </c:pt>
                <c:pt idx="12">
                  <c:v>-1.4999999999999999E-4</c:v>
                </c:pt>
                <c:pt idx="13">
                  <c:v>1.0399999999999999E-3</c:v>
                </c:pt>
                <c:pt idx="14">
                  <c:v>8.0999999999999996E-4</c:v>
                </c:pt>
                <c:pt idx="15">
                  <c:v>4.0999999999999999E-4</c:v>
                </c:pt>
                <c:pt idx="16">
                  <c:v>3.6999999999999999E-4</c:v>
                </c:pt>
                <c:pt idx="17">
                  <c:v>1.3999999999999999E-4</c:v>
                </c:pt>
                <c:pt idx="18">
                  <c:v>5.4000000000000001E-4</c:v>
                </c:pt>
                <c:pt idx="19">
                  <c:v>4.0000000000000002E-4</c:v>
                </c:pt>
                <c:pt idx="20">
                  <c:v>4.8999999999999998E-4</c:v>
                </c:pt>
                <c:pt idx="21">
                  <c:v>5.5999999999999995E-4</c:v>
                </c:pt>
                <c:pt idx="22">
                  <c:v>5.9000000000000003E-4</c:v>
                </c:pt>
                <c:pt idx="23">
                  <c:v>3.6000000000000002E-4</c:v>
                </c:pt>
                <c:pt idx="24">
                  <c:v>9.0000000000000006E-5</c:v>
                </c:pt>
                <c:pt idx="25">
                  <c:v>2.3000000000000001E-4</c:v>
                </c:pt>
                <c:pt idx="26">
                  <c:v>8.0999999999999996E-4</c:v>
                </c:pt>
                <c:pt idx="27">
                  <c:v>9.3000000000000005E-4</c:v>
                </c:pt>
                <c:pt idx="28">
                  <c:v>8.8000000000000003E-4</c:v>
                </c:pt>
                <c:pt idx="29">
                  <c:v>1.2099999999999999E-3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EA-2E4F-B84A-4607E253700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Зүүн бүс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0"/>
          <c:cat>
            <c:strRef>
              <c:f>Sheet1!$A$2:$A$31</c:f>
              <c:strCache>
                <c:ptCount val="30"/>
                <c:pt idx="5">
                  <c:v>Jun-24</c:v>
                </c:pt>
                <c:pt idx="11">
                  <c:v>Dec-24</c:v>
                </c:pt>
                <c:pt idx="17">
                  <c:v>Jun-25</c:v>
                </c:pt>
                <c:pt idx="23">
                  <c:v>Dec-25</c:v>
                </c:pt>
                <c:pt idx="29">
                  <c:v>Jun-26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5.5300000000000002E-3</c:v>
                </c:pt>
                <c:pt idx="1">
                  <c:v>2.9399999999999999E-3</c:v>
                </c:pt>
                <c:pt idx="2">
                  <c:v>2.3700000000000001E-3</c:v>
                </c:pt>
                <c:pt idx="3">
                  <c:v>2.3E-3</c:v>
                </c:pt>
                <c:pt idx="4">
                  <c:v>2.6800000000000001E-3</c:v>
                </c:pt>
                <c:pt idx="5">
                  <c:v>2.64E-3</c:v>
                </c:pt>
                <c:pt idx="6">
                  <c:v>2.32E-3</c:v>
                </c:pt>
                <c:pt idx="7">
                  <c:v>2.49E-3</c:v>
                </c:pt>
                <c:pt idx="8">
                  <c:v>2.0699999999999998E-3</c:v>
                </c:pt>
                <c:pt idx="9">
                  <c:v>1.7099999999999999E-3</c:v>
                </c:pt>
                <c:pt idx="10">
                  <c:v>1.4300000000000001E-3</c:v>
                </c:pt>
                <c:pt idx="11">
                  <c:v>1.42E-3</c:v>
                </c:pt>
                <c:pt idx="12">
                  <c:v>-2.15E-3</c:v>
                </c:pt>
                <c:pt idx="13">
                  <c:v>-1.6000000000000001E-4</c:v>
                </c:pt>
                <c:pt idx="14">
                  <c:v>-1.7000000000000001E-4</c:v>
                </c:pt>
                <c:pt idx="15">
                  <c:v>-1.0000000000000001E-5</c:v>
                </c:pt>
                <c:pt idx="16">
                  <c:v>-5.1999999999999995E-4</c:v>
                </c:pt>
                <c:pt idx="17">
                  <c:v>-8.7000000000000001E-4</c:v>
                </c:pt>
                <c:pt idx="18">
                  <c:v>-2.1000000000000001E-4</c:v>
                </c:pt>
                <c:pt idx="19">
                  <c:v>-5.2999999999999998E-4</c:v>
                </c:pt>
                <c:pt idx="20">
                  <c:v>-6.9999999999999994E-5</c:v>
                </c:pt>
                <c:pt idx="21">
                  <c:v>1.8000000000000001E-4</c:v>
                </c:pt>
                <c:pt idx="22">
                  <c:v>3.8999999999999999E-4</c:v>
                </c:pt>
                <c:pt idx="23">
                  <c:v>5.2999999999999998E-4</c:v>
                </c:pt>
                <c:pt idx="24">
                  <c:v>1.07E-3</c:v>
                </c:pt>
                <c:pt idx="25">
                  <c:v>1.2999999999999999E-4</c:v>
                </c:pt>
                <c:pt idx="26">
                  <c:v>7.6000000000000004E-4</c:v>
                </c:pt>
                <c:pt idx="27">
                  <c:v>7.6999999999999996E-4</c:v>
                </c:pt>
                <c:pt idx="28">
                  <c:v>6.6E-4</c:v>
                </c:pt>
                <c:pt idx="29">
                  <c:v>8.8000000000000003E-4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EA-2E4F-B84A-4607E2537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Нийт өсөлт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29"/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627-3546-9C4F-E37A363FD7ED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Sheet1!$A$2:$A$31</c:f>
              <c:strCache>
                <c:ptCount val="30"/>
                <c:pt idx="5">
                  <c:v>Jun-24</c:v>
                </c:pt>
                <c:pt idx="11">
                  <c:v>Dec-24</c:v>
                </c:pt>
                <c:pt idx="17">
                  <c:v>Jun-25</c:v>
                </c:pt>
                <c:pt idx="23">
                  <c:v>Dec-25</c:v>
                </c:pt>
                <c:pt idx="29">
                  <c:v>Jun-26</c:v>
                </c:pt>
              </c:strCache>
            </c:strRef>
          </c:cat>
          <c:val>
            <c:numRef>
              <c:f>Sheet1!$G$2:$G$31</c:f>
              <c:numCache>
                <c:formatCode>General</c:formatCode>
                <c:ptCount val="30"/>
                <c:pt idx="0">
                  <c:v>0.23330000000000001</c:v>
                </c:pt>
                <c:pt idx="1">
                  <c:v>0.20547000000000001</c:v>
                </c:pt>
                <c:pt idx="2">
                  <c:v>0.18865000000000001</c:v>
                </c:pt>
                <c:pt idx="3">
                  <c:v>0.20274</c:v>
                </c:pt>
                <c:pt idx="4">
                  <c:v>0.19519</c:v>
                </c:pt>
                <c:pt idx="5">
                  <c:v>0.16334000000000001</c:v>
                </c:pt>
                <c:pt idx="6">
                  <c:v>0.16558</c:v>
                </c:pt>
                <c:pt idx="7">
                  <c:v>0.14987</c:v>
                </c:pt>
                <c:pt idx="8">
                  <c:v>0.15532000000000001</c:v>
                </c:pt>
                <c:pt idx="9">
                  <c:v>0.14940000000000001</c:v>
                </c:pt>
                <c:pt idx="10">
                  <c:v>0.13944999999999999</c:v>
                </c:pt>
                <c:pt idx="11">
                  <c:v>0.13544</c:v>
                </c:pt>
                <c:pt idx="12">
                  <c:v>-4.6699999999999997E-3</c:v>
                </c:pt>
                <c:pt idx="13">
                  <c:v>7.0239999999999997E-2</c:v>
                </c:pt>
                <c:pt idx="14">
                  <c:v>1.6240000000000001E-2</c:v>
                </c:pt>
                <c:pt idx="15">
                  <c:v>9.1E-4</c:v>
                </c:pt>
                <c:pt idx="16">
                  <c:v>-2.32E-3</c:v>
                </c:pt>
                <c:pt idx="17">
                  <c:v>6.28E-3</c:v>
                </c:pt>
                <c:pt idx="18">
                  <c:v>1.2189999999999999E-2</c:v>
                </c:pt>
                <c:pt idx="19">
                  <c:v>1.8450000000000001E-2</c:v>
                </c:pt>
                <c:pt idx="20">
                  <c:v>2.12E-2</c:v>
                </c:pt>
                <c:pt idx="21">
                  <c:v>2.2370000000000001E-2</c:v>
                </c:pt>
                <c:pt idx="22">
                  <c:v>2.3810000000000001E-2</c:v>
                </c:pt>
                <c:pt idx="23">
                  <c:v>2.9219999999999999E-2</c:v>
                </c:pt>
                <c:pt idx="24">
                  <c:v>4.496E-2</c:v>
                </c:pt>
                <c:pt idx="25">
                  <c:v>1.457E-2</c:v>
                </c:pt>
                <c:pt idx="26">
                  <c:v>6.1839999999999999E-2</c:v>
                </c:pt>
                <c:pt idx="27">
                  <c:v>9.8000000000000004E-2</c:v>
                </c:pt>
                <c:pt idx="28">
                  <c:v>9.5189999999999997E-2</c:v>
                </c:pt>
                <c:pt idx="29">
                  <c:v>0.10068000000000001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82EA-2E4F-B84A-4607E2537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>
                <a:solidFill>
                  <a:srgbClr val="404040"/>
                </a:solidFill>
              </a:rPr>
              <a:t>Зочид буудлын салбарын орлого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Тухайн үе (сая ₮)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Mar-25</c:v>
                </c:pt>
                <c:pt idx="5">
                  <c:v>Jun-25</c:v>
                </c:pt>
                <c:pt idx="8">
                  <c:v>Sep-25</c:v>
                </c:pt>
                <c:pt idx="11">
                  <c:v>Dec-25</c:v>
                </c:pt>
                <c:pt idx="14">
                  <c:v>Mar-26</c:v>
                </c:pt>
                <c:pt idx="17">
                  <c:v>Jun-26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15871</c:v>
                </c:pt>
                <c:pt idx="1">
                  <c:v>16105.3</c:v>
                </c:pt>
                <c:pt idx="2">
                  <c:v>18977.7</c:v>
                </c:pt>
                <c:pt idx="3">
                  <c:v>21314.3</c:v>
                </c:pt>
                <c:pt idx="4">
                  <c:v>24384.9</c:v>
                </c:pt>
                <c:pt idx="5">
                  <c:v>40794.300000000003</c:v>
                </c:pt>
                <c:pt idx="6">
                  <c:v>45120.6</c:v>
                </c:pt>
                <c:pt idx="7">
                  <c:v>44141.3</c:v>
                </c:pt>
                <c:pt idx="8">
                  <c:v>39897.199999999997</c:v>
                </c:pt>
                <c:pt idx="9">
                  <c:v>31432.400000000001</c:v>
                </c:pt>
                <c:pt idx="10">
                  <c:v>24401</c:v>
                </c:pt>
                <c:pt idx="11">
                  <c:v>29765.4</c:v>
                </c:pt>
                <c:pt idx="12">
                  <c:v>17014.400000000001</c:v>
                </c:pt>
                <c:pt idx="13">
                  <c:v>15953.2</c:v>
                </c:pt>
                <c:pt idx="14">
                  <c:v>21728.799999999999</c:v>
                </c:pt>
                <c:pt idx="15">
                  <c:v>25018</c:v>
                </c:pt>
                <c:pt idx="16">
                  <c:v>28247.4</c:v>
                </c:pt>
                <c:pt idx="17">
                  <c:v>46364.2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5C-774B-A4A4-C636C1DF4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Жилийн өсөлт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7"/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AE8-DB49-8CFE-AD14EEBC3994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2">
                  <c:v>Mar-25</c:v>
                </c:pt>
                <c:pt idx="5">
                  <c:v>Jun-25</c:v>
                </c:pt>
                <c:pt idx="8">
                  <c:v>Sep-25</c:v>
                </c:pt>
                <c:pt idx="11">
                  <c:v>Dec-25</c:v>
                </c:pt>
                <c:pt idx="14">
                  <c:v>Mar-26</c:v>
                </c:pt>
                <c:pt idx="17">
                  <c:v>Jun-26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2.0910000000000002E-2</c:v>
                </c:pt>
                <c:pt idx="1">
                  <c:v>0.1244</c:v>
                </c:pt>
                <c:pt idx="2">
                  <c:v>9.6850000000000006E-2</c:v>
                </c:pt>
                <c:pt idx="3">
                  <c:v>8.3830000000000002E-2</c:v>
                </c:pt>
                <c:pt idx="4">
                  <c:v>7.2969999999999993E-2</c:v>
                </c:pt>
                <c:pt idx="5">
                  <c:v>0.14413999999999999</c:v>
                </c:pt>
                <c:pt idx="6">
                  <c:v>0.19345000000000001</c:v>
                </c:pt>
                <c:pt idx="7">
                  <c:v>0.20025000000000001</c:v>
                </c:pt>
                <c:pt idx="8">
                  <c:v>0.20935000000000001</c:v>
                </c:pt>
                <c:pt idx="9">
                  <c:v>0.20508000000000001</c:v>
                </c:pt>
                <c:pt idx="10">
                  <c:v>0.19678000000000001</c:v>
                </c:pt>
                <c:pt idx="11">
                  <c:v>0.16550000000000001</c:v>
                </c:pt>
                <c:pt idx="12">
                  <c:v>7.2040000000000007E-2</c:v>
                </c:pt>
                <c:pt idx="13">
                  <c:v>3.1E-2</c:v>
                </c:pt>
                <c:pt idx="14">
                  <c:v>7.3450000000000001E-2</c:v>
                </c:pt>
                <c:pt idx="15">
                  <c:v>0.10304000000000001</c:v>
                </c:pt>
                <c:pt idx="16">
                  <c:v>0.11700000000000001</c:v>
                </c:pt>
                <c:pt idx="17">
                  <c:v>0.12280000000000001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95C-774B-A4A4-C636C1DF4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1111111"/>
        <c:axId val="92222222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  <c:valAx>
        <c:axId val="92222222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911111111"/>
        <c:crosses val="max"/>
        <c:crossBetween val="between"/>
      </c:valAx>
      <c:catAx>
        <c:axId val="9111111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crossAx val="922222222"/>
        <c:crosses val="autoZero"/>
        <c:auto val="1"/>
        <c:lblAlgn val="ctr"/>
        <c:lblOffset val="100"/>
        <c:tickLblSkip val="1"/>
        <c:tickMarkSkip val="1"/>
        <c:noMultiLvlLbl val="1"/>
      </c:cat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>
                <a:solidFill>
                  <a:srgbClr val="404040"/>
                </a:solidFill>
              </a:rPr>
              <a:t>Нийтийн хоолны салбарын орлого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Тухайн үе (сая ₮)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</c:spPr>
          <c:invertIfNegative val="0"/>
          <c:cat>
            <c:strRef>
              <c:f>Sheet1!$A$2:$A$19</c:f>
              <c:strCache>
                <c:ptCount val="18"/>
                <c:pt idx="2">
                  <c:v>Mar-25</c:v>
                </c:pt>
                <c:pt idx="5">
                  <c:v>Jun-25</c:v>
                </c:pt>
                <c:pt idx="8">
                  <c:v>Sep-25</c:v>
                </c:pt>
                <c:pt idx="11">
                  <c:v>Dec-25</c:v>
                </c:pt>
                <c:pt idx="14">
                  <c:v>Mar-26</c:v>
                </c:pt>
                <c:pt idx="17">
                  <c:v>Jun-26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141423.4</c:v>
                </c:pt>
                <c:pt idx="1">
                  <c:v>137725.5</c:v>
                </c:pt>
                <c:pt idx="2">
                  <c:v>159955.70000000001</c:v>
                </c:pt>
                <c:pt idx="3">
                  <c:v>169523.3</c:v>
                </c:pt>
                <c:pt idx="4">
                  <c:v>181880.8</c:v>
                </c:pt>
                <c:pt idx="5">
                  <c:v>192026.5</c:v>
                </c:pt>
                <c:pt idx="6">
                  <c:v>178302</c:v>
                </c:pt>
                <c:pt idx="7">
                  <c:v>206537.3</c:v>
                </c:pt>
                <c:pt idx="8">
                  <c:v>190176.7</c:v>
                </c:pt>
                <c:pt idx="9">
                  <c:v>197538.4</c:v>
                </c:pt>
                <c:pt idx="10">
                  <c:v>170946.5</c:v>
                </c:pt>
                <c:pt idx="11">
                  <c:v>238724.6</c:v>
                </c:pt>
                <c:pt idx="12">
                  <c:v>152121</c:v>
                </c:pt>
                <c:pt idx="13">
                  <c:v>138497.60000000001</c:v>
                </c:pt>
                <c:pt idx="14">
                  <c:v>185104.1</c:v>
                </c:pt>
                <c:pt idx="15">
                  <c:v>180142.7</c:v>
                </c:pt>
                <c:pt idx="16">
                  <c:v>202049</c:v>
                </c:pt>
                <c:pt idx="17">
                  <c:v>214595.7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B2-EB44-8A46-5BB56ABF4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Жилийн өсөлт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7"/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26-E944-A72E-0F48AC04864A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2">
                  <c:v>Mar-25</c:v>
                </c:pt>
                <c:pt idx="5">
                  <c:v>Jun-25</c:v>
                </c:pt>
                <c:pt idx="8">
                  <c:v>Sep-25</c:v>
                </c:pt>
                <c:pt idx="11">
                  <c:v>Dec-25</c:v>
                </c:pt>
                <c:pt idx="14">
                  <c:v>Mar-26</c:v>
                </c:pt>
                <c:pt idx="17">
                  <c:v>Jun-26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0.15659999999999999</c:v>
                </c:pt>
                <c:pt idx="1">
                  <c:v>0.17892</c:v>
                </c:pt>
                <c:pt idx="2">
                  <c:v>0.13880999999999999</c:v>
                </c:pt>
                <c:pt idx="3">
                  <c:v>0.11623</c:v>
                </c:pt>
                <c:pt idx="4">
                  <c:v>0.10584</c:v>
                </c:pt>
                <c:pt idx="5">
                  <c:v>0.10580000000000001</c:v>
                </c:pt>
                <c:pt idx="6">
                  <c:v>0.10414</c:v>
                </c:pt>
                <c:pt idx="7">
                  <c:v>0.10953</c:v>
                </c:pt>
                <c:pt idx="8">
                  <c:v>0.10935</c:v>
                </c:pt>
                <c:pt idx="9">
                  <c:v>0.1172</c:v>
                </c:pt>
                <c:pt idx="10">
                  <c:v>0.11139</c:v>
                </c:pt>
                <c:pt idx="11">
                  <c:v>0.11636000000000001</c:v>
                </c:pt>
                <c:pt idx="12">
                  <c:v>7.5639999999999999E-2</c:v>
                </c:pt>
                <c:pt idx="13">
                  <c:v>4.1090000000000002E-2</c:v>
                </c:pt>
                <c:pt idx="14">
                  <c:v>8.3390000000000006E-2</c:v>
                </c:pt>
                <c:pt idx="15">
                  <c:v>7.7609999999999998E-2</c:v>
                </c:pt>
                <c:pt idx="16">
                  <c:v>8.5269999999999999E-2</c:v>
                </c:pt>
                <c:pt idx="17">
                  <c:v>9.1569999999999999E-2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AB2-EB44-8A46-5BB56ABF4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1111111"/>
        <c:axId val="92222222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  <c:valAx>
        <c:axId val="92222222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911111111"/>
        <c:crosses val="max"/>
        <c:crossBetween val="between"/>
      </c:valAx>
      <c:catAx>
        <c:axId val="9111111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crossAx val="922222222"/>
        <c:crosses val="autoZero"/>
        <c:auto val="1"/>
        <c:lblAlgn val="ctr"/>
        <c:lblOffset val="100"/>
        <c:tickLblSkip val="1"/>
        <c:tickMarkSkip val="1"/>
        <c:noMultiLvlLbl val="1"/>
      </c:cat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/>
              <a:t>Барилга угсралт, их засвар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Орон сууцны барилга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0"/>
          <c:cat>
            <c:strRef>
              <c:f>Sheet1!$A$2:$A$18</c:f>
              <c:strCache>
                <c:ptCount val="17"/>
                <c:pt idx="0">
                  <c:v>2022-II</c:v>
                </c:pt>
                <c:pt idx="2">
                  <c:v>2022-IV</c:v>
                </c:pt>
                <c:pt idx="4">
                  <c:v>2023-II</c:v>
                </c:pt>
                <c:pt idx="6">
                  <c:v>2023-IV</c:v>
                </c:pt>
                <c:pt idx="8">
                  <c:v>2024-II</c:v>
                </c:pt>
                <c:pt idx="10">
                  <c:v>2024-IV</c:v>
                </c:pt>
                <c:pt idx="12">
                  <c:v>2025-II</c:v>
                </c:pt>
                <c:pt idx="14">
                  <c:v>2025-IV</c:v>
                </c:pt>
                <c:pt idx="16">
                  <c:v>2026-II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0.16481000000000001</c:v>
                </c:pt>
                <c:pt idx="1">
                  <c:v>0.13585</c:v>
                </c:pt>
                <c:pt idx="2">
                  <c:v>0.15468999999999999</c:v>
                </c:pt>
                <c:pt idx="3">
                  <c:v>0.25387999999999999</c:v>
                </c:pt>
                <c:pt idx="4">
                  <c:v>0.11387</c:v>
                </c:pt>
                <c:pt idx="5">
                  <c:v>0.10254000000000001</c:v>
                </c:pt>
                <c:pt idx="6">
                  <c:v>8.7709999999999996E-2</c:v>
                </c:pt>
                <c:pt idx="7">
                  <c:v>4.8739999999999999E-2</c:v>
                </c:pt>
                <c:pt idx="8">
                  <c:v>3.0810000000000001E-2</c:v>
                </c:pt>
                <c:pt idx="9">
                  <c:v>2.828E-2</c:v>
                </c:pt>
                <c:pt idx="10">
                  <c:v>2.0219999999999998E-2</c:v>
                </c:pt>
                <c:pt idx="11">
                  <c:v>7.5829999999999995E-2</c:v>
                </c:pt>
                <c:pt idx="12">
                  <c:v>0.1125</c:v>
                </c:pt>
                <c:pt idx="13">
                  <c:v>0.10397000000000001</c:v>
                </c:pt>
                <c:pt idx="14">
                  <c:v>0.12714</c:v>
                </c:pt>
                <c:pt idx="15">
                  <c:v>0.29349999999999998</c:v>
                </c:pt>
                <c:pt idx="16">
                  <c:v>2.2589999999999999E-2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87-9C4F-A97A-842848102D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Их засварын ажил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0"/>
          <c:cat>
            <c:strRef>
              <c:f>Sheet1!$A$2:$A$18</c:f>
              <c:strCache>
                <c:ptCount val="17"/>
                <c:pt idx="0">
                  <c:v>2022-II</c:v>
                </c:pt>
                <c:pt idx="2">
                  <c:v>2022-IV</c:v>
                </c:pt>
                <c:pt idx="4">
                  <c:v>2023-II</c:v>
                </c:pt>
                <c:pt idx="6">
                  <c:v>2023-IV</c:v>
                </c:pt>
                <c:pt idx="8">
                  <c:v>2024-II</c:v>
                </c:pt>
                <c:pt idx="10">
                  <c:v>2024-IV</c:v>
                </c:pt>
                <c:pt idx="12">
                  <c:v>2025-II</c:v>
                </c:pt>
                <c:pt idx="14">
                  <c:v>2025-IV</c:v>
                </c:pt>
                <c:pt idx="16">
                  <c:v>2026-II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1.1169999999999999E-2</c:v>
                </c:pt>
                <c:pt idx="1">
                  <c:v>1.5640000000000001E-2</c:v>
                </c:pt>
                <c:pt idx="2">
                  <c:v>1.392E-2</c:v>
                </c:pt>
                <c:pt idx="3">
                  <c:v>3.0999999999999999E-3</c:v>
                </c:pt>
                <c:pt idx="4">
                  <c:v>1.1650000000000001E-2</c:v>
                </c:pt>
                <c:pt idx="5">
                  <c:v>1.4880000000000001E-2</c:v>
                </c:pt>
                <c:pt idx="6">
                  <c:v>1.363E-2</c:v>
                </c:pt>
                <c:pt idx="7">
                  <c:v>7.5000000000000002E-4</c:v>
                </c:pt>
                <c:pt idx="8">
                  <c:v>-2.0600000000000002E-3</c:v>
                </c:pt>
                <c:pt idx="9">
                  <c:v>-2.48E-3</c:v>
                </c:pt>
                <c:pt idx="10">
                  <c:v>4.3E-3</c:v>
                </c:pt>
                <c:pt idx="11">
                  <c:v>1.1900000000000001E-2</c:v>
                </c:pt>
                <c:pt idx="12">
                  <c:v>3.6839999999999998E-2</c:v>
                </c:pt>
                <c:pt idx="13">
                  <c:v>3.288E-2</c:v>
                </c:pt>
                <c:pt idx="14">
                  <c:v>3.0099999999999998E-2</c:v>
                </c:pt>
                <c:pt idx="15">
                  <c:v>1.5599999999999999E-2</c:v>
                </c:pt>
                <c:pt idx="16">
                  <c:v>3.2599999999999999E-3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87-9C4F-A97A-842848102D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Инженерийн барилга, байгууламж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0"/>
          <c:cat>
            <c:strRef>
              <c:f>Sheet1!$A$2:$A$18</c:f>
              <c:strCache>
                <c:ptCount val="17"/>
                <c:pt idx="0">
                  <c:v>2022-II</c:v>
                </c:pt>
                <c:pt idx="2">
                  <c:v>2022-IV</c:v>
                </c:pt>
                <c:pt idx="4">
                  <c:v>2023-II</c:v>
                </c:pt>
                <c:pt idx="6">
                  <c:v>2023-IV</c:v>
                </c:pt>
                <c:pt idx="8">
                  <c:v>2024-II</c:v>
                </c:pt>
                <c:pt idx="10">
                  <c:v>2024-IV</c:v>
                </c:pt>
                <c:pt idx="12">
                  <c:v>2025-II</c:v>
                </c:pt>
                <c:pt idx="14">
                  <c:v>2025-IV</c:v>
                </c:pt>
                <c:pt idx="16">
                  <c:v>2026-II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0.1147</c:v>
                </c:pt>
                <c:pt idx="1">
                  <c:v>8.6230000000000001E-2</c:v>
                </c:pt>
                <c:pt idx="2">
                  <c:v>0.10388</c:v>
                </c:pt>
                <c:pt idx="3">
                  <c:v>-0.15265999999999999</c:v>
                </c:pt>
                <c:pt idx="4">
                  <c:v>-6.8419999999999995E-2</c:v>
                </c:pt>
                <c:pt idx="5">
                  <c:v>-2.0809999999999999E-2</c:v>
                </c:pt>
                <c:pt idx="6">
                  <c:v>-3.2199999999999999E-2</c:v>
                </c:pt>
                <c:pt idx="7">
                  <c:v>0.16528999999999999</c:v>
                </c:pt>
                <c:pt idx="8">
                  <c:v>0.1817</c:v>
                </c:pt>
                <c:pt idx="9">
                  <c:v>8.2739999999999994E-2</c:v>
                </c:pt>
                <c:pt idx="10">
                  <c:v>9.5860000000000001E-2</c:v>
                </c:pt>
                <c:pt idx="11">
                  <c:v>-5.262E-2</c:v>
                </c:pt>
                <c:pt idx="12">
                  <c:v>6.6280000000000006E-2</c:v>
                </c:pt>
                <c:pt idx="13">
                  <c:v>0.11827</c:v>
                </c:pt>
                <c:pt idx="14">
                  <c:v>8.5519999999999999E-2</c:v>
                </c:pt>
                <c:pt idx="15">
                  <c:v>4.8099999999999997E-2</c:v>
                </c:pt>
                <c:pt idx="16">
                  <c:v>7.3999999999999999E-4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87-9C4F-A97A-842848102DD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Орон сууцны бус барилга</c:v>
                </c:pt>
              </c:strCache>
            </c:strRef>
          </c:tx>
          <c:spPr>
            <a:solidFill>
              <a:srgbClr val="264478"/>
            </a:solidFill>
            <a:ln>
              <a:noFill/>
            </a:ln>
          </c:spPr>
          <c:invertIfNegative val="0"/>
          <c:cat>
            <c:strRef>
              <c:f>Sheet1!$A$2:$A$18</c:f>
              <c:strCache>
                <c:ptCount val="17"/>
                <c:pt idx="0">
                  <c:v>2022-II</c:v>
                </c:pt>
                <c:pt idx="2">
                  <c:v>2022-IV</c:v>
                </c:pt>
                <c:pt idx="4">
                  <c:v>2023-II</c:v>
                </c:pt>
                <c:pt idx="6">
                  <c:v>2023-IV</c:v>
                </c:pt>
                <c:pt idx="8">
                  <c:v>2024-II</c:v>
                </c:pt>
                <c:pt idx="10">
                  <c:v>2024-IV</c:v>
                </c:pt>
                <c:pt idx="12">
                  <c:v>2025-II</c:v>
                </c:pt>
                <c:pt idx="14">
                  <c:v>2025-IV</c:v>
                </c:pt>
                <c:pt idx="16">
                  <c:v>2026-II</c:v>
                </c:pt>
              </c:strCache>
            </c: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2.2970000000000001E-2</c:v>
                </c:pt>
                <c:pt idx="1">
                  <c:v>3.032E-2</c:v>
                </c:pt>
                <c:pt idx="2">
                  <c:v>5.5899999999999998E-2</c:v>
                </c:pt>
                <c:pt idx="3">
                  <c:v>0.18953</c:v>
                </c:pt>
                <c:pt idx="4">
                  <c:v>0.14781</c:v>
                </c:pt>
                <c:pt idx="5">
                  <c:v>0.11901</c:v>
                </c:pt>
                <c:pt idx="6">
                  <c:v>0.11126</c:v>
                </c:pt>
                <c:pt idx="7">
                  <c:v>0.11501</c:v>
                </c:pt>
                <c:pt idx="8">
                  <c:v>3.0339999999999999E-2</c:v>
                </c:pt>
                <c:pt idx="9">
                  <c:v>2.2179999999999998E-2</c:v>
                </c:pt>
                <c:pt idx="10">
                  <c:v>2.647E-2</c:v>
                </c:pt>
                <c:pt idx="11">
                  <c:v>-1.2749999999999999E-2</c:v>
                </c:pt>
                <c:pt idx="12">
                  <c:v>7.9119999999999996E-2</c:v>
                </c:pt>
                <c:pt idx="13">
                  <c:v>5.3310000000000003E-2</c:v>
                </c:pt>
                <c:pt idx="14">
                  <c:v>3.6900000000000002E-2</c:v>
                </c:pt>
                <c:pt idx="15">
                  <c:v>-7.3319999999999996E-2</c:v>
                </c:pt>
                <c:pt idx="16">
                  <c:v>-0.10922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87-9C4F-A97A-842848102DD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Тодруулагдаагүй үлдэгдэл</c:v>
                </c:pt>
              </c:strCache>
            </c:strRef>
          </c:tx>
          <c:spPr>
            <a:solidFill>
              <a:srgbClr val="A5A5A5"/>
            </a:solidFill>
            <a:ln>
              <a:noFill/>
            </a:ln>
          </c:spPr>
          <c:invertIfNegative val="0"/>
          <c:cat>
            <c:strRef>
              <c:f>Sheet1!$A$2:$A$18</c:f>
              <c:strCache>
                <c:ptCount val="17"/>
                <c:pt idx="0">
                  <c:v>2022-II</c:v>
                </c:pt>
                <c:pt idx="2">
                  <c:v>2022-IV</c:v>
                </c:pt>
                <c:pt idx="4">
                  <c:v>2023-II</c:v>
                </c:pt>
                <c:pt idx="6">
                  <c:v>2023-IV</c:v>
                </c:pt>
                <c:pt idx="8">
                  <c:v>2024-II</c:v>
                </c:pt>
                <c:pt idx="10">
                  <c:v>2024-IV</c:v>
                </c:pt>
                <c:pt idx="12">
                  <c:v>2025-II</c:v>
                </c:pt>
                <c:pt idx="14">
                  <c:v>2025-IV</c:v>
                </c:pt>
                <c:pt idx="16">
                  <c:v>2026-II</c:v>
                </c:pt>
              </c:strCache>
            </c:str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2.7119999999999998E-2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87-9C4F-A97A-842848102D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Нийт өсөлт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6"/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FEF-BC4D-A852-345CA70F452F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2022-II</c:v>
                </c:pt>
                <c:pt idx="2">
                  <c:v>2022-IV</c:v>
                </c:pt>
                <c:pt idx="4">
                  <c:v>2023-II</c:v>
                </c:pt>
                <c:pt idx="6">
                  <c:v>2023-IV</c:v>
                </c:pt>
                <c:pt idx="8">
                  <c:v>2024-II</c:v>
                </c:pt>
                <c:pt idx="10">
                  <c:v>2024-IV</c:v>
                </c:pt>
                <c:pt idx="12">
                  <c:v>2025-II</c:v>
                </c:pt>
                <c:pt idx="14">
                  <c:v>2025-IV</c:v>
                </c:pt>
                <c:pt idx="16">
                  <c:v>2026-II</c:v>
                </c:pt>
              </c:strCache>
            </c:strRef>
          </c:cat>
          <c:val>
            <c:numRef>
              <c:f>Sheet1!$G$2:$G$18</c:f>
              <c:numCache>
                <c:formatCode>General</c:formatCode>
                <c:ptCount val="17"/>
                <c:pt idx="0">
                  <c:v>0.31364999999999998</c:v>
                </c:pt>
                <c:pt idx="1">
                  <c:v>0.26802999999999999</c:v>
                </c:pt>
                <c:pt idx="2">
                  <c:v>0.32839000000000002</c:v>
                </c:pt>
                <c:pt idx="3">
                  <c:v>0.29385</c:v>
                </c:pt>
                <c:pt idx="4">
                  <c:v>0.20491000000000001</c:v>
                </c:pt>
                <c:pt idx="5">
                  <c:v>0.21562000000000001</c:v>
                </c:pt>
                <c:pt idx="6">
                  <c:v>0.18038999999999999</c:v>
                </c:pt>
                <c:pt idx="7">
                  <c:v>0.32979000000000003</c:v>
                </c:pt>
                <c:pt idx="8">
                  <c:v>0.24079</c:v>
                </c:pt>
                <c:pt idx="9">
                  <c:v>0.13072</c:v>
                </c:pt>
                <c:pt idx="10">
                  <c:v>0.14685000000000001</c:v>
                </c:pt>
                <c:pt idx="11">
                  <c:v>2.2360000000000001E-2</c:v>
                </c:pt>
                <c:pt idx="12">
                  <c:v>0.29474</c:v>
                </c:pt>
                <c:pt idx="13">
                  <c:v>0.30842999999999998</c:v>
                </c:pt>
                <c:pt idx="14">
                  <c:v>0.27965000000000001</c:v>
                </c:pt>
                <c:pt idx="15">
                  <c:v>0.28387000000000001</c:v>
                </c:pt>
                <c:pt idx="16">
                  <c:v>-5.5509999999999997E-2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3A87-9C4F-A97A-842848102D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mn-MN" sz="1300" b="0">
                <a:solidFill>
                  <a:srgbClr val="404040"/>
                </a:solidFill>
              </a:rPr>
              <a:t>Тээврийн салбарын нийт орлого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Авто тээвэр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</c:spPr>
          <c:invertIfNegative val="0"/>
          <c:cat>
            <c:strRef>
              <c:f>Sheet1!$A$2:$A$17</c:f>
              <c:strCache>
                <c:ptCount val="16"/>
                <c:pt idx="1">
                  <c:v>2022-IV</c:v>
                </c:pt>
                <c:pt idx="3">
                  <c:v>2023-II</c:v>
                </c:pt>
                <c:pt idx="5">
                  <c:v>2023-IV</c:v>
                </c:pt>
                <c:pt idx="7">
                  <c:v>2024-II</c:v>
                </c:pt>
                <c:pt idx="9">
                  <c:v>2024-IV</c:v>
                </c:pt>
                <c:pt idx="11">
                  <c:v>2025-II</c:v>
                </c:pt>
                <c:pt idx="13">
                  <c:v>2025-IV</c:v>
                </c:pt>
                <c:pt idx="15">
                  <c:v>2026-II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0.55598999999999998</c:v>
                </c:pt>
                <c:pt idx="1">
                  <c:v>0.57955000000000001</c:v>
                </c:pt>
                <c:pt idx="2">
                  <c:v>0.84501000000000004</c:v>
                </c:pt>
                <c:pt idx="3">
                  <c:v>0.45843</c:v>
                </c:pt>
                <c:pt idx="4">
                  <c:v>0.37670999999999999</c:v>
                </c:pt>
                <c:pt idx="5">
                  <c:v>0.33584000000000003</c:v>
                </c:pt>
                <c:pt idx="6">
                  <c:v>4.6769999999999999E-2</c:v>
                </c:pt>
                <c:pt idx="7">
                  <c:v>8.1409999999999996E-2</c:v>
                </c:pt>
                <c:pt idx="8">
                  <c:v>5.944E-2</c:v>
                </c:pt>
                <c:pt idx="9">
                  <c:v>-1.0529999999999999E-2</c:v>
                </c:pt>
                <c:pt idx="10">
                  <c:v>-0.19339000000000001</c:v>
                </c:pt>
                <c:pt idx="11">
                  <c:v>-0.15977</c:v>
                </c:pt>
                <c:pt idx="12">
                  <c:v>-0.13658000000000001</c:v>
                </c:pt>
                <c:pt idx="13">
                  <c:v>-0.10088999999999999</c:v>
                </c:pt>
                <c:pt idx="14">
                  <c:v>0.12725</c:v>
                </c:pt>
                <c:pt idx="15">
                  <c:v>0.14025000000000001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58-ED45-A51C-35CCD145BF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Төмөр зам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0"/>
          <c:cat>
            <c:strRef>
              <c:f>Sheet1!$A$2:$A$17</c:f>
              <c:strCache>
                <c:ptCount val="16"/>
                <c:pt idx="1">
                  <c:v>2022-IV</c:v>
                </c:pt>
                <c:pt idx="3">
                  <c:v>2023-II</c:v>
                </c:pt>
                <c:pt idx="5">
                  <c:v>2023-IV</c:v>
                </c:pt>
                <c:pt idx="7">
                  <c:v>2024-II</c:v>
                </c:pt>
                <c:pt idx="9">
                  <c:v>2024-IV</c:v>
                </c:pt>
                <c:pt idx="11">
                  <c:v>2025-II</c:v>
                </c:pt>
                <c:pt idx="13">
                  <c:v>2025-IV</c:v>
                </c:pt>
                <c:pt idx="15">
                  <c:v>2026-II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-2.7210000000000002E-2</c:v>
                </c:pt>
                <c:pt idx="1">
                  <c:v>-5.7600000000000004E-3</c:v>
                </c:pt>
                <c:pt idx="2">
                  <c:v>0.12784999999999999</c:v>
                </c:pt>
                <c:pt idx="3">
                  <c:v>0.10128</c:v>
                </c:pt>
                <c:pt idx="4">
                  <c:v>9.5740000000000006E-2</c:v>
                </c:pt>
                <c:pt idx="5">
                  <c:v>8.1570000000000004E-2</c:v>
                </c:pt>
                <c:pt idx="6">
                  <c:v>3.678E-2</c:v>
                </c:pt>
                <c:pt idx="7">
                  <c:v>3.2989999999999998E-2</c:v>
                </c:pt>
                <c:pt idx="8">
                  <c:v>2.64E-2</c:v>
                </c:pt>
                <c:pt idx="9">
                  <c:v>2.427E-2</c:v>
                </c:pt>
                <c:pt idx="10">
                  <c:v>9.8999999999999999E-4</c:v>
                </c:pt>
                <c:pt idx="11">
                  <c:v>4.3800000000000002E-3</c:v>
                </c:pt>
                <c:pt idx="12">
                  <c:v>1.205E-2</c:v>
                </c:pt>
                <c:pt idx="13">
                  <c:v>1.8599999999999998E-2</c:v>
                </c:pt>
                <c:pt idx="14">
                  <c:v>7.3200000000000001E-2</c:v>
                </c:pt>
                <c:pt idx="15">
                  <c:v>7.4329999999999993E-2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58-ED45-A51C-35CCD145BF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Бусад (агуулах, шуудан, туслах үйл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0"/>
          <c:cat>
            <c:strRef>
              <c:f>Sheet1!$A$2:$A$17</c:f>
              <c:strCache>
                <c:ptCount val="16"/>
                <c:pt idx="1">
                  <c:v>2022-IV</c:v>
                </c:pt>
                <c:pt idx="3">
                  <c:v>2023-II</c:v>
                </c:pt>
                <c:pt idx="5">
                  <c:v>2023-IV</c:v>
                </c:pt>
                <c:pt idx="7">
                  <c:v>2024-II</c:v>
                </c:pt>
                <c:pt idx="9">
                  <c:v>2024-IV</c:v>
                </c:pt>
                <c:pt idx="11">
                  <c:v>2025-II</c:v>
                </c:pt>
                <c:pt idx="13">
                  <c:v>2025-IV</c:v>
                </c:pt>
                <c:pt idx="15">
                  <c:v>2026-II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0.15454000000000001</c:v>
                </c:pt>
                <c:pt idx="1">
                  <c:v>0.15412999999999999</c:v>
                </c:pt>
                <c:pt idx="2">
                  <c:v>0.11874999999999999</c:v>
                </c:pt>
                <c:pt idx="3">
                  <c:v>8.4970000000000004E-2</c:v>
                </c:pt>
                <c:pt idx="4">
                  <c:v>6.6669999999999993E-2</c:v>
                </c:pt>
                <c:pt idx="5">
                  <c:v>5.5140000000000002E-2</c:v>
                </c:pt>
                <c:pt idx="6">
                  <c:v>2.5999999999999999E-2</c:v>
                </c:pt>
                <c:pt idx="7">
                  <c:v>2.2610000000000002E-2</c:v>
                </c:pt>
                <c:pt idx="8">
                  <c:v>2.9229999999999999E-2</c:v>
                </c:pt>
                <c:pt idx="9">
                  <c:v>1.8589999999999999E-2</c:v>
                </c:pt>
                <c:pt idx="10">
                  <c:v>1.9390000000000001E-2</c:v>
                </c:pt>
                <c:pt idx="11">
                  <c:v>1.772E-2</c:v>
                </c:pt>
                <c:pt idx="12">
                  <c:v>1.487E-2</c:v>
                </c:pt>
                <c:pt idx="13">
                  <c:v>1.503E-2</c:v>
                </c:pt>
                <c:pt idx="14">
                  <c:v>2.1399999999999999E-2</c:v>
                </c:pt>
                <c:pt idx="15">
                  <c:v>1.3350000000000001E-2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58-ED45-A51C-35CCD145BF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Агаар</c:v>
                </c:pt>
              </c:strCache>
            </c:strRef>
          </c:tx>
          <c:spPr>
            <a:solidFill>
              <a:srgbClr val="264478"/>
            </a:solidFill>
            <a:ln>
              <a:noFill/>
            </a:ln>
          </c:spPr>
          <c:invertIfNegative val="0"/>
          <c:cat>
            <c:strRef>
              <c:f>Sheet1!$A$2:$A$17</c:f>
              <c:strCache>
                <c:ptCount val="16"/>
                <c:pt idx="1">
                  <c:v>2022-IV</c:v>
                </c:pt>
                <c:pt idx="3">
                  <c:v>2023-II</c:v>
                </c:pt>
                <c:pt idx="5">
                  <c:v>2023-IV</c:v>
                </c:pt>
                <c:pt idx="7">
                  <c:v>2024-II</c:v>
                </c:pt>
                <c:pt idx="9">
                  <c:v>2024-IV</c:v>
                </c:pt>
                <c:pt idx="11">
                  <c:v>2025-II</c:v>
                </c:pt>
                <c:pt idx="13">
                  <c:v>2025-IV</c:v>
                </c:pt>
                <c:pt idx="15">
                  <c:v>2026-II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0.11232</c:v>
                </c:pt>
                <c:pt idx="1">
                  <c:v>0.10394</c:v>
                </c:pt>
                <c:pt idx="2">
                  <c:v>0.10067</c:v>
                </c:pt>
                <c:pt idx="3">
                  <c:v>7.485E-2</c:v>
                </c:pt>
                <c:pt idx="4">
                  <c:v>7.7890000000000001E-2</c:v>
                </c:pt>
                <c:pt idx="5">
                  <c:v>5.8110000000000002E-2</c:v>
                </c:pt>
                <c:pt idx="6">
                  <c:v>1.355E-2</c:v>
                </c:pt>
                <c:pt idx="7">
                  <c:v>1.721E-2</c:v>
                </c:pt>
                <c:pt idx="8">
                  <c:v>1.8409999999999999E-2</c:v>
                </c:pt>
                <c:pt idx="9">
                  <c:v>1.7170000000000001E-2</c:v>
                </c:pt>
                <c:pt idx="10">
                  <c:v>1.7999999999999999E-2</c:v>
                </c:pt>
                <c:pt idx="11">
                  <c:v>1.086E-2</c:v>
                </c:pt>
                <c:pt idx="12">
                  <c:v>8.6400000000000001E-3</c:v>
                </c:pt>
                <c:pt idx="13">
                  <c:v>6.6E-3</c:v>
                </c:pt>
                <c:pt idx="14">
                  <c:v>1.3270000000000001E-2</c:v>
                </c:pt>
                <c:pt idx="15">
                  <c:v>6.0600000000000003E-3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58-ED45-A51C-35CCD145BF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Усан зам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</c:spPr>
          <c:invertIfNegative val="0"/>
          <c:cat>
            <c:strRef>
              <c:f>Sheet1!$A$2:$A$17</c:f>
              <c:strCache>
                <c:ptCount val="16"/>
                <c:pt idx="1">
                  <c:v>2022-IV</c:v>
                </c:pt>
                <c:pt idx="3">
                  <c:v>2023-II</c:v>
                </c:pt>
                <c:pt idx="5">
                  <c:v>2023-IV</c:v>
                </c:pt>
                <c:pt idx="7">
                  <c:v>2024-II</c:v>
                </c:pt>
                <c:pt idx="9">
                  <c:v>2024-IV</c:v>
                </c:pt>
                <c:pt idx="11">
                  <c:v>2025-II</c:v>
                </c:pt>
                <c:pt idx="13">
                  <c:v>2025-IV</c:v>
                </c:pt>
                <c:pt idx="15">
                  <c:v>2026-II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9.0000000000000006E-5</c:v>
                </c:pt>
                <c:pt idx="1">
                  <c:v>6.0000000000000002E-5</c:v>
                </c:pt>
                <c:pt idx="2">
                  <c:v>0</c:v>
                </c:pt>
                <c:pt idx="3">
                  <c:v>1.0000000000000001E-5</c:v>
                </c:pt>
                <c:pt idx="4">
                  <c:v>1.8000000000000001E-4</c:v>
                </c:pt>
                <c:pt idx="5">
                  <c:v>1.1E-4</c:v>
                </c:pt>
                <c:pt idx="6">
                  <c:v>0</c:v>
                </c:pt>
                <c:pt idx="7">
                  <c:v>0</c:v>
                </c:pt>
                <c:pt idx="8">
                  <c:v>8.0000000000000007E-5</c:v>
                </c:pt>
                <c:pt idx="9">
                  <c:v>5.0000000000000002E-5</c:v>
                </c:pt>
                <c:pt idx="10">
                  <c:v>0</c:v>
                </c:pt>
                <c:pt idx="11">
                  <c:v>0</c:v>
                </c:pt>
                <c:pt idx="12">
                  <c:v>5.0000000000000002E-5</c:v>
                </c:pt>
                <c:pt idx="13">
                  <c:v>4.0000000000000003E-5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58-ED45-A51C-35CCD145BF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Нийт өсөлт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</c:spPr>
          <c:marker>
            <c:symbol val="none"/>
          </c:marker>
          <c:dLbls>
            <c:dLbl>
              <c:idx val="15"/>
              <c:numFmt formatCode="0.0%" sourceLinked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000000"/>
                      </a:solidFill>
                    </a:defRPr>
                  </a:pPr>
                  <a:endParaRPr lang="en-M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92D-3C43-9121-A7BA75207E8B}"/>
                </c:ext>
              </c:extLst>
            </c:dLbl>
            <c:numFmt formatCode="0.0%" sourceLinked="0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1">
                  <c:v>2022-IV</c:v>
                </c:pt>
                <c:pt idx="3">
                  <c:v>2023-II</c:v>
                </c:pt>
                <c:pt idx="5">
                  <c:v>2023-IV</c:v>
                </c:pt>
                <c:pt idx="7">
                  <c:v>2024-II</c:v>
                </c:pt>
                <c:pt idx="9">
                  <c:v>2024-IV</c:v>
                </c:pt>
                <c:pt idx="11">
                  <c:v>2025-II</c:v>
                </c:pt>
                <c:pt idx="13">
                  <c:v>2025-IV</c:v>
                </c:pt>
                <c:pt idx="15">
                  <c:v>2026-II</c:v>
                </c:pt>
              </c:strCache>
            </c:strRef>
          </c:cat>
          <c:val>
            <c:numRef>
              <c:f>Sheet1!$G$2:$G$17</c:f>
              <c:numCache>
                <c:formatCode>General</c:formatCode>
                <c:ptCount val="16"/>
                <c:pt idx="0">
                  <c:v>0.79573000000000005</c:v>
                </c:pt>
                <c:pt idx="1">
                  <c:v>0.83191999999999999</c:v>
                </c:pt>
                <c:pt idx="2">
                  <c:v>1.19228</c:v>
                </c:pt>
                <c:pt idx="3">
                  <c:v>0.71953</c:v>
                </c:pt>
                <c:pt idx="4">
                  <c:v>0.61717999999999995</c:v>
                </c:pt>
                <c:pt idx="5">
                  <c:v>0.53076999999999996</c:v>
                </c:pt>
                <c:pt idx="6">
                  <c:v>0.12311</c:v>
                </c:pt>
                <c:pt idx="7">
                  <c:v>0.15421000000000001</c:v>
                </c:pt>
                <c:pt idx="8">
                  <c:v>0.13356000000000001</c:v>
                </c:pt>
                <c:pt idx="9">
                  <c:v>4.9540000000000001E-2</c:v>
                </c:pt>
                <c:pt idx="10">
                  <c:v>-0.15501000000000001</c:v>
                </c:pt>
                <c:pt idx="11">
                  <c:v>-0.12681000000000001</c:v>
                </c:pt>
                <c:pt idx="12">
                  <c:v>-0.10095999999999999</c:v>
                </c:pt>
                <c:pt idx="13">
                  <c:v>-6.0630000000000003E-2</c:v>
                </c:pt>
                <c:pt idx="14">
                  <c:v>0.23511000000000001</c:v>
                </c:pt>
                <c:pt idx="15">
                  <c:v>0.23400000000000001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2258-ED45-A51C-35CCD145BF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-270000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%" sourceLinked="0"/>
        <c:majorTickMark val="none"/>
        <c:minorTickMark val="none"/>
        <c:tickLblPos val="nextTo"/>
        <c:txPr>
          <a:bodyPr rot="0" vert="horz"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M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M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M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38488-DF9A-49C3-BA1B-A24EF846A90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73371-F4E7-4ECF-B0C0-60D78E520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1aa6ce88b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1aa6ce88b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217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Гадаад орчин — редакцийн слайд; вэб эх сурвалж зөвхөн энэ слайдад зөвшөөрөгдөнө.</a:t>
            </a:r>
          </a:p>
          <a:p>
            <a:r>
              <a:t>Эх сурвалж: CNN шууд хөтлөлт 2026-08-10 (Трамп — хоолойн хяналт, нөхөн төлбөрийн болзол); NPR 2026-08-06/07 (Ираны хураамж ба хоригийн төсөл); Congress.gov CRS R45281 (2026-06 санамж бичиг, General License X 2026-06-21, X1 2026-07-07); Iran International 2026-08-07 (Мекка дахь батлан хамгаалахын гэрээ); TradingEconomics 2026-08-13 (Brent ≈ 88 $/баррель).</a:t>
            </a:r>
          </a:p>
          <a:p>
            <a:r>
              <a:t>Дамжих сувгийн тоонууд workbook-оос: дизель 4,185 ₮/л, жилийн өсөлт +42.35% (Weekly_Prices, 2026-08-10); нүүрсний хилийн үнэ 79.5 $/т (Border_Prices, 2026-07).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92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ТӨСӨӨЛӨЛ ДУТУУ (ЭУХ-ны санал): Forecast хуудас ХООСОН хэвээр — "No IMF WEO export cached". ОУВС/ДБ/АХБ/Монголбанкны мөр 2026 оны 6-р сарын хувилбараар зогсож байна.</a:t>
            </a:r>
          </a:p>
          <a:p>
            <a:r>
              <a:t>ХИЙХ АЖИЛ: ОУВС-ийн шинэ WEO-г raw_data/ хавтаст хуулж, Forecast хуудсыг шинэчилнэ. Түүнийг хийх хүртэл ирээдүйн эрсдэлийн зураглалыг дараах гурван бодит үзүүлэлтээр орлуулав: бодит бодлогын хүү сөрөг, экспортын төвлөрөл 92.1%, банкны зээлийн агшилт.</a:t>
            </a:r>
          </a:p>
          <a:p>
            <a:r>
              <a:t>ГВ нөөц 7,963 сая $ (2026-07, +48%).</a:t>
            </a:r>
          </a:p>
        </p:txBody>
      </p:sp>
    </p:spTree>
    <p:extLst>
      <p:ext uri="{BB962C8B-B14F-4D97-AF65-F5344CB8AC3E}">
        <p14:creationId xmlns:p14="http://schemas.microsoft.com/office/powerpoint/2010/main" val="4158205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БҮТЭЦ ӨӨРЧЛӨГДӨВ (ЭУХ-ны саналаар): график зөвхөн УЛИРЛЫН өссөн дүнг харуулна (I-III, I-VI, I-IX, I-XII). Өмнө нь "5-р сарын байдлаар" гэсэн САРЫН баганыг мөн графикт хольсон нь ойлгомжгүй байсан — хассан.</a:t>
            </a:r>
          </a:p>
          <a:p>
            <a:r>
              <a:t>2026 I-VI = 7.67% (GDP_Growth, улирлын тооцоо). Уул уурхай 3.91 нэгж хувь = нийт 7.68%-ийн 51% (GDP_Sectors, 2026-Q2).</a:t>
            </a:r>
          </a:p>
          <a:p>
            <a:r>
              <a:t>Сарын өсөлт (MIEG) 7.32%, 2026-05 — тусдаа шар хүрээтэй хайрцагт, хоцрогдол нь илэрхий бичигдсэн.</a:t>
            </a:r>
          </a:p>
        </p:txBody>
      </p:sp>
    </p:spTree>
    <p:extLst>
      <p:ext uri="{BB962C8B-B14F-4D97-AF65-F5344CB8AC3E}">
        <p14:creationId xmlns:p14="http://schemas.microsoft.com/office/powerpoint/2010/main" val="3602910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ҮСХ үндэсний тооцоо, 2026-Q2. Уул уурхай 3.91 нэгж хувь (I-III-д 4.96 байсан), ХАА 1.45, тээвэр 0.82. Нийлбэр 7.68 ≈ ДНБ-ий өсөлт 7.67%.</a:t>
            </a:r>
          </a:p>
        </p:txBody>
      </p:sp>
    </p:spTree>
    <p:extLst>
      <p:ext uri="{BB962C8B-B14F-4D97-AF65-F5344CB8AC3E}">
        <p14:creationId xmlns:p14="http://schemas.microsoft.com/office/powerpoint/2010/main" val="1512007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ХОЦРОГДСОН ЭХ СУРВАЛЖ: MIEG 2026-05, тайлант үе 2026-07 — 2 сарын хоцрогдол. Excel-ийн Summary дээр улаанаар анхааруулсан. Хороонд амаар сануулна: бодит эдийн засгийн сарын дүр зураг 2 сараар хоцорч харагдаж байна.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ШИНЭ: инфляц 2026-07 = 13.0% (өмнөх дэкэд 6-р сарын 12.0%). Хүнсний хувь нэмэр 6.78 → 7.01 нэгж хувь, эзлэх хувь 53.7%. Бүлгүүдийн нийлбэр 13.05 ≈ 13.0.</a:t>
            </a:r>
          </a:p>
          <a:p>
            <a:r>
              <a:t>Тэнхлэг бутархайгаар (0.13 = 13%).</a:t>
            </a:r>
          </a:p>
        </p:txBody>
      </p:sp>
    </p:spTree>
    <p:extLst>
      <p:ext uri="{BB962C8B-B14F-4D97-AF65-F5344CB8AC3E}">
        <p14:creationId xmlns:p14="http://schemas.microsoft.com/office/powerpoint/2010/main" val="855598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Сүүлийн долоо хоног 2026-08-17.</a:t>
            </a:r>
          </a:p>
          <a:p>
            <a:r>
              <a:t>ЗӨРЧЛИЙН ТАЙЛБАР (ЭУХ-ны санал): 2-р слайдын "+40%" ба энэ слайдын "+19.5%" хоёр зөрөхгүй. Дизелийн ЖИЖИГЛЭН үнэ 2,990 → 4,185 ₮/л = +40.0%; Аи-92 2,590 → 3,040 = +17.4%. ҮСХ-ны "шатахуун" сагс нь эдгээрийн жигнэсэн дундаж тул +19.5%. Хоёулаа зөв, өөр түвшний үзүүлэлт.</a:t>
            </a:r>
          </a:p>
          <a:p>
            <a:r>
              <a:t>Импортын хилийн өртөг (cost) ба дотоодын жижиглэн үнэ (pump price) хоёрыг мөн ялгаж ярина.</a:t>
            </a:r>
          </a:p>
        </p:txBody>
      </p:sp>
    </p:spTree>
    <p:extLst>
      <p:ext uri="{BB962C8B-B14F-4D97-AF65-F5344CB8AC3E}">
        <p14:creationId xmlns:p14="http://schemas.microsoft.com/office/powerpoint/2010/main" val="3578520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ШИНЭ: 2026-07 мөр. Инфляц 13.0% &gt; бодлогын хүү 12.0% тул бодит бодлогын хүү -1.0 нэгж хувь болж СӨРӨГ болов (6-р сард тэг байсан) — мөнгөний бодлого чангарах дарамт нэмэгдэж байна.</a:t>
            </a:r>
          </a:p>
          <a:p>
            <a:r>
              <a:t>Хадгаламжийн хүү 11.07 → 11.44%, зээлийн хүү 17.59 → 17.41%, зөрүү 0.29 → 0.18 нэгж хувь.</a:t>
            </a:r>
          </a:p>
        </p:txBody>
      </p:sp>
    </p:spTree>
    <p:extLst>
      <p:ext uri="{BB962C8B-B14F-4D97-AF65-F5344CB8AC3E}">
        <p14:creationId xmlns:p14="http://schemas.microsoft.com/office/powerpoint/2010/main" val="1528583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Экспорт 12,206 − импорт 7,158 = тэнцэл 5,048 сая $ (Гааль, 2026-07 CURRENT).</a:t>
            </a:r>
          </a:p>
          <a:p>
            <a:r>
              <a:t>Нийт эргэлт = экспорт + импорт, Trade хуудасны H багана.</a:t>
            </a:r>
          </a:p>
        </p:txBody>
      </p:sp>
    </p:spTree>
    <p:extLst>
      <p:ext uri="{BB962C8B-B14F-4D97-AF65-F5344CB8AC3E}">
        <p14:creationId xmlns:p14="http://schemas.microsoft.com/office/powerpoint/2010/main" val="2156638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Тоо хэмжээ: нүүрс 65.58 сая т (+58.6%), зэс 1,528.8 мянган т (+23.0%), алт 3,061 кг (-35.3%), төмрийн хүдэр 5.16 сая т (+10.3%). Эх сурвалж: Гааль 2026-07 (CURRENT), deck_digest §5.</a:t>
            </a:r>
          </a:p>
          <a:p>
            <a:r>
              <a:t>Дээд туузан график = дөрвөн ашигт малтмалын экспортын ҮНИЙН ДҮНГИЙН эзлэх хувь (нийт 10,944 сая $).</a:t>
            </a:r>
          </a:p>
          <a:p>
            <a:r>
              <a:t>Алтны хэмжээ буурсан ч үнийн дүн +2.0% — хилийн үнэ өссөнөөр нөхөв.</a:t>
            </a:r>
          </a:p>
        </p:txBody>
      </p:sp>
    </p:spTree>
    <p:extLst>
      <p:ext uri="{BB962C8B-B14F-4D97-AF65-F5344CB8AC3E}">
        <p14:creationId xmlns:p14="http://schemas.microsoft.com/office/powerpoint/2010/main" val="3392018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Хилийн үнэ = сарын ахиуц нэгж үнэ (Гаалийн 8-р хүснэгт), 2025-01..2026-07.</a:t>
            </a:r>
          </a:p>
          <a:p>
            <a:r>
              <a:t>Нүүрс 79.5 $/т — 2025-08-ны 56.8 $/т-оос тасралтгүй сэргэж байна. Зэс 3,671.7 $/т (6-р сараас ухарсан). Алт 4,091.5 $/унц — 3-р сарын 5,648.5-аас 4 сар дараалан буурав. Төмрийн хүдэр 70.4 $/т.</a:t>
            </a:r>
          </a:p>
        </p:txBody>
      </p:sp>
    </p:spTree>
    <p:extLst>
      <p:ext uri="{BB962C8B-B14F-4D97-AF65-F5344CB8AC3E}">
        <p14:creationId xmlns:p14="http://schemas.microsoft.com/office/powerpoint/2010/main" val="2658967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ЗАСВАР: ГВ нөөцийг 7,656 → 7,963 сая $ болгов. Эх сурвалж: External_Sector, Монголбанкны карт, 2026 оны 7-р сар, жилийн өөрчлөлт +48%. Өмнөх тоо нь 6-р сарын байдлаарх байсан.</a:t>
            </a:r>
          </a:p>
          <a:p>
            <a:r>
              <a:t>АНХААР: нөөц бол ХУГАЦААНЫ ЭЦСИЙН ҮЛДЭГДЭЛ (7-р сар), төлбөрийн тэнцэл ба урсгал данс нь I-VI сарын ӨССӨН ДҮН. Хоёр өөр хугацаа — слайд дээр тусгайлан бичив.</a:t>
            </a:r>
          </a:p>
          <a:p>
            <a:r>
              <a:t>2022-2024 оны багана 4-р сарын дэкээс, түүх болгон.</a:t>
            </a:r>
          </a:p>
        </p:txBody>
      </p:sp>
    </p:spTree>
    <p:extLst>
      <p:ext uri="{BB962C8B-B14F-4D97-AF65-F5344CB8AC3E}">
        <p14:creationId xmlns:p14="http://schemas.microsoft.com/office/powerpoint/2010/main" val="22151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327c7807a_0_3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327c7807a_0_3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ЭХ СУРВАЛЖИЙН ЖИГДЛЭЛТ (ЭУХ-ны санал): толгой тоо бүхэлдээ Зээлийн дэлгэрэнгүй тайлангийнх — 47.88 их наяд ₮, жилийн +13.0%.</a:t>
            </a:r>
          </a:p>
          <a:p>
            <a:r>
              <a:t>Зүүн талын хайрцгууд банкны ТАЙЛАН ТЭНЦЛИЙНХ (Banking хуудас): дотоодын нийт зээл 48.45 их наяд ₮. Хоёрын зөрүү 0.57 их наяд ₮ нь хамрах хүрээний ялгаа (тайлан тэнцэлд банк хоорондын болон бусад байршуулалт орсон), алдаа биш.</a:t>
            </a:r>
          </a:p>
          <a:p>
            <a:r>
              <a:t>Хэрэв хороо асуувал: 47.9 = зээлийн тайлан, 48.4 = тайлан тэнцэл. Илтгэлд 47.9-ийг барина.</a:t>
            </a:r>
          </a:p>
          <a:p>
            <a:r>
              <a:t>Бусад хайрцаг (актив, хадгаламж, ТБҮЦ, чанаргүй зээл) тайлан тэнцлээс, 2025.07.31 → 2026.07.31.</a:t>
            </a:r>
          </a:p>
        </p:txBody>
      </p:sp>
    </p:spTree>
    <p:extLst>
      <p:ext uri="{BB962C8B-B14F-4D97-AF65-F5344CB8AC3E}">
        <p14:creationId xmlns:p14="http://schemas.microsoft.com/office/powerpoint/2010/main" val="1755157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ЗАСВАР: invertIfNegative=1 байсан тул PowerPoint сөрөг баганыг ХООСОН хүрээ болгон зурж байв. 0 болгож, бүх баганыг цул улаанаар (C0392B) дүүргэв — 7-р сард бүх салбар хасалттай гарсан тул нэг өнгө нь утга агуулна.</a:t>
            </a:r>
          </a:p>
          <a:p>
            <a:r>
              <a:t>Нийлбэр = -2.21% = сарын өөрчлөлт. Графикт хамгийн их хасалттай 10 салбарыг харуулав.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ШИНЭ: ҮСХ аж үйлдвэрийн мэдээ 2026-07 (өмнөх дэкэд 2026-06).</a:t>
            </a:r>
          </a:p>
          <a:p>
            <a:r>
              <a:t>Уул уурхай 62.75 нэгж хувь (6-р сард 60.37), хүнс 0.47 (0.43). Нийт аж үйлдвэрийн өсөлт 65.27%.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ШИНЭ: 2026-07. Хөнгөн үйлдвэр 0.92 нэгж хувь (6-р сард 0.50), хими/металл 0.55 (0.67).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ХОЦРОГДСОН: ҮСХ салбарын мэдээ 2026-06 хэвээр — шинэ сар гараагүй.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ХОЦРОГДСОН: ҮСХ 2026-06 хэвээр.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БАРИЛГА — II УЛИРАЛ ОРСОН. Толгой тоо -5.55% нь Real_Sector-ийн өссөн дүнгийн цуваанаас (2026-Q2 4,795,735 / 2025-Q2 5,077,599 - 1) шууд гарна — найдвартай.</a:t>
            </a:r>
          </a:p>
          <a:p>
            <a:r>
              <a:t>ЗАДАРГААНЫ ЗӨРҮҮ: тайлант оны дөрвөн бүрэлдэхүүний нийлбэр 4,658,035 сая ₮ буюу цувааны дүнгээс 137,700 сая ₮ дутуу. ӨМНӨХ оны бүрэлдэхүүн цувааны дүнтэй ЯГ таарч байгаа тул энэ нь зөвхөн 2026-Q2-ын задаргаа бүрэн гараагүйтэй холбоотой — ҮСХ статистик залруулга хийж байна.</a:t>
            </a:r>
          </a:p>
          <a:p>
            <a:r>
              <a:t>Тиймээс задаргааг хэвээр үзүүлж, +2.71 нэгж хувийн зөрүүг "Тодруулагдаагүй үлдэгдэл" гэсэн тусдаа саарал баганаар нэрлэн харуулав. Багануудын нийлбэр толгой тоотой таарна.</a:t>
            </a:r>
          </a:p>
          <a:p>
            <a:r>
              <a:t>Дараагийн мөчлөгт ҮСХ задаргааг нөхөх ёстой — шалгах.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80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4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6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7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2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0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3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3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1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6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10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20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C5E1F-22D9-4F2B-83A9-5B6445C57E80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250FE-DF11-46BF-AB4B-255A518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7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22.xml"/><Relationship Id="rId5" Type="http://schemas.openxmlformats.org/officeDocument/2006/relationships/chart" Target="../charts/chart21.xml"/><Relationship Id="rId4" Type="http://schemas.openxmlformats.org/officeDocument/2006/relationships/chart" Target="../charts/char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all building with lights at night&#10;&#10;AI-generated content may be incorrect.">
            <a:extLst>
              <a:ext uri="{FF2B5EF4-FFF2-40B4-BE49-F238E27FC236}">
                <a16:creationId xmlns:a16="http://schemas.microsoft.com/office/drawing/2014/main" id="{C429CBD0-8311-4CC5-9898-E9BC964F1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781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290146" y="2327188"/>
            <a:ext cx="6976745" cy="1125416"/>
          </a:xfrm>
          <a:ln>
            <a:noFill/>
          </a:ln>
        </p:spPr>
        <p:txBody>
          <a:bodyPr anchor="ctr">
            <a:noAutofit/>
          </a:bodyPr>
          <a:lstStyle/>
          <a:p>
            <a:pPr algn="l"/>
            <a:r>
              <a:rPr lang="mn-MN" sz="2800" b="1" dirty="0">
                <a:solidFill>
                  <a:schemeClr val="bg1"/>
                </a:solidFill>
                <a:latin typeface="Montserrat" pitchFamily="2" charset="0"/>
              </a:rPr>
              <a:t>Макро эдийн засгийн төлөв</a:t>
            </a:r>
            <a:endParaRPr lang="en-US" sz="2800" b="1" dirty="0">
              <a:solidFill>
                <a:srgbClr val="F6783F"/>
              </a:solidFill>
              <a:latin typeface="Montserrat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6187" y="6089016"/>
            <a:ext cx="5413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  <a:latin typeface="Montserrat" pitchFamily="2" charset="0"/>
              </a:rPr>
              <a:t>Эрсдэлийн удирдлагын хороо</a:t>
            </a:r>
          </a:p>
          <a:p>
            <a:pPr algn="ctr"/>
            <a:r>
              <a:rPr lang="mn-MN" sz="1400" dirty="0">
                <a:solidFill>
                  <a:schemeClr val="bg1"/>
                </a:solidFill>
                <a:latin typeface="Montserrat" pitchFamily="2" charset="0"/>
              </a:rPr>
              <a:t>&lt;INSERT Meeting date&gt;</a:t>
            </a:r>
          </a:p>
        </p:txBody>
      </p:sp>
    </p:spTree>
    <p:extLst>
      <p:ext uri="{BB962C8B-B14F-4D97-AF65-F5344CB8AC3E}">
        <p14:creationId xmlns:p14="http://schemas.microsoft.com/office/powerpoint/2010/main" val="412769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1000000"/>
            <a:ext cx="109728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00206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 оны 8-р сарын 21 — Хормузын хоолойн түгжрэл болон АНУ–Ираны хэлэлцээрийн гацаа нь дотоодын дизелийн үнийг (+40%) өндөр түвшинд хадгалах гол эрсдэл болж байна.</a:t>
            </a:r>
          </a:p>
        </p:txBody>
      </p:sp>
      <p:sp>
        <p:nvSpPr>
          <p:cNvPr id="5" name="Shape 3"/>
          <p:cNvSpPr/>
          <p:nvPr/>
        </p:nvSpPr>
        <p:spPr>
          <a:xfrm>
            <a:off x="426720" y="1645920"/>
            <a:ext cx="5242560" cy="1158240"/>
          </a:xfrm>
          <a:prstGeom prst="roundRect">
            <a:avLst>
              <a:gd name="adj" fmla="val 10526"/>
            </a:avLst>
          </a:prstGeom>
          <a:solidFill>
            <a:srgbClr val="112244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70560" y="1682496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6783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☢  Цөмийн зэвсэг</a:t>
            </a:r>
          </a:p>
        </p:txBody>
      </p:sp>
      <p:sp>
        <p:nvSpPr>
          <p:cNvPr id="7" name="Text 5"/>
          <p:cNvSpPr/>
          <p:nvPr/>
        </p:nvSpPr>
        <p:spPr>
          <a:xfrm>
            <a:off x="670560" y="2109216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Цөмийн асуудал техникийн хэлэлцээрт шийдэгдээгүй; Ираны цэргийн удирдлага бүрэн шинэчлэгдэв</a:t>
            </a:r>
          </a:p>
        </p:txBody>
      </p:sp>
      <p:sp>
        <p:nvSpPr>
          <p:cNvPr id="8" name="Shape 6"/>
          <p:cNvSpPr/>
          <p:nvPr/>
        </p:nvSpPr>
        <p:spPr>
          <a:xfrm>
            <a:off x="426720" y="2950464"/>
            <a:ext cx="5242560" cy="1158240"/>
          </a:xfrm>
          <a:prstGeom prst="roundRect">
            <a:avLst>
              <a:gd name="adj" fmla="val 10526"/>
            </a:avLst>
          </a:prstGeom>
          <a:solidFill>
            <a:srgbClr val="112244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0560" y="298704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6783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🚢  Хормузын хоолой</a:t>
            </a:r>
          </a:p>
        </p:txBody>
      </p:sp>
      <p:sp>
        <p:nvSpPr>
          <p:cNvPr id="10" name="Text 8"/>
          <p:cNvSpPr/>
          <p:nvPr/>
        </p:nvSpPr>
        <p:spPr>
          <a:xfrm>
            <a:off x="670560" y="3413760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400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Трамп: хоолойг АНУ-ын Тэнгисийн цэрэг хянаж байна (08/10); тээвэр хэвийн хэмжээнд ороогүй</a:t>
            </a:r>
          </a:p>
        </p:txBody>
      </p:sp>
      <p:sp>
        <p:nvSpPr>
          <p:cNvPr id="11" name="Shape 9"/>
          <p:cNvSpPr/>
          <p:nvPr/>
        </p:nvSpPr>
        <p:spPr>
          <a:xfrm>
            <a:off x="426720" y="4255008"/>
            <a:ext cx="5242560" cy="1158240"/>
          </a:xfrm>
          <a:prstGeom prst="roundRect">
            <a:avLst>
              <a:gd name="adj" fmla="val 10526"/>
            </a:avLst>
          </a:prstGeom>
          <a:solidFill>
            <a:srgbClr val="112244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0560" y="4291584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6783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💰  Хориг арга хэмжээ</a:t>
            </a:r>
          </a:p>
        </p:txBody>
      </p:sp>
      <p:sp>
        <p:nvSpPr>
          <p:cNvPr id="13" name="Text 11"/>
          <p:cNvSpPr/>
          <p:nvPr/>
        </p:nvSpPr>
        <p:spPr>
          <a:xfrm>
            <a:off x="670560" y="4718304"/>
            <a:ext cx="4754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400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АНУ 2026 онд 8 дахь удаагийн хориг тавьж, газрын тосны General License X-ийг цуцлав</a:t>
            </a:r>
          </a:p>
        </p:txBody>
      </p:sp>
      <p:sp>
        <p:nvSpPr>
          <p:cNvPr id="14" name="Shape 12"/>
          <p:cNvSpPr/>
          <p:nvPr/>
        </p:nvSpPr>
        <p:spPr>
          <a:xfrm>
            <a:off x="426720" y="5559552"/>
            <a:ext cx="5242560" cy="950976"/>
          </a:xfrm>
          <a:prstGeom prst="roundRect">
            <a:avLst>
              <a:gd name="adj" fmla="val 12821"/>
            </a:avLst>
          </a:prstGeom>
          <a:solidFill>
            <a:srgbClr val="112244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70560" y="5596128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6783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🕊  Цэргийн үйл ажиллагаа</a:t>
            </a:r>
          </a:p>
        </p:txBody>
      </p:sp>
      <p:sp>
        <p:nvSpPr>
          <p:cNvPr id="16" name="Text 14"/>
          <p:cNvSpPr/>
          <p:nvPr/>
        </p:nvSpPr>
        <p:spPr>
          <a:xfrm>
            <a:off x="670560" y="6022848"/>
            <a:ext cx="47548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Ираны парламент дайсагнагч орны хөлгийг хориглох, бусдаас хураамж авах төслийг хэлэлцэж байна</a:t>
            </a:r>
          </a:p>
        </p:txBody>
      </p:sp>
      <p:sp>
        <p:nvSpPr>
          <p:cNvPr id="17" name="Shape 15"/>
          <p:cNvSpPr/>
          <p:nvPr/>
        </p:nvSpPr>
        <p:spPr>
          <a:xfrm>
            <a:off x="5974080" y="1645920"/>
            <a:ext cx="5791200" cy="3657600"/>
          </a:xfrm>
          <a:prstGeom prst="roundRect">
            <a:avLst>
              <a:gd name="adj" fmla="val 4000"/>
            </a:avLst>
          </a:prstGeom>
          <a:solidFill>
            <a:srgbClr val="0A254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56960" y="1767840"/>
            <a:ext cx="5425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6783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ХЭЛЭЛЦЭЭРИЙН МӨЧЛӨГ</a:t>
            </a:r>
          </a:p>
        </p:txBody>
      </p:sp>
      <p:sp>
        <p:nvSpPr>
          <p:cNvPr id="19" name="Shape 17"/>
          <p:cNvSpPr/>
          <p:nvPr/>
        </p:nvSpPr>
        <p:spPr>
          <a:xfrm>
            <a:off x="6156960" y="2438400"/>
            <a:ext cx="195072" cy="195072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25184" y="2353056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00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2026/06/17</a:t>
            </a:r>
          </a:p>
        </p:txBody>
      </p:sp>
      <p:sp>
        <p:nvSpPr>
          <p:cNvPr id="21" name="Text 19"/>
          <p:cNvSpPr/>
          <p:nvPr/>
        </p:nvSpPr>
        <p:spPr>
          <a:xfrm>
            <a:off x="6425184" y="2572512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АНУ–Иран 14 зүйлт санамж бичигт цахимаар гарын үсэг зурав</a:t>
            </a:r>
          </a:p>
        </p:txBody>
      </p:sp>
      <p:sp>
        <p:nvSpPr>
          <p:cNvPr id="22" name="Shape 20"/>
          <p:cNvSpPr/>
          <p:nvPr/>
        </p:nvSpPr>
        <p:spPr>
          <a:xfrm>
            <a:off x="6156960" y="3011424"/>
            <a:ext cx="195072" cy="195072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25184" y="2926080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00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2026/06/21</a:t>
            </a:r>
          </a:p>
        </p:txBody>
      </p:sp>
      <p:sp>
        <p:nvSpPr>
          <p:cNvPr id="24" name="Text 22"/>
          <p:cNvSpPr/>
          <p:nvPr/>
        </p:nvSpPr>
        <p:spPr>
          <a:xfrm>
            <a:off x="6425184" y="3145536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267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OFAC General License X — Ираны газрын тосны экспортод зөвшөөрөл</a:t>
            </a:r>
          </a:p>
        </p:txBody>
      </p:sp>
      <p:sp>
        <p:nvSpPr>
          <p:cNvPr id="25" name="Shape 23"/>
          <p:cNvSpPr/>
          <p:nvPr/>
        </p:nvSpPr>
        <p:spPr>
          <a:xfrm>
            <a:off x="6156960" y="3584448"/>
            <a:ext cx="195072" cy="195072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25184" y="3499104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00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2026/07/07</a:t>
            </a:r>
          </a:p>
        </p:txBody>
      </p:sp>
      <p:sp>
        <p:nvSpPr>
          <p:cNvPr id="27" name="Text 25"/>
          <p:cNvSpPr/>
          <p:nvPr/>
        </p:nvSpPr>
        <p:spPr>
          <a:xfrm>
            <a:off x="6425184" y="3718560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267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Довтолгоо сэргэж, License X цуцлагдан X1-ээр солигдов</a:t>
            </a:r>
          </a:p>
        </p:txBody>
      </p:sp>
      <p:sp>
        <p:nvSpPr>
          <p:cNvPr id="28" name="Shape 26"/>
          <p:cNvSpPr/>
          <p:nvPr/>
        </p:nvSpPr>
        <p:spPr>
          <a:xfrm>
            <a:off x="6156960" y="4157472"/>
            <a:ext cx="195072" cy="195072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25184" y="4072128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00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2026/08/07</a:t>
            </a:r>
          </a:p>
        </p:txBody>
      </p:sp>
      <p:sp>
        <p:nvSpPr>
          <p:cNvPr id="30" name="Text 28"/>
          <p:cNvSpPr/>
          <p:nvPr/>
        </p:nvSpPr>
        <p:spPr>
          <a:xfrm>
            <a:off x="6425184" y="4291584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Турк–Саудын Араб–Пакистаны хамтарсан батлан хамгаалахын гэрээ</a:t>
            </a:r>
          </a:p>
        </p:txBody>
      </p:sp>
      <p:sp>
        <p:nvSpPr>
          <p:cNvPr id="31" name="Shape 29"/>
          <p:cNvSpPr/>
          <p:nvPr/>
        </p:nvSpPr>
        <p:spPr>
          <a:xfrm>
            <a:off x="6156960" y="4730496"/>
            <a:ext cx="195072" cy="195072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25184" y="4645152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00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2026/08/10</a:t>
            </a:r>
          </a:p>
        </p:txBody>
      </p:sp>
      <p:sp>
        <p:nvSpPr>
          <p:cNvPr id="33" name="Text 31"/>
          <p:cNvSpPr/>
          <p:nvPr/>
        </p:nvSpPr>
        <p:spPr>
          <a:xfrm>
            <a:off x="6425184" y="4864608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CADCF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Трамп нөхөн төлбөрийн болзол тавьж, хэлэлцээр хойшлов</a:t>
            </a:r>
          </a:p>
        </p:txBody>
      </p:sp>
      <p:sp>
        <p:nvSpPr>
          <p:cNvPr id="34" name="Shape 32"/>
          <p:cNvSpPr/>
          <p:nvPr/>
        </p:nvSpPr>
        <p:spPr>
          <a:xfrm>
            <a:off x="5974080" y="5486400"/>
            <a:ext cx="5791200" cy="1036320"/>
          </a:xfrm>
          <a:prstGeom prst="roundRect">
            <a:avLst>
              <a:gd name="adj" fmla="val 11765"/>
            </a:avLst>
          </a:prstGeom>
          <a:solidFill>
            <a:srgbClr val="0000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035040" y="5559552"/>
            <a:ext cx="5669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mn-MN" sz="1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МОНГОЛД ДАМЖИХ СУВАГ</a:t>
            </a:r>
          </a:p>
        </p:txBody>
      </p:sp>
      <p:sp>
        <p:nvSpPr>
          <p:cNvPr id="36" name="Text 34"/>
          <p:cNvSpPr/>
          <p:nvPr/>
        </p:nvSpPr>
        <p:spPr>
          <a:xfrm>
            <a:off x="6035040" y="593750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E0F7F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Brent ≈ 88 $/баррель (08/13) → импортын өртөг • дизелийн ЖИЖИГЛЭН үнэ 4,185 ₮/л, жилийн +40% • нүүрсний хилийн үнэ 79.5 $/т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Гадаад шок: Ойрхи Дорнодын хямрал ба шатахууны өртгийн дарамт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0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2026 оны макро эдийн засгийн төсөөлөл</a:t>
            </a:r>
            <a:endParaRPr lang="en-US" sz="2400" b="1" dirty="0">
              <a:solidFill>
                <a:srgbClr val="FF5050"/>
              </a:solidFill>
              <a:latin typeface="Montserrat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F0C06C2-26B6-47DE-885F-43B66CC46F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476060"/>
              </p:ext>
            </p:extLst>
          </p:nvPr>
        </p:nvGraphicFramePr>
        <p:xfrm>
          <a:off x="-6461" y="858593"/>
          <a:ext cx="11202775" cy="553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82080" y="1920240"/>
            <a:ext cx="5740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sz="1600" dirty="0">
                <a:solidFill>
                  <a:srgbClr val="0000FF"/>
                </a:solidFill>
                <a:latin typeface="Montserrat" pitchFamily="2" charset="0"/>
              </a:rPr>
              <a:t>ОУВС 5.3%, ДБ 5.0%, АХБ 5.7%, Монголбанк 5.5%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1600" y="3285528"/>
            <a:ext cx="5740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sz="1600" dirty="0">
                <a:solidFill>
                  <a:srgbClr val="0000FF"/>
                </a:solidFill>
                <a:latin typeface="Montserrat" pitchFamily="2" charset="0"/>
              </a:rPr>
              <a:t>ОУВС 7.3%, ДБ 8.5%, АХБ 7.8%, Монголбанк +7%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5664" y="960120"/>
            <a:ext cx="574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sz="1600" b="1" dirty="0">
                <a:solidFill>
                  <a:srgbClr val="0000FF"/>
                </a:solidFill>
                <a:latin typeface="Montserrat" pitchFamily="2" charset="0"/>
              </a:rPr>
              <a:t>ОУВС-ийн төсөөлөл — 2026 оны 6-р сар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977639"/>
            <a:ext cx="55778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404040"/>
                </a:solidFill>
                <a:latin typeface="Montserrat"/>
              </a:rPr>
              <a:t>2026 </a:t>
            </a:r>
            <a:r>
              <a:rPr sz="1800" dirty="0" err="1">
                <a:solidFill>
                  <a:srgbClr val="404040"/>
                </a:solidFill>
                <a:latin typeface="Montserrat"/>
              </a:rPr>
              <a:t>оны</a:t>
            </a:r>
            <a:r>
              <a:rPr sz="1800" dirty="0">
                <a:solidFill>
                  <a:srgbClr val="404040"/>
                </a:solidFill>
                <a:latin typeface="Montserrat"/>
              </a:rPr>
              <a:t> 7-р </a:t>
            </a:r>
            <a:r>
              <a:rPr sz="1800" dirty="0" err="1">
                <a:solidFill>
                  <a:srgbClr val="404040"/>
                </a:solidFill>
                <a:latin typeface="Montserrat"/>
              </a:rPr>
              <a:t>сарын</a:t>
            </a:r>
            <a:r>
              <a:rPr sz="18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Montserrat"/>
              </a:rPr>
              <a:t>байдлаар</a:t>
            </a:r>
            <a:r>
              <a:rPr lang="mn-MN" dirty="0">
                <a:solidFill>
                  <a:srgbClr val="404040"/>
                </a:solidFill>
                <a:latin typeface="Montserrat"/>
              </a:rPr>
              <a:t>х г</a:t>
            </a:r>
            <a:r>
              <a:rPr lang="mn-MN" sz="1800" dirty="0">
                <a:solidFill>
                  <a:srgbClr val="404040"/>
                </a:solidFill>
                <a:latin typeface="Montserrat"/>
              </a:rPr>
              <a:t>үйцэтгэл</a:t>
            </a:r>
            <a:r>
              <a:rPr sz="1800" dirty="0">
                <a:solidFill>
                  <a:srgbClr val="404040"/>
                </a:solidFill>
                <a:latin typeface="Montserrat"/>
              </a:rPr>
              <a:t>:</a:t>
            </a:r>
          </a:p>
          <a:p>
            <a:r>
              <a:rPr sz="1800" dirty="0" err="1">
                <a:solidFill>
                  <a:srgbClr val="404040"/>
                </a:solidFill>
                <a:latin typeface="Montserrat"/>
              </a:rPr>
              <a:t>ДНБ 7.7% (I-II улирал) — ОУВС-ийн төсөөллөөс +2.4 нэгж хувь дээгүүр</a:t>
            </a:r>
          </a:p>
          <a:p>
            <a:r>
              <a:rPr sz="1800" dirty="0" err="1">
                <a:solidFill>
                  <a:srgbClr val="404040"/>
                </a:solidFill>
                <a:latin typeface="Montserrat"/>
              </a:rPr>
              <a:t>Инфляц 13.0% (7-р сар) — ОУВС-ийн төсөөллөөс +5.7 нэгж хувь дээгүүр</a:t>
            </a:r>
          </a:p>
          <a:p>
            <a:r>
              <a:rPr sz="1800" dirty="0" err="1">
                <a:solidFill>
                  <a:srgbClr val="404040"/>
                </a:solidFill>
                <a:latin typeface="Montserrat"/>
              </a:rPr>
              <a:t>Бодит бодлогын хүү -1.0 нэгж хувь; ГВ нөөц 7,963 сая $ (+48%)</a:t>
            </a:r>
          </a:p>
        </p:txBody>
      </p:sp>
    </p:spTree>
    <p:extLst>
      <p:ext uri="{BB962C8B-B14F-4D97-AF65-F5344CB8AC3E}">
        <p14:creationId xmlns:p14="http://schemas.microsoft.com/office/powerpoint/2010/main" val="287510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2" name="TextBox 4491"/>
          <p:cNvSpPr txBox="1"/>
          <p:nvPr/>
        </p:nvSpPr>
        <p:spPr>
          <a:xfrm>
            <a:off x="4724400" y="6395141"/>
            <a:ext cx="70611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670" y="-70727"/>
            <a:ext cx="11729289" cy="598006"/>
          </a:xfrm>
          <a:prstGeom prst="rect">
            <a:avLst/>
          </a:prstGeom>
          <a:noFill/>
        </p:spPr>
        <p:txBody>
          <a:bodyPr wrap="square" lIns="274320" tIns="243840" rtlCol="0" anchor="ctr">
            <a:noAutofit/>
          </a:bodyPr>
          <a:lstStyle/>
          <a:p>
            <a:r>
              <a:rPr lang="mn-MN" sz="2200" b="1" dirty="0">
                <a:solidFill>
                  <a:srgbClr val="002060"/>
                </a:solidFill>
                <a:latin typeface="Montserrat" pitchFamily="2" charset="0"/>
              </a:rPr>
              <a:t>Эдийн засгийн өсөлт: II улиралд 7.7%, уул уурхайд төвлөрсөн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982990698"/>
              </p:ext>
            </p:extLst>
          </p:nvPr>
        </p:nvGraphicFramePr>
        <p:xfrm>
          <a:off x="582819" y="1300000"/>
          <a:ext cx="5176305" cy="3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923278" y="1727232"/>
            <a:ext cx="607568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500" dirty="0">
                <a:latin typeface="Montserrat" pitchFamily="2" charset="0"/>
              </a:rPr>
              <a:t>Бодит ДНБ 2026 оны I-II улиралд 7.7%-иар өслөө (I улиралд 7.9% байсан).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500" dirty="0">
                <a:latin typeface="Montserrat" pitchFamily="2" charset="0"/>
              </a:rPr>
              <a:t>Өсөлтийн 3.9 нэгж хувийг УУЛ УУРХАЙ дангаараа бүрдүүлж байна — нийт өсөлтийн 51%.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500" dirty="0">
                <a:latin typeface="Montserrat" pitchFamily="2" charset="0"/>
              </a:rPr>
              <a:t>Дараагийн хувь нэмэр эрс бага: ХАА +1.5, тээвэр +0.8, үйлчилгээний бусад +0.8 нэгж хувь.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500" dirty="0">
                <a:latin typeface="Montserrat" pitchFamily="2" charset="0"/>
              </a:rPr>
              <a:t>Боловсруулах үйлдвэрлэл +0.1 нэгж хувь — бүтцийн төрөлжилт ахисангүй.</a:t>
            </a:r>
          </a:p>
        </p:txBody>
      </p:sp>
      <p:sp>
        <p:nvSpPr>
          <p:cNvPr id="4493" name="Rectangle 4492"/>
          <p:cNvSpPr/>
          <p:nvPr/>
        </p:nvSpPr>
        <p:spPr>
          <a:xfrm>
            <a:off x="582819" y="4680000"/>
            <a:ext cx="5176305" cy="150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4" name="Rectangle 4493"/>
          <p:cNvSpPr/>
          <p:nvPr/>
        </p:nvSpPr>
        <p:spPr>
          <a:xfrm>
            <a:off x="582819" y="4680000"/>
            <a:ext cx="80000" cy="1500000"/>
          </a:xfrm>
          <a:prstGeom prst="rect">
            <a:avLst/>
          </a:prstGeom>
          <a:solidFill>
            <a:srgbClr val="E87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5" name="TextBox 4494"/>
          <p:cNvSpPr txBox="1"/>
          <p:nvPr/>
        </p:nvSpPr>
        <p:spPr>
          <a:xfrm>
            <a:off x="812819" y="4800000"/>
            <a:ext cx="479630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1" dirty="0" err="1">
                <a:solidFill>
                  <a:srgbClr val="1B2A5E"/>
                </a:solidFill>
                <a:latin typeface=""/>
              </a:rPr>
              <a:t>Уул</a:t>
            </a:r>
            <a:r>
              <a:rPr sz="1500" b="1" dirty="0">
                <a:solidFill>
                  <a:srgbClr val="1B2A5E"/>
                </a:solidFill>
                <a:latin typeface=""/>
              </a:rPr>
              <a:t> </a:t>
            </a:r>
            <a:r>
              <a:rPr sz="1500" b="1" dirty="0" err="1">
                <a:solidFill>
                  <a:srgbClr val="1B2A5E"/>
                </a:solidFill>
                <a:latin typeface=""/>
              </a:rPr>
              <a:t>уурхайн</a:t>
            </a:r>
            <a:r>
              <a:rPr sz="1500" b="1" dirty="0">
                <a:solidFill>
                  <a:srgbClr val="1B2A5E"/>
                </a:solidFill>
                <a:latin typeface=""/>
              </a:rPr>
              <a:t> </a:t>
            </a:r>
            <a:r>
              <a:rPr sz="1500" b="1" dirty="0" err="1">
                <a:solidFill>
                  <a:srgbClr val="1B2A5E"/>
                </a:solidFill>
                <a:latin typeface=""/>
              </a:rPr>
              <a:t>хувь</a:t>
            </a:r>
            <a:r>
              <a:rPr sz="1500" b="1" dirty="0">
                <a:solidFill>
                  <a:srgbClr val="1B2A5E"/>
                </a:solidFill>
                <a:latin typeface=""/>
              </a:rPr>
              <a:t> </a:t>
            </a:r>
            <a:r>
              <a:rPr sz="1500" b="1" dirty="0" err="1">
                <a:solidFill>
                  <a:srgbClr val="1B2A5E"/>
                </a:solidFill>
                <a:latin typeface=""/>
              </a:rPr>
              <a:t>нэмэр</a:t>
            </a:r>
            <a:r>
              <a:rPr sz="1500" b="1" dirty="0">
                <a:solidFill>
                  <a:srgbClr val="1B2A5E"/>
                </a:solidFill>
                <a:latin typeface=""/>
              </a:rPr>
              <a:t>, 2026 I-VI</a:t>
            </a:r>
          </a:p>
        </p:txBody>
      </p:sp>
      <p:sp>
        <p:nvSpPr>
          <p:cNvPr id="4496" name="Rectangle 4495"/>
          <p:cNvSpPr/>
          <p:nvPr/>
        </p:nvSpPr>
        <p:spPr>
          <a:xfrm>
            <a:off x="812819" y="5200000"/>
            <a:ext cx="2350228" cy="300000"/>
          </a:xfrm>
          <a:prstGeom prst="rect">
            <a:avLst/>
          </a:prstGeom>
          <a:solidFill>
            <a:srgbClr val="E87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7" name="Rectangle 4496"/>
          <p:cNvSpPr/>
          <p:nvPr/>
        </p:nvSpPr>
        <p:spPr>
          <a:xfrm>
            <a:off x="3163047" y="5200000"/>
            <a:ext cx="2266076" cy="3000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8" name="TextBox 4497"/>
          <p:cNvSpPr txBox="1"/>
          <p:nvPr/>
        </p:nvSpPr>
        <p:spPr>
          <a:xfrm>
            <a:off x="812819" y="5580000"/>
            <a:ext cx="479630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dirty="0">
                <a:solidFill>
                  <a:srgbClr val="1A1A1A"/>
                </a:solidFill>
                <a:latin typeface=""/>
              </a:rPr>
              <a:t>3.91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нэгж</a:t>
            </a:r>
            <a:r>
              <a:rPr sz="1300" b="0" dirty="0">
                <a:solidFill>
                  <a:srgbClr val="1A1A1A"/>
                </a:solidFill>
                <a:latin typeface="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хувь</a:t>
            </a:r>
            <a:r>
              <a:rPr sz="1300" b="0" dirty="0">
                <a:solidFill>
                  <a:srgbClr val="1A1A1A"/>
                </a:solidFill>
                <a:latin typeface=""/>
              </a:rPr>
              <a:t> /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нийт</a:t>
            </a:r>
            <a:r>
              <a:rPr sz="1300" b="0" dirty="0">
                <a:solidFill>
                  <a:srgbClr val="1A1A1A"/>
                </a:solidFill>
                <a:latin typeface=""/>
              </a:rPr>
              <a:t> 7.68% —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өсөлтийн</a:t>
            </a:r>
            <a:r>
              <a:rPr sz="1300" b="0" dirty="0">
                <a:solidFill>
                  <a:srgbClr val="1A1A1A"/>
                </a:solidFill>
                <a:latin typeface=""/>
              </a:rPr>
              <a:t> 51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хувийг</a:t>
            </a:r>
            <a:r>
              <a:rPr sz="1300" b="0" dirty="0">
                <a:solidFill>
                  <a:srgbClr val="1A1A1A"/>
                </a:solidFill>
                <a:latin typeface="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ганц</a:t>
            </a:r>
            <a:r>
              <a:rPr sz="1300" b="0" dirty="0">
                <a:solidFill>
                  <a:srgbClr val="1A1A1A"/>
                </a:solidFill>
                <a:latin typeface="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салбар</a:t>
            </a:r>
            <a:r>
              <a:rPr sz="1300" b="0" dirty="0">
                <a:solidFill>
                  <a:srgbClr val="1A1A1A"/>
                </a:solidFill>
                <a:latin typeface="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бүрдүүлж</a:t>
            </a:r>
            <a:r>
              <a:rPr sz="1300" b="0" dirty="0">
                <a:solidFill>
                  <a:srgbClr val="1A1A1A"/>
                </a:solidFill>
                <a:latin typeface="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"/>
              </a:rPr>
              <a:t>байна</a:t>
            </a:r>
            <a:r>
              <a:rPr sz="1300" b="0" dirty="0">
                <a:solidFill>
                  <a:srgbClr val="1A1A1A"/>
                </a:solidFill>
                <a:latin typeface="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597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2" name="TextBox 4491"/>
          <p:cNvSpPr txBox="1"/>
          <p:nvPr/>
        </p:nvSpPr>
        <p:spPr>
          <a:xfrm>
            <a:off x="4724400" y="6395141"/>
            <a:ext cx="70611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670" y="-70727"/>
            <a:ext cx="11729289" cy="598006"/>
          </a:xfrm>
          <a:prstGeom prst="rect">
            <a:avLst/>
          </a:prstGeom>
          <a:noFill/>
        </p:spPr>
        <p:txBody>
          <a:bodyPr wrap="square" lIns="274320" tIns="243840" rtlCol="0" anchor="ctr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Эдийн засгийн өсөлт: </a:t>
            </a:r>
            <a:r>
              <a:rPr lang="mn-MN" sz="2400" b="1" dirty="0">
                <a:solidFill>
                  <a:schemeClr val="accent2"/>
                </a:solidFill>
                <a:latin typeface="Montserrat" pitchFamily="2" charset="0"/>
              </a:rPr>
              <a:t>(2025 оны 4-р улирлаас)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107561173"/>
              </p:ext>
            </p:extLst>
          </p:nvPr>
        </p:nvGraphicFramePr>
        <p:xfrm>
          <a:off x="658073" y="808264"/>
          <a:ext cx="10918884" cy="5400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00912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Эдийн засгийн сарын өсөлт: </a:t>
            </a:r>
            <a:r>
              <a:rPr lang="mn-MN" sz="2400" b="1" dirty="0">
                <a:solidFill>
                  <a:srgbClr val="F6783F"/>
                </a:solidFill>
                <a:latin typeface="Montserrat" pitchFamily="2" charset="0"/>
              </a:rPr>
              <a:t>5-р сарын байдлаар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395141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516636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Эдийн засгийн сарын өсөлт — ҮСХ-ны сарын ДНБ-ийн үнэлгээ, улирлын мэдээ хоорондын явцыг харуулна.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Сарын өсөлтийн дата нь 2026 оны 5-р сараар зогсож байна.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5-р сарын байдлаар өсөлт 7.32%, үүний 3.71 нэгж хувийг уул уурхай дангаараа бүрдүүлэв.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Улирлын ДНБ (I-VI 7.7%).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114184"/>
              </p:ext>
            </p:extLst>
          </p:nvPr>
        </p:nvGraphicFramePr>
        <p:xfrm>
          <a:off x="502920" y="960120"/>
          <a:ext cx="58064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19851"/>
              </p:ext>
            </p:extLst>
          </p:nvPr>
        </p:nvGraphicFramePr>
        <p:xfrm>
          <a:off x="502920" y="3657600"/>
          <a:ext cx="58064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2196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Инфляцын түвшин: </a:t>
            </a:r>
            <a:r>
              <a:rPr lang="mn-MN" sz="2400" b="1" dirty="0">
                <a:solidFill>
                  <a:srgbClr val="F6783F"/>
                </a:solidFill>
                <a:latin typeface="Montserrat" pitchFamily="2" charset="0"/>
              </a:rPr>
              <a:t>хүнсний үнэ инфляц-д нөлөөлсөөр байна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E2F9CA-BA16-44BA-9EA2-7DB42C0936AF}"/>
              </a:ext>
            </a:extLst>
          </p:cNvPr>
          <p:cNvSpPr txBox="1"/>
          <p:nvPr/>
        </p:nvSpPr>
        <p:spPr>
          <a:xfrm>
            <a:off x="5334002" y="6415779"/>
            <a:ext cx="645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хороо, Монголбанк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6276" y="1727232"/>
            <a:ext cx="54298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mn-MN" dirty="0">
                <a:latin typeface="Montserrat" pitchFamily="2" charset="0"/>
              </a:rPr>
              <a:t>Инфляц 7-р сарын байдлаар 13.0% болж, зорилтот түвшнээс 5.0 нэгж хувиар давлаа.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mn-MN" dirty="0">
                <a:latin typeface="Montserrat" pitchFamily="2" charset="0"/>
              </a:rPr>
              <a:t>Үүний 7.01 нэгж хувийг хүнсний барааны үнэ дангаараа бүрдүүлж байна (бүлгийн өсөлт 25.5%).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mn-MN" dirty="0">
                <a:latin typeface="Montserrat" pitchFamily="2" charset="0"/>
              </a:rPr>
              <a:t>Улаанбаатарын инфляц мөн 13.0% — улсын дундажтай тэнцэв.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27ADB62-4796-4E7F-B905-7DC2FB3D65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6802533"/>
              </p:ext>
            </p:extLst>
          </p:nvPr>
        </p:nvGraphicFramePr>
        <p:xfrm>
          <a:off x="575200" y="861378"/>
          <a:ext cx="4830814" cy="2805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33183FA-59BF-3A4F-ED83-790FD526A52B}"/>
              </a:ext>
            </a:extLst>
          </p:cNvPr>
          <p:cNvSpPr txBox="1"/>
          <p:nvPr/>
        </p:nvSpPr>
        <p:spPr>
          <a:xfrm>
            <a:off x="5150224" y="30390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N" dirty="0"/>
          </a:p>
        </p:txBody>
      </p:sp>
      <p:graphicFrame>
        <p:nvGraphicFramePr>
          <p:cNvPr id="990" name="Chart CPI"/>
          <p:cNvGraphicFramePr>
            <a:graphicFrameLocks noGrp="1"/>
          </p:cNvGraphicFramePr>
          <p:nvPr/>
        </p:nvGraphicFramePr>
        <p:xfrm>
          <a:off x="446088" y="3749675"/>
          <a:ext cx="5213350" cy="2687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39452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Инфляцын түвшин, </a:t>
            </a:r>
            <a:r>
              <a:rPr lang="mn-MN" sz="2400" b="1" dirty="0">
                <a:solidFill>
                  <a:srgbClr val="F6783F"/>
                </a:solidFill>
                <a:latin typeface="Montserrat" pitchFamily="2" charset="0"/>
              </a:rPr>
              <a:t>Мах болон шатахууны үнэ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E2F9CA-BA16-44BA-9EA2-7DB42C0936AF}"/>
              </a:ext>
            </a:extLst>
          </p:cNvPr>
          <p:cNvSpPr txBox="1"/>
          <p:nvPr/>
        </p:nvSpPr>
        <p:spPr>
          <a:xfrm>
            <a:off x="5334002" y="6415779"/>
            <a:ext cx="645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 — 7 хоногийн үнийн мэдээ, 2026-08-17 -ны байдлаар</a:t>
            </a: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639513381"/>
              </p:ext>
            </p:extLst>
          </p:nvPr>
        </p:nvGraphicFramePr>
        <p:xfrm>
          <a:off x="380277" y="1199507"/>
          <a:ext cx="6331607" cy="505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19"/>
          <p:cNvSpPr/>
          <p:nvPr/>
        </p:nvSpPr>
        <p:spPr>
          <a:xfrm>
            <a:off x="6865031" y="1234440"/>
            <a:ext cx="5144717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 err="1">
                <a:solidFill>
                  <a:srgbClr val="1E2761"/>
                </a:solidFill>
                <a:latin typeface=""/>
              </a:rPr>
              <a:t>Мах</a:t>
            </a:r>
            <a:r>
              <a:rPr sz="1300" dirty="0">
                <a:solidFill>
                  <a:srgbClr val="1E2761"/>
                </a:solidFill>
                <a:latin typeface=""/>
              </a:rPr>
              <a:t> +40.0%,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шатахуун</a:t>
            </a:r>
            <a:r>
              <a:rPr sz="1300" dirty="0">
                <a:solidFill>
                  <a:srgbClr val="1E2761"/>
                </a:solidFill>
                <a:latin typeface=""/>
              </a:rPr>
              <a:t> +13.9% (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оны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эхнээс</a:t>
            </a:r>
            <a:r>
              <a:rPr sz="1300" dirty="0">
                <a:solidFill>
                  <a:srgbClr val="1E2761"/>
                </a:solidFill>
                <a:latin typeface=""/>
              </a:rPr>
              <a:t>);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жилийн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өсөлт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мах</a:t>
            </a:r>
            <a:r>
              <a:rPr sz="1300" dirty="0">
                <a:solidFill>
                  <a:srgbClr val="1E2761"/>
                </a:solidFill>
                <a:latin typeface=""/>
              </a:rPr>
              <a:t> +52.1%,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шатахуун</a:t>
            </a:r>
            <a:r>
              <a:rPr sz="1300" dirty="0">
                <a:solidFill>
                  <a:srgbClr val="1E2761"/>
                </a:solidFill>
                <a:latin typeface=""/>
              </a:rPr>
              <a:t> +19.5%.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2761"/>
                </a:solidFill>
                <a:latin typeface=""/>
              </a:rPr>
              <a:t>Аи-80/92/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Евро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болон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дизель</a:t>
            </a:r>
            <a:r>
              <a:rPr lang="en-US" sz="1300" dirty="0">
                <a:solidFill>
                  <a:srgbClr val="1E2761"/>
                </a:solidFill>
                <a:latin typeface="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"/>
              </a:rPr>
              <a:t>д</a:t>
            </a:r>
            <a:r>
              <a:rPr lang="mn-MN" sz="1300" dirty="0">
                <a:solidFill>
                  <a:srgbClr val="1E2761"/>
                </a:solidFill>
                <a:latin typeface=""/>
              </a:rPr>
              <a:t>ундаас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дизель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дангаараа</a:t>
            </a:r>
            <a:r>
              <a:rPr sz="1300" dirty="0">
                <a:solidFill>
                  <a:srgbClr val="1E2761"/>
                </a:solidFill>
                <a:latin typeface=""/>
              </a:rPr>
              <a:t> +40%, Аи-92 +17% — </a:t>
            </a:r>
            <a:r>
              <a:rPr lang="mn-MN" sz="1300" dirty="0">
                <a:solidFill>
                  <a:srgbClr val="1E2761"/>
                </a:solidFill>
                <a:latin typeface=""/>
              </a:rPr>
              <a:t>шатахуунуудын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дундаж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нь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дизелийн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өсөлтийг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далдалж</a:t>
            </a:r>
            <a:r>
              <a:rPr sz="1300" dirty="0">
                <a:solidFill>
                  <a:srgbClr val="1E2761"/>
                </a:solidFill>
                <a:latin typeface=""/>
              </a:rPr>
              <a:t>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байна</a:t>
            </a:r>
            <a:r>
              <a:rPr sz="1300" dirty="0">
                <a:solidFill>
                  <a:srgbClr val="1E2761"/>
                </a:solidFill>
                <a:latin typeface="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2761"/>
                </a:solidFill>
                <a:latin typeface=""/>
              </a:rPr>
              <a:t>8-р </a:t>
            </a:r>
            <a:r>
              <a:rPr sz="1300" dirty="0" err="1">
                <a:solidFill>
                  <a:srgbClr val="1E2761"/>
                </a:solidFill>
                <a:latin typeface=""/>
              </a:rPr>
              <a:t>сарын</a:t>
            </a:r>
            <a:r>
              <a:rPr sz="1300" dirty="0">
                <a:solidFill>
                  <a:srgbClr val="1E2761"/>
                </a:solidFill>
                <a:latin typeface=""/>
              </a:rPr>
              <a:t> 17-ны </a:t>
            </a:r>
            <a:r>
              <a:rPr lang="mn-MN" sz="1300" dirty="0">
                <a:solidFill>
                  <a:srgbClr val="1E2761"/>
                </a:solidFill>
                <a:latin typeface=""/>
              </a:rPr>
              <a:t>байдлаар.</a:t>
            </a:r>
            <a:endParaRPr sz="1300" dirty="0">
              <a:solidFill>
                <a:srgbClr val="1E2761"/>
              </a:solidFill>
              <a:latin typeface=""/>
            </a:endParaRPr>
          </a:p>
        </p:txBody>
      </p:sp>
      <p:graphicFrame>
        <p:nvGraphicFramePr>
          <p:cNvPr id="41" name="Char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773640"/>
              </p:ext>
            </p:extLst>
          </p:nvPr>
        </p:nvGraphicFramePr>
        <p:xfrm>
          <a:off x="6858000" y="3063240"/>
          <a:ext cx="5074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6532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Инфляцын түвшин </a:t>
            </a:r>
            <a:r>
              <a:rPr lang="mn-MN" sz="2400" b="1" dirty="0">
                <a:solidFill>
                  <a:srgbClr val="F6783F"/>
                </a:solidFill>
                <a:latin typeface="Montserrat" pitchFamily="2" charset="0"/>
              </a:rPr>
              <a:t>→ Хүүгийн түвшин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E2F9CA-BA16-44BA-9EA2-7DB42C0936AF}"/>
              </a:ext>
            </a:extLst>
          </p:cNvPr>
          <p:cNvSpPr txBox="1"/>
          <p:nvPr/>
        </p:nvSpPr>
        <p:spPr>
          <a:xfrm>
            <a:off x="5334002" y="6415779"/>
            <a:ext cx="645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хороо, Монголбанк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640080" y="960120"/>
          <a:ext cx="786384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732520" y="1463040"/>
            <a:ext cx="30175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002060"/>
                </a:solidFill>
                <a:latin typeface="Montserrat"/>
              </a:rPr>
              <a:t>Инфляц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13.0%</a:t>
            </a:r>
          </a:p>
          <a:p>
            <a:r>
              <a:rPr sz="1200" b="1" dirty="0" err="1">
                <a:solidFill>
                  <a:srgbClr val="002060"/>
                </a:solidFill>
                <a:latin typeface="Montserrat"/>
              </a:rPr>
              <a:t>Бодлогын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хүү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12.0%</a:t>
            </a:r>
          </a:p>
          <a:p>
            <a:r>
              <a:rPr sz="1200" b="1" dirty="0" err="1">
                <a:solidFill>
                  <a:srgbClr val="002060"/>
                </a:solidFill>
                <a:latin typeface="Montserrat"/>
              </a:rPr>
              <a:t>Бодит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бодлогын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хүү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-1.0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нэгж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хувь</a:t>
            </a:r>
            <a:endParaRPr sz="1200" b="1" dirty="0">
              <a:solidFill>
                <a:srgbClr val="002060"/>
              </a:solidFill>
              <a:latin typeface="Montserrat"/>
            </a:endParaRPr>
          </a:p>
          <a:p>
            <a:r>
              <a:rPr sz="1200" b="1" dirty="0" err="1">
                <a:solidFill>
                  <a:srgbClr val="002060"/>
                </a:solidFill>
                <a:latin typeface="Montserrat"/>
              </a:rPr>
              <a:t>Шинэ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хадгаламжийн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хүү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11.44%</a:t>
            </a:r>
          </a:p>
          <a:p>
            <a:endParaRPr lang="en-US" sz="1200" b="1" dirty="0">
              <a:solidFill>
                <a:srgbClr val="002060"/>
              </a:solidFill>
              <a:latin typeface="Montserrat"/>
            </a:endParaRPr>
          </a:p>
          <a:p>
            <a:r>
              <a:rPr sz="1200" b="1" dirty="0" err="1">
                <a:solidFill>
                  <a:srgbClr val="002060"/>
                </a:solidFill>
                <a:latin typeface="Montserrat"/>
              </a:rPr>
              <a:t>Шинэ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зээлийн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хүү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(₮):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зах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зээл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17.41%,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хөтөлбөр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оруулснаар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17.23%</a:t>
            </a:r>
          </a:p>
          <a:p>
            <a:endParaRPr lang="en-US" sz="1200" b="1" dirty="0">
              <a:solidFill>
                <a:srgbClr val="002060"/>
              </a:solidFill>
              <a:latin typeface="Montserrat"/>
            </a:endParaRPr>
          </a:p>
          <a:p>
            <a:r>
              <a:rPr sz="1200" b="1" dirty="0" err="1">
                <a:solidFill>
                  <a:srgbClr val="002060"/>
                </a:solidFill>
                <a:latin typeface="Montserrat"/>
              </a:rPr>
              <a:t>Инфляц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5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сар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дараалан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өсч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,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бодит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бодлогын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хүү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СӨРӨГ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болов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.</a:t>
            </a:r>
            <a:endParaRPr lang="en-US" sz="1200" b="1" dirty="0">
              <a:solidFill>
                <a:srgbClr val="002060"/>
              </a:solidFill>
              <a:latin typeface="Montserrat"/>
            </a:endParaRPr>
          </a:p>
          <a:p>
            <a:endParaRPr sz="1200" b="1" dirty="0">
              <a:solidFill>
                <a:srgbClr val="002060"/>
              </a:solidFill>
              <a:latin typeface="Montserrat"/>
            </a:endParaRPr>
          </a:p>
          <a:p>
            <a:r>
              <a:rPr sz="1200" b="1" dirty="0" err="1">
                <a:solidFill>
                  <a:srgbClr val="002060"/>
                </a:solidFill>
                <a:latin typeface="Montserrat"/>
              </a:rPr>
              <a:t>Инфляцын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хүлээлт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өрдөх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эрсдэлтэй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;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Төв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банк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бодлогын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хүүгээ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өсгөх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магадлал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002060"/>
                </a:solidFill>
                <a:latin typeface="Montserrat"/>
              </a:rPr>
              <a:t>өндөр</a:t>
            </a:r>
            <a:r>
              <a:rPr sz="1200" b="1" dirty="0">
                <a:solidFill>
                  <a:srgbClr val="002060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807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1800" b="1" dirty="0">
                <a:solidFill>
                  <a:srgbClr val="002060"/>
                </a:solidFill>
                <a:latin typeface="Montserrat" pitchFamily="2" charset="0"/>
              </a:rPr>
              <a:t>Гадаад худалдааны тэнцэл: зэс, нүүрс хоёулаа хүчтэй (7-р сар)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395141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Гаалийн ерөнхий газар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6" y="1188720"/>
            <a:ext cx="4919472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dirty="0">
                <a:latin typeface="Montserrat" pitchFamily="2" charset="0"/>
              </a:rPr>
              <a:t>7-р сарын байдлаар экспорт 57.5%-иар, импорт 10.5%-иар өсөж, худалдааны тэнцлийн ашиг 4.0 дахин нэмэгдэв.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dirty="0">
                <a:latin typeface="Montserrat" pitchFamily="2" charset="0"/>
              </a:rPr>
              <a:t>Тэнцэл 5,048 сая $ (өмнөх онд 1,271 сая $); нийт эргэлт 19,364 сая $.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dirty="0">
                <a:latin typeface="Montserrat" pitchFamily="2" charset="0"/>
              </a:rPr>
              <a:t>Зэсийн баяжмалын экспорт 89.7%-иар өсч 5,461 сая $, нүүрс 59.0%-иар өсч 4,637 сая $ болов.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A5C1B1F-5C8F-4B61-958B-31DF53A96D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8247732"/>
              </p:ext>
            </p:extLst>
          </p:nvPr>
        </p:nvGraphicFramePr>
        <p:xfrm>
          <a:off x="281676" y="3614203"/>
          <a:ext cx="3639235" cy="3035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C06B5CA-653C-4725-BDCF-34288B6A38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0556307"/>
              </p:ext>
            </p:extLst>
          </p:nvPr>
        </p:nvGraphicFramePr>
        <p:xfrm>
          <a:off x="3920911" y="3611418"/>
          <a:ext cx="3526367" cy="3035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F8B3B43-C4BD-485E-82D6-9D797BF321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6235322"/>
              </p:ext>
            </p:extLst>
          </p:nvPr>
        </p:nvGraphicFramePr>
        <p:xfrm>
          <a:off x="281676" y="858593"/>
          <a:ext cx="6719488" cy="2568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21232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A7ABCD1-54BC-4F6E-A38E-71EA9E5734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5267588"/>
              </p:ext>
            </p:extLst>
          </p:nvPr>
        </p:nvGraphicFramePr>
        <p:xfrm>
          <a:off x="6190359" y="2721083"/>
          <a:ext cx="2788920" cy="3687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B1DAF566-FF76-4E8E-890E-8236DC6D5E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631191"/>
              </p:ext>
            </p:extLst>
          </p:nvPr>
        </p:nvGraphicFramePr>
        <p:xfrm>
          <a:off x="3378304" y="2721083"/>
          <a:ext cx="2788920" cy="368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Экспорт, </a:t>
            </a:r>
            <a:r>
              <a:rPr lang="mn-MN" sz="2400" b="1" dirty="0">
                <a:solidFill>
                  <a:srgbClr val="F6783F"/>
                </a:solidFill>
                <a:latin typeface="Montserrat" pitchFamily="2" charset="0"/>
              </a:rPr>
              <a:t>голлох түүхий эдийн биет хэмжээ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D3698C-CC32-4986-AC36-6DE542169E5C}"/>
              </a:ext>
            </a:extLst>
          </p:cNvPr>
          <p:cNvCxnSpPr>
            <a:cxnSpLocks/>
          </p:cNvCxnSpPr>
          <p:nvPr/>
        </p:nvCxnSpPr>
        <p:spPr>
          <a:xfrm>
            <a:off x="6190359" y="2721084"/>
            <a:ext cx="0" cy="368924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518909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Гаалийн ерөнхий газар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52420B9-A304-4F89-8D02-9025FD81F5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3958515"/>
              </p:ext>
            </p:extLst>
          </p:nvPr>
        </p:nvGraphicFramePr>
        <p:xfrm>
          <a:off x="566249" y="2721084"/>
          <a:ext cx="2788920" cy="368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97A1F85-9AA4-48C6-BE88-ACEA2308F0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418495"/>
              </p:ext>
            </p:extLst>
          </p:nvPr>
        </p:nvGraphicFramePr>
        <p:xfrm>
          <a:off x="9002413" y="2721084"/>
          <a:ext cx="2788920" cy="3687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1B68F1-A6F0-4B41-9C1E-CFC7ECC1EC68}"/>
              </a:ext>
            </a:extLst>
          </p:cNvPr>
          <p:cNvCxnSpPr>
            <a:cxnSpLocks/>
          </p:cNvCxnSpPr>
          <p:nvPr/>
        </p:nvCxnSpPr>
        <p:spPr>
          <a:xfrm>
            <a:off x="3341578" y="2721084"/>
            <a:ext cx="0" cy="368924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EA388C-EC9D-4FB5-A278-5F271CDC0479}"/>
              </a:ext>
            </a:extLst>
          </p:cNvPr>
          <p:cNvCxnSpPr>
            <a:cxnSpLocks/>
          </p:cNvCxnSpPr>
          <p:nvPr/>
        </p:nvCxnSpPr>
        <p:spPr>
          <a:xfrm>
            <a:off x="9011047" y="2721084"/>
            <a:ext cx="0" cy="368924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4F48D2B-9842-C1BB-E21F-50A9E218E1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465807"/>
              </p:ext>
            </p:extLst>
          </p:nvPr>
        </p:nvGraphicFramePr>
        <p:xfrm>
          <a:off x="321272" y="886040"/>
          <a:ext cx="11210400" cy="1650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" name="Google Shape;3329;p78">
            <a:extLst>
              <a:ext uri="{FF2B5EF4-FFF2-40B4-BE49-F238E27FC236}">
                <a16:creationId xmlns:a16="http://schemas.microsoft.com/office/drawing/2014/main" id="{1ACC1107-B58F-DD11-11F5-B02AE8FBD455}"/>
              </a:ext>
            </a:extLst>
          </p:cNvPr>
          <p:cNvSpPr/>
          <p:nvPr/>
        </p:nvSpPr>
        <p:spPr>
          <a:xfrm>
            <a:off x="582819" y="1711345"/>
            <a:ext cx="612844" cy="279317"/>
          </a:xfrm>
          <a:custGeom>
            <a:avLst/>
            <a:gdLst/>
            <a:ahLst/>
            <a:cxnLst/>
            <a:rect l="l" t="t" r="r" b="b"/>
            <a:pathLst>
              <a:path w="17786" h="8392" extrusionOk="0">
                <a:moveTo>
                  <a:pt x="5232" y="1"/>
                </a:moveTo>
                <a:lnTo>
                  <a:pt x="5169" y="85"/>
                </a:lnTo>
                <a:lnTo>
                  <a:pt x="5169" y="147"/>
                </a:lnTo>
                <a:lnTo>
                  <a:pt x="5190" y="252"/>
                </a:lnTo>
                <a:lnTo>
                  <a:pt x="5169" y="336"/>
                </a:lnTo>
                <a:lnTo>
                  <a:pt x="5085" y="336"/>
                </a:lnTo>
                <a:lnTo>
                  <a:pt x="5002" y="357"/>
                </a:lnTo>
                <a:lnTo>
                  <a:pt x="4918" y="461"/>
                </a:lnTo>
                <a:lnTo>
                  <a:pt x="4918" y="545"/>
                </a:lnTo>
                <a:lnTo>
                  <a:pt x="4813" y="670"/>
                </a:lnTo>
                <a:lnTo>
                  <a:pt x="4813" y="963"/>
                </a:lnTo>
                <a:lnTo>
                  <a:pt x="4855" y="1089"/>
                </a:lnTo>
                <a:lnTo>
                  <a:pt x="5023" y="1152"/>
                </a:lnTo>
                <a:lnTo>
                  <a:pt x="5085" y="1214"/>
                </a:lnTo>
                <a:lnTo>
                  <a:pt x="5190" y="1256"/>
                </a:lnTo>
                <a:lnTo>
                  <a:pt x="5211" y="1340"/>
                </a:lnTo>
                <a:lnTo>
                  <a:pt x="5190" y="1507"/>
                </a:lnTo>
                <a:lnTo>
                  <a:pt x="5190" y="1696"/>
                </a:lnTo>
                <a:lnTo>
                  <a:pt x="5295" y="1779"/>
                </a:lnTo>
                <a:lnTo>
                  <a:pt x="5378" y="1863"/>
                </a:lnTo>
                <a:lnTo>
                  <a:pt x="5232" y="2010"/>
                </a:lnTo>
                <a:lnTo>
                  <a:pt x="5043" y="2030"/>
                </a:lnTo>
                <a:lnTo>
                  <a:pt x="4960" y="2010"/>
                </a:lnTo>
                <a:lnTo>
                  <a:pt x="4918" y="2072"/>
                </a:lnTo>
                <a:lnTo>
                  <a:pt x="4813" y="2072"/>
                </a:lnTo>
                <a:lnTo>
                  <a:pt x="4709" y="2010"/>
                </a:lnTo>
                <a:lnTo>
                  <a:pt x="4479" y="2010"/>
                </a:lnTo>
                <a:lnTo>
                  <a:pt x="4374" y="2030"/>
                </a:lnTo>
                <a:lnTo>
                  <a:pt x="4290" y="1989"/>
                </a:lnTo>
                <a:lnTo>
                  <a:pt x="4186" y="1968"/>
                </a:lnTo>
                <a:lnTo>
                  <a:pt x="4081" y="1968"/>
                </a:lnTo>
                <a:lnTo>
                  <a:pt x="3955" y="2072"/>
                </a:lnTo>
                <a:lnTo>
                  <a:pt x="3851" y="2093"/>
                </a:lnTo>
                <a:lnTo>
                  <a:pt x="3767" y="2135"/>
                </a:lnTo>
                <a:lnTo>
                  <a:pt x="3558" y="2030"/>
                </a:lnTo>
                <a:lnTo>
                  <a:pt x="3453" y="1968"/>
                </a:lnTo>
                <a:lnTo>
                  <a:pt x="3181" y="1800"/>
                </a:lnTo>
                <a:lnTo>
                  <a:pt x="3139" y="1717"/>
                </a:lnTo>
                <a:lnTo>
                  <a:pt x="3118" y="1612"/>
                </a:lnTo>
                <a:lnTo>
                  <a:pt x="3077" y="1549"/>
                </a:lnTo>
                <a:lnTo>
                  <a:pt x="2888" y="1549"/>
                </a:lnTo>
                <a:lnTo>
                  <a:pt x="2805" y="1591"/>
                </a:lnTo>
                <a:lnTo>
                  <a:pt x="2700" y="1591"/>
                </a:lnTo>
                <a:lnTo>
                  <a:pt x="2658" y="1612"/>
                </a:lnTo>
                <a:lnTo>
                  <a:pt x="2512" y="1612"/>
                </a:lnTo>
                <a:lnTo>
                  <a:pt x="2470" y="1549"/>
                </a:lnTo>
                <a:lnTo>
                  <a:pt x="2428" y="1486"/>
                </a:lnTo>
                <a:lnTo>
                  <a:pt x="2365" y="1382"/>
                </a:lnTo>
                <a:lnTo>
                  <a:pt x="2344" y="1382"/>
                </a:lnTo>
                <a:lnTo>
                  <a:pt x="2261" y="1445"/>
                </a:lnTo>
                <a:lnTo>
                  <a:pt x="2030" y="1445"/>
                </a:lnTo>
                <a:lnTo>
                  <a:pt x="1905" y="1466"/>
                </a:lnTo>
                <a:lnTo>
                  <a:pt x="1717" y="1486"/>
                </a:lnTo>
                <a:lnTo>
                  <a:pt x="1633" y="1549"/>
                </a:lnTo>
                <a:lnTo>
                  <a:pt x="1549" y="1675"/>
                </a:lnTo>
                <a:lnTo>
                  <a:pt x="1466" y="1717"/>
                </a:lnTo>
                <a:lnTo>
                  <a:pt x="1298" y="1675"/>
                </a:lnTo>
                <a:lnTo>
                  <a:pt x="1256" y="1717"/>
                </a:lnTo>
                <a:lnTo>
                  <a:pt x="1256" y="1800"/>
                </a:lnTo>
                <a:lnTo>
                  <a:pt x="1319" y="1863"/>
                </a:lnTo>
                <a:lnTo>
                  <a:pt x="1256" y="1884"/>
                </a:lnTo>
                <a:lnTo>
                  <a:pt x="1193" y="2010"/>
                </a:lnTo>
                <a:lnTo>
                  <a:pt x="1110" y="2030"/>
                </a:lnTo>
                <a:lnTo>
                  <a:pt x="1005" y="2114"/>
                </a:lnTo>
                <a:lnTo>
                  <a:pt x="1005" y="2198"/>
                </a:lnTo>
                <a:lnTo>
                  <a:pt x="838" y="2282"/>
                </a:lnTo>
                <a:lnTo>
                  <a:pt x="817" y="2386"/>
                </a:lnTo>
                <a:lnTo>
                  <a:pt x="796" y="2512"/>
                </a:lnTo>
                <a:lnTo>
                  <a:pt x="608" y="2554"/>
                </a:lnTo>
                <a:lnTo>
                  <a:pt x="503" y="2658"/>
                </a:lnTo>
                <a:lnTo>
                  <a:pt x="482" y="2742"/>
                </a:lnTo>
                <a:lnTo>
                  <a:pt x="210" y="2721"/>
                </a:lnTo>
                <a:lnTo>
                  <a:pt x="105" y="2763"/>
                </a:lnTo>
                <a:lnTo>
                  <a:pt x="1" y="2972"/>
                </a:lnTo>
                <a:lnTo>
                  <a:pt x="1" y="3014"/>
                </a:lnTo>
                <a:lnTo>
                  <a:pt x="43" y="3056"/>
                </a:lnTo>
                <a:lnTo>
                  <a:pt x="43" y="3181"/>
                </a:lnTo>
                <a:lnTo>
                  <a:pt x="64" y="3223"/>
                </a:lnTo>
                <a:lnTo>
                  <a:pt x="105" y="3286"/>
                </a:lnTo>
                <a:lnTo>
                  <a:pt x="147" y="3286"/>
                </a:lnTo>
                <a:lnTo>
                  <a:pt x="147" y="3244"/>
                </a:lnTo>
                <a:lnTo>
                  <a:pt x="168" y="3244"/>
                </a:lnTo>
                <a:lnTo>
                  <a:pt x="189" y="3286"/>
                </a:lnTo>
                <a:lnTo>
                  <a:pt x="189" y="3370"/>
                </a:lnTo>
                <a:lnTo>
                  <a:pt x="210" y="3453"/>
                </a:lnTo>
                <a:lnTo>
                  <a:pt x="294" y="3495"/>
                </a:lnTo>
                <a:lnTo>
                  <a:pt x="336" y="3537"/>
                </a:lnTo>
                <a:lnTo>
                  <a:pt x="461" y="3642"/>
                </a:lnTo>
                <a:lnTo>
                  <a:pt x="566" y="3704"/>
                </a:lnTo>
                <a:lnTo>
                  <a:pt x="629" y="3788"/>
                </a:lnTo>
                <a:lnTo>
                  <a:pt x="629" y="3851"/>
                </a:lnTo>
                <a:lnTo>
                  <a:pt x="670" y="3914"/>
                </a:lnTo>
                <a:lnTo>
                  <a:pt x="796" y="3997"/>
                </a:lnTo>
                <a:lnTo>
                  <a:pt x="838" y="3997"/>
                </a:lnTo>
                <a:lnTo>
                  <a:pt x="859" y="3914"/>
                </a:lnTo>
                <a:lnTo>
                  <a:pt x="901" y="3872"/>
                </a:lnTo>
                <a:lnTo>
                  <a:pt x="1026" y="3809"/>
                </a:lnTo>
                <a:lnTo>
                  <a:pt x="1131" y="3809"/>
                </a:lnTo>
                <a:lnTo>
                  <a:pt x="1152" y="3872"/>
                </a:lnTo>
                <a:lnTo>
                  <a:pt x="1235" y="3976"/>
                </a:lnTo>
                <a:lnTo>
                  <a:pt x="1319" y="3997"/>
                </a:lnTo>
                <a:lnTo>
                  <a:pt x="1361" y="3976"/>
                </a:lnTo>
                <a:lnTo>
                  <a:pt x="1424" y="3914"/>
                </a:lnTo>
                <a:lnTo>
                  <a:pt x="1528" y="3914"/>
                </a:lnTo>
                <a:lnTo>
                  <a:pt x="1612" y="3955"/>
                </a:lnTo>
                <a:lnTo>
                  <a:pt x="1654" y="4018"/>
                </a:lnTo>
                <a:lnTo>
                  <a:pt x="1738" y="4060"/>
                </a:lnTo>
                <a:lnTo>
                  <a:pt x="1842" y="4123"/>
                </a:lnTo>
                <a:lnTo>
                  <a:pt x="1884" y="4207"/>
                </a:lnTo>
                <a:lnTo>
                  <a:pt x="1905" y="4311"/>
                </a:lnTo>
                <a:lnTo>
                  <a:pt x="1947" y="4416"/>
                </a:lnTo>
                <a:lnTo>
                  <a:pt x="1989" y="4499"/>
                </a:lnTo>
                <a:lnTo>
                  <a:pt x="2051" y="4604"/>
                </a:lnTo>
                <a:lnTo>
                  <a:pt x="2135" y="4646"/>
                </a:lnTo>
                <a:lnTo>
                  <a:pt x="2198" y="4709"/>
                </a:lnTo>
                <a:lnTo>
                  <a:pt x="2282" y="4834"/>
                </a:lnTo>
                <a:lnTo>
                  <a:pt x="2344" y="4897"/>
                </a:lnTo>
                <a:lnTo>
                  <a:pt x="2344" y="5023"/>
                </a:lnTo>
                <a:lnTo>
                  <a:pt x="2302" y="5106"/>
                </a:lnTo>
                <a:lnTo>
                  <a:pt x="2344" y="5232"/>
                </a:lnTo>
                <a:lnTo>
                  <a:pt x="2407" y="5315"/>
                </a:lnTo>
                <a:lnTo>
                  <a:pt x="2365" y="5420"/>
                </a:lnTo>
                <a:lnTo>
                  <a:pt x="2282" y="5483"/>
                </a:lnTo>
                <a:lnTo>
                  <a:pt x="2261" y="5546"/>
                </a:lnTo>
                <a:lnTo>
                  <a:pt x="2261" y="5629"/>
                </a:lnTo>
                <a:lnTo>
                  <a:pt x="2282" y="5734"/>
                </a:lnTo>
                <a:lnTo>
                  <a:pt x="2407" y="5901"/>
                </a:lnTo>
                <a:lnTo>
                  <a:pt x="2512" y="5985"/>
                </a:lnTo>
                <a:lnTo>
                  <a:pt x="3098" y="6111"/>
                </a:lnTo>
                <a:lnTo>
                  <a:pt x="3349" y="6090"/>
                </a:lnTo>
                <a:lnTo>
                  <a:pt x="3516" y="6090"/>
                </a:lnTo>
                <a:lnTo>
                  <a:pt x="3558" y="6048"/>
                </a:lnTo>
                <a:lnTo>
                  <a:pt x="3600" y="6048"/>
                </a:lnTo>
                <a:lnTo>
                  <a:pt x="3976" y="6111"/>
                </a:lnTo>
                <a:lnTo>
                  <a:pt x="4165" y="6257"/>
                </a:lnTo>
                <a:lnTo>
                  <a:pt x="4227" y="6299"/>
                </a:lnTo>
                <a:lnTo>
                  <a:pt x="4332" y="6320"/>
                </a:lnTo>
                <a:lnTo>
                  <a:pt x="4437" y="6320"/>
                </a:lnTo>
                <a:lnTo>
                  <a:pt x="4646" y="6487"/>
                </a:lnTo>
                <a:lnTo>
                  <a:pt x="4792" y="6571"/>
                </a:lnTo>
                <a:lnTo>
                  <a:pt x="5023" y="6571"/>
                </a:lnTo>
                <a:lnTo>
                  <a:pt x="5043" y="6675"/>
                </a:lnTo>
                <a:lnTo>
                  <a:pt x="5085" y="6738"/>
                </a:lnTo>
                <a:lnTo>
                  <a:pt x="5127" y="6738"/>
                </a:lnTo>
                <a:lnTo>
                  <a:pt x="5211" y="6780"/>
                </a:lnTo>
                <a:lnTo>
                  <a:pt x="5315" y="6885"/>
                </a:lnTo>
                <a:lnTo>
                  <a:pt x="5315" y="6948"/>
                </a:lnTo>
                <a:lnTo>
                  <a:pt x="5378" y="7115"/>
                </a:lnTo>
                <a:lnTo>
                  <a:pt x="5483" y="7240"/>
                </a:lnTo>
                <a:lnTo>
                  <a:pt x="5608" y="7408"/>
                </a:lnTo>
                <a:lnTo>
                  <a:pt x="5650" y="7533"/>
                </a:lnTo>
                <a:lnTo>
                  <a:pt x="5797" y="7784"/>
                </a:lnTo>
                <a:lnTo>
                  <a:pt x="5901" y="7826"/>
                </a:lnTo>
                <a:lnTo>
                  <a:pt x="6006" y="7784"/>
                </a:lnTo>
                <a:lnTo>
                  <a:pt x="6236" y="7764"/>
                </a:lnTo>
                <a:lnTo>
                  <a:pt x="6487" y="7784"/>
                </a:lnTo>
                <a:lnTo>
                  <a:pt x="6843" y="7764"/>
                </a:lnTo>
                <a:lnTo>
                  <a:pt x="7324" y="7826"/>
                </a:lnTo>
                <a:lnTo>
                  <a:pt x="7596" y="7784"/>
                </a:lnTo>
                <a:lnTo>
                  <a:pt x="7784" y="7722"/>
                </a:lnTo>
                <a:lnTo>
                  <a:pt x="7826" y="7659"/>
                </a:lnTo>
                <a:lnTo>
                  <a:pt x="7889" y="7617"/>
                </a:lnTo>
                <a:lnTo>
                  <a:pt x="7952" y="7638"/>
                </a:lnTo>
                <a:lnTo>
                  <a:pt x="8328" y="7638"/>
                </a:lnTo>
                <a:lnTo>
                  <a:pt x="8747" y="7659"/>
                </a:lnTo>
                <a:lnTo>
                  <a:pt x="8872" y="7680"/>
                </a:lnTo>
                <a:lnTo>
                  <a:pt x="9082" y="7868"/>
                </a:lnTo>
                <a:lnTo>
                  <a:pt x="9458" y="8036"/>
                </a:lnTo>
                <a:lnTo>
                  <a:pt x="9814" y="8161"/>
                </a:lnTo>
                <a:lnTo>
                  <a:pt x="9981" y="8182"/>
                </a:lnTo>
                <a:lnTo>
                  <a:pt x="10191" y="8287"/>
                </a:lnTo>
                <a:lnTo>
                  <a:pt x="10358" y="8266"/>
                </a:lnTo>
                <a:lnTo>
                  <a:pt x="10630" y="8182"/>
                </a:lnTo>
                <a:lnTo>
                  <a:pt x="10651" y="8287"/>
                </a:lnTo>
                <a:lnTo>
                  <a:pt x="10651" y="8349"/>
                </a:lnTo>
                <a:lnTo>
                  <a:pt x="10797" y="8391"/>
                </a:lnTo>
                <a:lnTo>
                  <a:pt x="10944" y="8391"/>
                </a:lnTo>
                <a:lnTo>
                  <a:pt x="11049" y="8287"/>
                </a:lnTo>
                <a:lnTo>
                  <a:pt x="11300" y="8098"/>
                </a:lnTo>
                <a:lnTo>
                  <a:pt x="11467" y="7931"/>
                </a:lnTo>
                <a:lnTo>
                  <a:pt x="11781" y="7826"/>
                </a:lnTo>
                <a:lnTo>
                  <a:pt x="12199" y="7659"/>
                </a:lnTo>
                <a:lnTo>
                  <a:pt x="12367" y="7617"/>
                </a:lnTo>
                <a:lnTo>
                  <a:pt x="12555" y="7554"/>
                </a:lnTo>
                <a:lnTo>
                  <a:pt x="12806" y="7533"/>
                </a:lnTo>
                <a:lnTo>
                  <a:pt x="12953" y="7533"/>
                </a:lnTo>
                <a:lnTo>
                  <a:pt x="13120" y="7408"/>
                </a:lnTo>
                <a:lnTo>
                  <a:pt x="13266" y="7303"/>
                </a:lnTo>
                <a:lnTo>
                  <a:pt x="13392" y="7303"/>
                </a:lnTo>
                <a:lnTo>
                  <a:pt x="13580" y="7240"/>
                </a:lnTo>
                <a:lnTo>
                  <a:pt x="13685" y="7240"/>
                </a:lnTo>
                <a:lnTo>
                  <a:pt x="13769" y="7031"/>
                </a:lnTo>
                <a:lnTo>
                  <a:pt x="13894" y="6801"/>
                </a:lnTo>
                <a:lnTo>
                  <a:pt x="14166" y="6508"/>
                </a:lnTo>
                <a:lnTo>
                  <a:pt x="14229" y="6403"/>
                </a:lnTo>
                <a:lnTo>
                  <a:pt x="14292" y="6299"/>
                </a:lnTo>
                <a:lnTo>
                  <a:pt x="14292" y="6215"/>
                </a:lnTo>
                <a:lnTo>
                  <a:pt x="14062" y="6090"/>
                </a:lnTo>
                <a:lnTo>
                  <a:pt x="13790" y="5901"/>
                </a:lnTo>
                <a:lnTo>
                  <a:pt x="13810" y="5839"/>
                </a:lnTo>
                <a:lnTo>
                  <a:pt x="13790" y="5692"/>
                </a:lnTo>
                <a:lnTo>
                  <a:pt x="13790" y="5462"/>
                </a:lnTo>
                <a:lnTo>
                  <a:pt x="13894" y="5336"/>
                </a:lnTo>
                <a:lnTo>
                  <a:pt x="14020" y="5232"/>
                </a:lnTo>
                <a:lnTo>
                  <a:pt x="14229" y="5169"/>
                </a:lnTo>
                <a:lnTo>
                  <a:pt x="14396" y="5211"/>
                </a:lnTo>
                <a:lnTo>
                  <a:pt x="14522" y="5274"/>
                </a:lnTo>
                <a:lnTo>
                  <a:pt x="14710" y="5357"/>
                </a:lnTo>
                <a:lnTo>
                  <a:pt x="14836" y="5378"/>
                </a:lnTo>
                <a:lnTo>
                  <a:pt x="14961" y="5441"/>
                </a:lnTo>
                <a:lnTo>
                  <a:pt x="15024" y="5441"/>
                </a:lnTo>
                <a:lnTo>
                  <a:pt x="15045" y="5336"/>
                </a:lnTo>
                <a:lnTo>
                  <a:pt x="15129" y="5253"/>
                </a:lnTo>
                <a:lnTo>
                  <a:pt x="15254" y="5148"/>
                </a:lnTo>
                <a:lnTo>
                  <a:pt x="15359" y="5064"/>
                </a:lnTo>
                <a:lnTo>
                  <a:pt x="15463" y="4855"/>
                </a:lnTo>
                <a:lnTo>
                  <a:pt x="15547" y="4813"/>
                </a:lnTo>
                <a:lnTo>
                  <a:pt x="15673" y="4834"/>
                </a:lnTo>
                <a:lnTo>
                  <a:pt x="15840" y="4834"/>
                </a:lnTo>
                <a:lnTo>
                  <a:pt x="16070" y="4646"/>
                </a:lnTo>
                <a:lnTo>
                  <a:pt x="16196" y="4625"/>
                </a:lnTo>
                <a:lnTo>
                  <a:pt x="16259" y="4541"/>
                </a:lnTo>
                <a:lnTo>
                  <a:pt x="16259" y="4437"/>
                </a:lnTo>
                <a:lnTo>
                  <a:pt x="16279" y="4269"/>
                </a:lnTo>
                <a:lnTo>
                  <a:pt x="16384" y="4102"/>
                </a:lnTo>
                <a:lnTo>
                  <a:pt x="16426" y="4018"/>
                </a:lnTo>
                <a:lnTo>
                  <a:pt x="16489" y="4060"/>
                </a:lnTo>
                <a:lnTo>
                  <a:pt x="16551" y="4018"/>
                </a:lnTo>
                <a:lnTo>
                  <a:pt x="16614" y="3976"/>
                </a:lnTo>
                <a:lnTo>
                  <a:pt x="16614" y="3872"/>
                </a:lnTo>
                <a:lnTo>
                  <a:pt x="16677" y="3851"/>
                </a:lnTo>
                <a:lnTo>
                  <a:pt x="16782" y="3914"/>
                </a:lnTo>
                <a:lnTo>
                  <a:pt x="16844" y="3872"/>
                </a:lnTo>
                <a:lnTo>
                  <a:pt x="17012" y="3746"/>
                </a:lnTo>
                <a:lnTo>
                  <a:pt x="17116" y="3600"/>
                </a:lnTo>
                <a:lnTo>
                  <a:pt x="17221" y="3579"/>
                </a:lnTo>
                <a:lnTo>
                  <a:pt x="17367" y="3662"/>
                </a:lnTo>
                <a:lnTo>
                  <a:pt x="17451" y="3600"/>
                </a:lnTo>
                <a:lnTo>
                  <a:pt x="17556" y="3579"/>
                </a:lnTo>
                <a:lnTo>
                  <a:pt x="17598" y="3642"/>
                </a:lnTo>
                <a:lnTo>
                  <a:pt x="17723" y="3662"/>
                </a:lnTo>
                <a:lnTo>
                  <a:pt x="17744" y="3579"/>
                </a:lnTo>
                <a:lnTo>
                  <a:pt x="17744" y="3495"/>
                </a:lnTo>
                <a:lnTo>
                  <a:pt x="17786" y="3453"/>
                </a:lnTo>
                <a:lnTo>
                  <a:pt x="17786" y="3349"/>
                </a:lnTo>
                <a:lnTo>
                  <a:pt x="17765" y="3265"/>
                </a:lnTo>
                <a:lnTo>
                  <a:pt x="17744" y="3160"/>
                </a:lnTo>
                <a:lnTo>
                  <a:pt x="17535" y="3014"/>
                </a:lnTo>
                <a:lnTo>
                  <a:pt x="17367" y="2805"/>
                </a:lnTo>
                <a:lnTo>
                  <a:pt x="17158" y="2616"/>
                </a:lnTo>
                <a:lnTo>
                  <a:pt x="17012" y="2428"/>
                </a:lnTo>
                <a:lnTo>
                  <a:pt x="16740" y="2344"/>
                </a:lnTo>
                <a:lnTo>
                  <a:pt x="16698" y="2407"/>
                </a:lnTo>
                <a:lnTo>
                  <a:pt x="16531" y="2449"/>
                </a:lnTo>
                <a:lnTo>
                  <a:pt x="16531" y="2554"/>
                </a:lnTo>
                <a:lnTo>
                  <a:pt x="16531" y="2700"/>
                </a:lnTo>
                <a:lnTo>
                  <a:pt x="16405" y="2909"/>
                </a:lnTo>
                <a:lnTo>
                  <a:pt x="16300" y="2805"/>
                </a:lnTo>
                <a:lnTo>
                  <a:pt x="16028" y="2742"/>
                </a:lnTo>
                <a:lnTo>
                  <a:pt x="15798" y="2742"/>
                </a:lnTo>
                <a:lnTo>
                  <a:pt x="15631" y="2909"/>
                </a:lnTo>
                <a:lnTo>
                  <a:pt x="15359" y="2763"/>
                </a:lnTo>
                <a:lnTo>
                  <a:pt x="15254" y="2595"/>
                </a:lnTo>
                <a:lnTo>
                  <a:pt x="15338" y="2323"/>
                </a:lnTo>
                <a:lnTo>
                  <a:pt x="15317" y="2219"/>
                </a:lnTo>
                <a:lnTo>
                  <a:pt x="15359" y="2030"/>
                </a:lnTo>
                <a:lnTo>
                  <a:pt x="15338" y="1863"/>
                </a:lnTo>
                <a:lnTo>
                  <a:pt x="15463" y="963"/>
                </a:lnTo>
                <a:lnTo>
                  <a:pt x="15463" y="942"/>
                </a:lnTo>
                <a:lnTo>
                  <a:pt x="15422" y="880"/>
                </a:lnTo>
                <a:lnTo>
                  <a:pt x="15212" y="838"/>
                </a:lnTo>
                <a:lnTo>
                  <a:pt x="14982" y="859"/>
                </a:lnTo>
                <a:lnTo>
                  <a:pt x="14982" y="922"/>
                </a:lnTo>
                <a:lnTo>
                  <a:pt x="14857" y="984"/>
                </a:lnTo>
                <a:lnTo>
                  <a:pt x="14752" y="984"/>
                </a:lnTo>
                <a:lnTo>
                  <a:pt x="14710" y="942"/>
                </a:lnTo>
                <a:lnTo>
                  <a:pt x="14606" y="1026"/>
                </a:lnTo>
                <a:lnTo>
                  <a:pt x="14501" y="963"/>
                </a:lnTo>
                <a:lnTo>
                  <a:pt x="14438" y="880"/>
                </a:lnTo>
                <a:lnTo>
                  <a:pt x="14313" y="775"/>
                </a:lnTo>
                <a:lnTo>
                  <a:pt x="14208" y="775"/>
                </a:lnTo>
                <a:lnTo>
                  <a:pt x="14020" y="838"/>
                </a:lnTo>
                <a:lnTo>
                  <a:pt x="13999" y="775"/>
                </a:lnTo>
                <a:lnTo>
                  <a:pt x="13894" y="775"/>
                </a:lnTo>
                <a:lnTo>
                  <a:pt x="13790" y="859"/>
                </a:lnTo>
                <a:lnTo>
                  <a:pt x="13769" y="984"/>
                </a:lnTo>
                <a:lnTo>
                  <a:pt x="13685" y="1068"/>
                </a:lnTo>
                <a:lnTo>
                  <a:pt x="13559" y="1131"/>
                </a:lnTo>
                <a:lnTo>
                  <a:pt x="13476" y="1256"/>
                </a:lnTo>
                <a:lnTo>
                  <a:pt x="13476" y="1298"/>
                </a:lnTo>
                <a:lnTo>
                  <a:pt x="13455" y="1403"/>
                </a:lnTo>
                <a:lnTo>
                  <a:pt x="13350" y="1507"/>
                </a:lnTo>
                <a:lnTo>
                  <a:pt x="12973" y="1507"/>
                </a:lnTo>
                <a:lnTo>
                  <a:pt x="12869" y="1612"/>
                </a:lnTo>
                <a:lnTo>
                  <a:pt x="12743" y="1612"/>
                </a:lnTo>
                <a:lnTo>
                  <a:pt x="12534" y="1758"/>
                </a:lnTo>
                <a:lnTo>
                  <a:pt x="12429" y="1905"/>
                </a:lnTo>
                <a:lnTo>
                  <a:pt x="12367" y="1905"/>
                </a:lnTo>
                <a:lnTo>
                  <a:pt x="12283" y="1863"/>
                </a:lnTo>
                <a:lnTo>
                  <a:pt x="12137" y="1863"/>
                </a:lnTo>
                <a:lnTo>
                  <a:pt x="12095" y="1884"/>
                </a:lnTo>
                <a:lnTo>
                  <a:pt x="11927" y="1905"/>
                </a:lnTo>
                <a:lnTo>
                  <a:pt x="11593" y="1905"/>
                </a:lnTo>
                <a:lnTo>
                  <a:pt x="11362" y="1863"/>
                </a:lnTo>
                <a:lnTo>
                  <a:pt x="11090" y="1884"/>
                </a:lnTo>
                <a:lnTo>
                  <a:pt x="11028" y="1884"/>
                </a:lnTo>
                <a:lnTo>
                  <a:pt x="10923" y="1758"/>
                </a:lnTo>
                <a:lnTo>
                  <a:pt x="10839" y="1758"/>
                </a:lnTo>
                <a:lnTo>
                  <a:pt x="10756" y="1696"/>
                </a:lnTo>
                <a:lnTo>
                  <a:pt x="10651" y="1612"/>
                </a:lnTo>
                <a:lnTo>
                  <a:pt x="10609" y="1445"/>
                </a:lnTo>
                <a:lnTo>
                  <a:pt x="10525" y="1382"/>
                </a:lnTo>
                <a:lnTo>
                  <a:pt x="10421" y="1403"/>
                </a:lnTo>
                <a:lnTo>
                  <a:pt x="10232" y="1403"/>
                </a:lnTo>
                <a:lnTo>
                  <a:pt x="10044" y="1340"/>
                </a:lnTo>
                <a:lnTo>
                  <a:pt x="9919" y="1173"/>
                </a:lnTo>
                <a:lnTo>
                  <a:pt x="9521" y="1173"/>
                </a:lnTo>
                <a:lnTo>
                  <a:pt x="9396" y="1089"/>
                </a:lnTo>
                <a:lnTo>
                  <a:pt x="9270" y="1131"/>
                </a:lnTo>
                <a:lnTo>
                  <a:pt x="9103" y="1152"/>
                </a:lnTo>
                <a:lnTo>
                  <a:pt x="8977" y="1194"/>
                </a:lnTo>
                <a:lnTo>
                  <a:pt x="8768" y="1214"/>
                </a:lnTo>
                <a:lnTo>
                  <a:pt x="8580" y="1277"/>
                </a:lnTo>
                <a:lnTo>
                  <a:pt x="8517" y="1382"/>
                </a:lnTo>
                <a:lnTo>
                  <a:pt x="8433" y="1403"/>
                </a:lnTo>
                <a:lnTo>
                  <a:pt x="8349" y="1382"/>
                </a:lnTo>
                <a:lnTo>
                  <a:pt x="8266" y="1382"/>
                </a:lnTo>
                <a:lnTo>
                  <a:pt x="8182" y="1445"/>
                </a:lnTo>
                <a:lnTo>
                  <a:pt x="8015" y="1445"/>
                </a:lnTo>
                <a:lnTo>
                  <a:pt x="7952" y="1466"/>
                </a:lnTo>
                <a:lnTo>
                  <a:pt x="7889" y="1466"/>
                </a:lnTo>
                <a:lnTo>
                  <a:pt x="7722" y="1361"/>
                </a:lnTo>
                <a:lnTo>
                  <a:pt x="7533" y="1340"/>
                </a:lnTo>
                <a:lnTo>
                  <a:pt x="7512" y="1256"/>
                </a:lnTo>
                <a:lnTo>
                  <a:pt x="7387" y="1152"/>
                </a:lnTo>
                <a:lnTo>
                  <a:pt x="7324" y="1152"/>
                </a:lnTo>
                <a:lnTo>
                  <a:pt x="7261" y="1089"/>
                </a:lnTo>
                <a:lnTo>
                  <a:pt x="7261" y="984"/>
                </a:lnTo>
                <a:lnTo>
                  <a:pt x="7199" y="859"/>
                </a:lnTo>
                <a:lnTo>
                  <a:pt x="7136" y="817"/>
                </a:lnTo>
                <a:lnTo>
                  <a:pt x="7136" y="691"/>
                </a:lnTo>
                <a:lnTo>
                  <a:pt x="7094" y="629"/>
                </a:lnTo>
                <a:lnTo>
                  <a:pt x="7094" y="566"/>
                </a:lnTo>
                <a:lnTo>
                  <a:pt x="7052" y="461"/>
                </a:lnTo>
                <a:lnTo>
                  <a:pt x="6947" y="440"/>
                </a:lnTo>
                <a:lnTo>
                  <a:pt x="6696" y="440"/>
                </a:lnTo>
                <a:lnTo>
                  <a:pt x="6592" y="419"/>
                </a:lnTo>
                <a:lnTo>
                  <a:pt x="6529" y="398"/>
                </a:lnTo>
                <a:lnTo>
                  <a:pt x="6383" y="357"/>
                </a:lnTo>
                <a:lnTo>
                  <a:pt x="6341" y="315"/>
                </a:lnTo>
                <a:lnTo>
                  <a:pt x="6257" y="252"/>
                </a:lnTo>
                <a:lnTo>
                  <a:pt x="5901" y="252"/>
                </a:lnTo>
                <a:lnTo>
                  <a:pt x="5755" y="210"/>
                </a:lnTo>
                <a:lnTo>
                  <a:pt x="5734" y="168"/>
                </a:lnTo>
                <a:lnTo>
                  <a:pt x="5567" y="105"/>
                </a:lnTo>
                <a:lnTo>
                  <a:pt x="5441" y="43"/>
                </a:lnTo>
                <a:lnTo>
                  <a:pt x="5378" y="1"/>
                </a:lnTo>
                <a:close/>
              </a:path>
            </a:pathLst>
          </a:custGeom>
          <a:solidFill>
            <a:srgbClr val="FCFCF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324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Экспорт, түүхий эдийн хилийн үнэ (7-р сар)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510557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Гаалийн ерөнхий газар</a:t>
            </a: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461000809"/>
              </p:ext>
            </p:extLst>
          </p:nvPr>
        </p:nvGraphicFramePr>
        <p:xfrm>
          <a:off x="109728" y="1051560"/>
          <a:ext cx="2743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318209897"/>
              </p:ext>
            </p:extLst>
          </p:nvPr>
        </p:nvGraphicFramePr>
        <p:xfrm>
          <a:off x="2962656" y="1051560"/>
          <a:ext cx="2743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56591419"/>
              </p:ext>
            </p:extLst>
          </p:nvPr>
        </p:nvGraphicFramePr>
        <p:xfrm>
          <a:off x="5815584" y="1051560"/>
          <a:ext cx="2743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668511" y="1051560"/>
          <a:ext cx="2743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271327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27B64B6-A7E6-4E9B-B97A-20D956DCDCBC}"/>
              </a:ext>
            </a:extLst>
          </p:cNvPr>
          <p:cNvGraphicFramePr/>
          <p:nvPr/>
        </p:nvGraphicFramePr>
        <p:xfrm>
          <a:off x="569857" y="856169"/>
          <a:ext cx="5440680" cy="5312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Төлбөрийн тэнцэл: 2026 оны эхний хагаст ашигтай эргэв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395141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МонголБанк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0537" y="1513872"/>
            <a:ext cx="5699759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I–VI сарын байдлаар төлбөрийн тэнцэл 566.6 сая ам.долларын ашигтай гарлаа (өмнөх оны мөн үед -450.1).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Урсгал данс 207.2 сая $ — 2024, 2025 оны их хэмжээний алдагдлаас эргэв; хөдөлгүүр нь барааны худалдаа (4,513.5 сая $).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Гадаад валютын улсын нөөц 7-р сарын байдлаар 7,963 сая $ — жилийн өмнөхөөс 48%-иар өсч, түүхэн дээд хэмжээнд хүрэв.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Санхүүгийн данс -209.3 сая $ хэвээр — гадаад эх үүсвэрийн орох урсгал сул байна.</a:t>
            </a:r>
          </a:p>
        </p:txBody>
      </p:sp>
    </p:spTree>
    <p:extLst>
      <p:ext uri="{BB962C8B-B14F-4D97-AF65-F5344CB8AC3E}">
        <p14:creationId xmlns:p14="http://schemas.microsoft.com/office/powerpoint/2010/main" val="2086189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2" name="TextBox 4491"/>
          <p:cNvSpPr txBox="1"/>
          <p:nvPr/>
        </p:nvSpPr>
        <p:spPr>
          <a:xfrm>
            <a:off x="7981025" y="6395141"/>
            <a:ext cx="3804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Жилийн өөрчлөлт</a:t>
            </a:r>
          </a:p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2025.07.31 → 2026.07.31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Банкны салбар: </a:t>
            </a:r>
            <a:r>
              <a:rPr lang="mn-MN" sz="2400" b="1" dirty="0">
                <a:solidFill>
                  <a:srgbClr val="F6783F"/>
                </a:solidFill>
                <a:latin typeface="Montserrat" pitchFamily="2" charset="0"/>
              </a:rPr>
              <a:t>актив өсч, чанаргүй зээл дагав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8778" y="1241084"/>
            <a:ext cx="1418094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Нийт хөрөнгө</a:t>
            </a:r>
          </a:p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+25.9%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778" y="2174478"/>
            <a:ext cx="1418094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Нийт зээл</a:t>
            </a:r>
          </a:p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+13.0%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778" y="3107872"/>
            <a:ext cx="1418094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МБ-ны үнэт цаас</a:t>
            </a:r>
          </a:p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+71.7%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778" y="4041266"/>
            <a:ext cx="1418094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Харилцах, хадгаламж</a:t>
            </a:r>
          </a:p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+24.7%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778" y="4974660"/>
            <a:ext cx="1418094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Хугацаа хэтэрсэн зээл</a:t>
            </a:r>
          </a:p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-33.4%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8778" y="5908052"/>
            <a:ext cx="1418094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Чанаргүй зээл</a:t>
            </a:r>
          </a:p>
          <a:p>
            <a:pPr algn="ctr"/>
            <a:r>
              <a:rPr lang="mn-MN" sz="1300" b="1" dirty="0">
                <a:solidFill>
                  <a:schemeClr val="tx1"/>
                </a:solidFill>
                <a:latin typeface="Montserrat" pitchFamily="2" charset="0"/>
              </a:rPr>
              <a:t>+19.7%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47472" y="658368"/>
            <a:ext cx="1737360" cy="530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sz="900" b="1" dirty="0">
                <a:solidFill>
                  <a:srgbClr val="002060"/>
                </a:solidFill>
                <a:latin typeface="Montserrat" pitchFamily="2" charset="0"/>
              </a:rPr>
              <a:t>Жилийн өөрчлөлт</a:t>
            </a:r>
          </a:p>
          <a:p>
            <a:r>
              <a:rPr lang="mn-MN" sz="900" b="1" dirty="0">
                <a:solidFill>
                  <a:srgbClr val="002060"/>
                </a:solidFill>
                <a:latin typeface="Montserrat" pitchFamily="2" charset="0"/>
              </a:rPr>
              <a:t>2025.07.31 → 2026.07.31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331720"/>
            <a:ext cx="475488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300" dirty="0">
                <a:latin typeface="Montserrat" pitchFamily="2" charset="0"/>
              </a:rPr>
              <a:t>Зээлийн үлдэгдэл 47.9 их наяд ₮ (+13.0% жилийн), хадгаламж 49.5 их наяд ₮ (+24.7%).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300" dirty="0">
                <a:latin typeface="Montserrat" pitchFamily="2" charset="0"/>
              </a:rPr>
              <a:t>Зээлийн төрлөөр, 2026 оны 7-р сар: ипотек 12.4 их наяд ₮ (+18.6%), ногоон зээл 2.9 их наяд ₮ (+46.2%).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300" dirty="0">
                <a:latin typeface="Montserrat" pitchFamily="2" charset="0"/>
              </a:rPr>
              <a:t>Хадгаламж 24.7%-иар өсч байхад зээл сараас сард 2.2%-иар агшив. Банкууд Төв банкны үнэт цаас руу (+71.7%) мөнгөө байршуулж, илүүдэл хөрвөх чадвар хуримтлуулж байна.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300" dirty="0">
                <a:latin typeface="Montserrat" pitchFamily="2" charset="0"/>
              </a:rPr>
              <a:t>Бодит салбар руу чиглэх зээлийн урсгал сулран, санхүүгийн зуучлал саарах эрсдэлтэй.</a:t>
            </a:r>
          </a:p>
        </p:txBody>
      </p:sp>
      <p:graphicFrame>
        <p:nvGraphicFramePr>
          <p:cNvPr id="4493" name="Chart 4492"/>
          <p:cNvGraphicFramePr>
            <a:graphicFrameLocks noGrp="1"/>
          </p:cNvGraphicFramePr>
          <p:nvPr/>
        </p:nvGraphicFramePr>
        <p:xfrm>
          <a:off x="2032000" y="719666"/>
          <a:ext cx="4981542" cy="5483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31153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Зээлийн өсөлтийн бүтэц: салбарын хувь нэмэр (7-р сар, -2.21%)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395141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МонголБанк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143000"/>
            <a:ext cx="434340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Зээлийн үлдэгдэл 47.9 их наяд ₮ — 7-р сард 2.21%-иар БУУРЖ, жилийн өсөлт 13.0% болж саарлаа.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Бууралтын 1.26 нэгж хувийг үл хөдлөх хөрөнгө, 0.94-ийг бөөний болон жижиглэн худалдаа бүрдүүлэв.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Зээлдэгчээр: иргэдийн зээл -2.5%, хувийн байгууллага +4.8% (сарын өөрчлөлт).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mn-MN" sz="1600" dirty="0">
                <a:latin typeface="Montserrat" pitchFamily="2" charset="0"/>
              </a:rPr>
              <a:t>Чанаргүй зээлийн харьцаа 5.24%, хугацаа хэтэрсэн 2.58%.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610690"/>
              </p:ext>
            </p:extLst>
          </p:nvPr>
        </p:nvGraphicFramePr>
        <p:xfrm>
          <a:off x="502920" y="914400"/>
          <a:ext cx="6583680" cy="5349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21961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5176" y="3712463"/>
            <a:ext cx="10963656" cy="594360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400" b="1" dirty="0">
                <a:solidFill>
                  <a:srgbClr val="002060"/>
                </a:solidFill>
                <a:latin typeface="Montserrat" pitchFamily="2" charset="0"/>
              </a:rPr>
              <a:t>2. </a:t>
            </a:r>
            <a:r>
              <a:rPr lang="mn-MN" sz="2400" b="1" dirty="0">
                <a:solidFill>
                  <a:srgbClr val="F6783F"/>
                </a:solidFill>
                <a:latin typeface="Montserrat" pitchFamily="2" charset="0"/>
              </a:rPr>
              <a:t>Эдийн засгийн голлох салбаруудын гүйцэтгэл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5216" y="4352544"/>
            <a:ext cx="3483864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6072" y="4334256"/>
            <a:ext cx="1591056" cy="457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61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Аж үйлдвэр I: уул уурхай +62.7, хүнс +0.47 нэгж хувь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395141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94944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Montserrat"/>
              </a:rPr>
              <a:t>Оны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эхний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7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сард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аж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үйлдвэрийн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борлуулалт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65.3%-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иар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өсөж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үүний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62.7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нэгж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хувь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нь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уул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уурхай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.</a:t>
            </a:r>
          </a:p>
          <a:p>
            <a:r>
              <a:rPr sz="1300" dirty="0">
                <a:solidFill>
                  <a:srgbClr val="404040"/>
                </a:solidFill>
                <a:latin typeface="Montserrat"/>
              </a:rPr>
              <a:t>ТӨВЛӨРЛИЙН ЭРСДЭЛ: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өсөлтийн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96%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нь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ганц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салбараас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гарч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байна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.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Түүхий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эдийн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үнэ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буурах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эсвэл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Хормузын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хоолойн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хямралаас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түлшний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өртөг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өсөх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нь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эдийн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засагт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шууд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дамжих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Montserrat"/>
              </a:rPr>
              <a:t>буфергүй</a:t>
            </a:r>
            <a:r>
              <a:rPr sz="1300" dirty="0">
                <a:solidFill>
                  <a:srgbClr val="404040"/>
                </a:solidFill>
                <a:latin typeface="Montserrat"/>
              </a:rPr>
              <a:t>.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902332"/>
              </p:ext>
            </p:extLst>
          </p:nvPr>
        </p:nvGraphicFramePr>
        <p:xfrm>
          <a:off x="365760" y="141732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067564"/>
              </p:ext>
            </p:extLst>
          </p:nvPr>
        </p:nvGraphicFramePr>
        <p:xfrm>
          <a:off x="6263640" y="141732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21961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Аж үйлдвэр II: хөнгөн +0.92, хими/металл +0.55 нэгж хувь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800911"/>
              </p:ext>
            </p:extLst>
          </p:nvPr>
        </p:nvGraphicFramePr>
        <p:xfrm>
          <a:off x="365760" y="141732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132441"/>
              </p:ext>
            </p:extLst>
          </p:nvPr>
        </p:nvGraphicFramePr>
        <p:xfrm>
          <a:off x="6263640" y="141732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61C4581-BCFE-883F-F4C8-2D1C7DE08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7351141"/>
            <a:ext cx="10515600" cy="1325563"/>
          </a:xfrm>
        </p:spPr>
        <p:txBody>
          <a:bodyPr/>
          <a:lstStyle/>
          <a:p>
            <a:endParaRPr lang="en-M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1900" b="1" dirty="0">
                <a:solidFill>
                  <a:srgbClr val="002060"/>
                </a:solidFill>
                <a:latin typeface="Montserrat" pitchFamily="2" charset="0"/>
              </a:rPr>
              <a:t>Худалдааны салбар: бүсчилсэн хувь нэмэр (+10.1%, 6-р сар)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395141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 — салбарын мэдээ, 2026 оны 6-р сарын байдлаар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830000"/>
            <a:ext cx="11109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404040"/>
                </a:solidFill>
                <a:latin typeface="Montserrat"/>
              </a:rPr>
              <a:t>Худалдаа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10.1%,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зочид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буудал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12.3%,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нийтийн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хоол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9.2%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өссөн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ч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өсөлт</a:t>
            </a:r>
            <a:r>
              <a:rPr lang="mn-MN" sz="1200" dirty="0">
                <a:solidFill>
                  <a:srgbClr val="404040"/>
                </a:solidFill>
                <a:latin typeface="Montserrat"/>
              </a:rPr>
              <a:t> нь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Улаанбаатараас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</a:t>
            </a:r>
            <a:r>
              <a:rPr lang="mn-MN" sz="1200" dirty="0">
                <a:solidFill>
                  <a:srgbClr val="404040"/>
                </a:solidFill>
                <a:latin typeface="Montserrat"/>
              </a:rPr>
              <a:t>ихэнх хувь нь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гарч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Montserrat"/>
              </a:rPr>
              <a:t>байна</a:t>
            </a:r>
            <a:r>
              <a:rPr sz="1200" dirty="0">
                <a:solidFill>
                  <a:srgbClr val="404040"/>
                </a:solidFill>
                <a:latin typeface="Montserrat"/>
              </a:rPr>
              <a:t>.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13825"/>
              </p:ext>
            </p:extLst>
          </p:nvPr>
        </p:nvGraphicFramePr>
        <p:xfrm>
          <a:off x="457200" y="1417320"/>
          <a:ext cx="11247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21961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Үйлчилгээ: зочид буудал +12.3%, нийтийн хоол +9.2% (6-р сар)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98724"/>
              </p:ext>
            </p:extLst>
          </p:nvPr>
        </p:nvGraphicFramePr>
        <p:xfrm>
          <a:off x="365760" y="141732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74574"/>
              </p:ext>
            </p:extLst>
          </p:nvPr>
        </p:nvGraphicFramePr>
        <p:xfrm>
          <a:off x="6263640" y="141732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9670" y="-70727"/>
            <a:ext cx="10964411" cy="598006"/>
          </a:xfrm>
          <a:prstGeom prst="rect">
            <a:avLst/>
          </a:prstGeom>
          <a:noFill/>
        </p:spPr>
        <p:txBody>
          <a:bodyPr wrap="square" lIns="274320" tIns="243840" rtlCol="0">
            <a:noAutofit/>
          </a:bodyPr>
          <a:lstStyle/>
          <a:p>
            <a:r>
              <a:rPr lang="mn-MN" sz="2000" b="1" dirty="0">
                <a:solidFill>
                  <a:srgbClr val="002060"/>
                </a:solidFill>
                <a:latin typeface="Montserrat" pitchFamily="2" charset="0"/>
              </a:rPr>
              <a:t>Барилга -5.6%, тээвэр +23.4% (2026 оны II улирал)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832B8-6087-43B5-A3E9-A719FAE864AC}"/>
              </a:ext>
            </a:extLst>
          </p:cNvPr>
          <p:cNvCxnSpPr>
            <a:cxnSpLocks/>
          </p:cNvCxnSpPr>
          <p:nvPr/>
        </p:nvCxnSpPr>
        <p:spPr>
          <a:xfrm>
            <a:off x="582819" y="574595"/>
            <a:ext cx="348801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0CE1A1-A028-4EBC-B46F-F9957E9672AE}"/>
              </a:ext>
            </a:extLst>
          </p:cNvPr>
          <p:cNvSpPr/>
          <p:nvPr/>
        </p:nvSpPr>
        <p:spPr>
          <a:xfrm>
            <a:off x="575199" y="551018"/>
            <a:ext cx="1595231" cy="4715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01E6A-29DA-4153-99B2-A12E7A90EB57}"/>
              </a:ext>
            </a:extLst>
          </p:cNvPr>
          <p:cNvSpPr txBox="1"/>
          <p:nvPr/>
        </p:nvSpPr>
        <p:spPr>
          <a:xfrm>
            <a:off x="7077075" y="6395141"/>
            <a:ext cx="47085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n-MN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rPr>
              <a:t>Эх сурвалж: Үндэсний статистикийн хороо — улирлын мэдээ, 2026 оны II улирал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94944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404040"/>
                </a:solidFill>
                <a:latin typeface="Montserrat"/>
              </a:rPr>
              <a:t>Барилга II улиралд -5.6%-иар агшлаа (орон сууцны бус барилга -10.9 н.х); тээвэр 23.4%-иар өсөв.</a:t>
            </a:r>
          </a:p>
          <a:p>
            <a:r>
              <a:rPr sz="1200" dirty="0" err="1">
                <a:solidFill>
                  <a:srgbClr val="404040"/>
                </a:solidFill>
                <a:latin typeface="Montserrat"/>
              </a:rPr>
              <a:t>ҮСХ-ны задаргаа өссөн дүнгээс 2.7 н.х дутуу тул "тодруулагдаагүй үлдэгдэл"-ээр тусгав.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241229"/>
              </p:ext>
            </p:extLst>
          </p:nvPr>
        </p:nvGraphicFramePr>
        <p:xfrm>
          <a:off x="365760" y="141732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263640" y="141732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2196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imple Light">
    <a:dk1>
      <a:srgbClr val="FCFCFC"/>
    </a:dk1>
    <a:lt1>
      <a:srgbClr val="112349"/>
    </a:lt1>
    <a:dk2>
      <a:srgbClr val="253B61"/>
    </a:dk2>
    <a:lt2>
      <a:srgbClr val="EF4349"/>
    </a:lt2>
    <a:accent1>
      <a:srgbClr val="F3797E"/>
    </a:accent1>
    <a:accent2>
      <a:srgbClr val="FCFCFC"/>
    </a:accent2>
    <a:accent3>
      <a:srgbClr val="F3797E"/>
    </a:accent3>
    <a:accent4>
      <a:srgbClr val="EF4349"/>
    </a:accent4>
    <a:accent5>
      <a:srgbClr val="253B61"/>
    </a:accent5>
    <a:accent6>
      <a:srgbClr val="112349"/>
    </a:accent6>
    <a:hlink>
      <a:srgbClr val="FCFCFC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imple Light">
    <a:dk1>
      <a:srgbClr val="FCFCFC"/>
    </a:dk1>
    <a:lt1>
      <a:srgbClr val="112349"/>
    </a:lt1>
    <a:dk2>
      <a:srgbClr val="253B61"/>
    </a:dk2>
    <a:lt2>
      <a:srgbClr val="EF4349"/>
    </a:lt2>
    <a:accent1>
      <a:srgbClr val="F3797E"/>
    </a:accent1>
    <a:accent2>
      <a:srgbClr val="FCFCFC"/>
    </a:accent2>
    <a:accent3>
      <a:srgbClr val="F3797E"/>
    </a:accent3>
    <a:accent4>
      <a:srgbClr val="EF4349"/>
    </a:accent4>
    <a:accent5>
      <a:srgbClr val="253B61"/>
    </a:accent5>
    <a:accent6>
      <a:srgbClr val="112349"/>
    </a:accent6>
    <a:hlink>
      <a:srgbClr val="FCFCFC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imple Light">
    <a:dk1>
      <a:srgbClr val="FCFCFC"/>
    </a:dk1>
    <a:lt1>
      <a:srgbClr val="112349"/>
    </a:lt1>
    <a:dk2>
      <a:srgbClr val="253B61"/>
    </a:dk2>
    <a:lt2>
      <a:srgbClr val="EF4349"/>
    </a:lt2>
    <a:accent1>
      <a:srgbClr val="F3797E"/>
    </a:accent1>
    <a:accent2>
      <a:srgbClr val="FCFCFC"/>
    </a:accent2>
    <a:accent3>
      <a:srgbClr val="F3797E"/>
    </a:accent3>
    <a:accent4>
      <a:srgbClr val="EF4349"/>
    </a:accent4>
    <a:accent5>
      <a:srgbClr val="253B61"/>
    </a:accent5>
    <a:accent6>
      <a:srgbClr val="112349"/>
    </a:accent6>
    <a:hlink>
      <a:srgbClr val="FCFCFC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imple Light">
    <a:dk1>
      <a:srgbClr val="FCFCFC"/>
    </a:dk1>
    <a:lt1>
      <a:srgbClr val="112349"/>
    </a:lt1>
    <a:dk2>
      <a:srgbClr val="253B61"/>
    </a:dk2>
    <a:lt2>
      <a:srgbClr val="EF4349"/>
    </a:lt2>
    <a:accent1>
      <a:srgbClr val="F3797E"/>
    </a:accent1>
    <a:accent2>
      <a:srgbClr val="FCFCFC"/>
    </a:accent2>
    <a:accent3>
      <a:srgbClr val="F3797E"/>
    </a:accent3>
    <a:accent4>
      <a:srgbClr val="EF4349"/>
    </a:accent4>
    <a:accent5>
      <a:srgbClr val="253B61"/>
    </a:accent5>
    <a:accent6>
      <a:srgbClr val="112349"/>
    </a:accent6>
    <a:hlink>
      <a:srgbClr val="FCFCFC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imple Light">
    <a:dk1>
      <a:srgbClr val="FCFCFC"/>
    </a:dk1>
    <a:lt1>
      <a:srgbClr val="112349"/>
    </a:lt1>
    <a:dk2>
      <a:srgbClr val="253B61"/>
    </a:dk2>
    <a:lt2>
      <a:srgbClr val="EF4349"/>
    </a:lt2>
    <a:accent1>
      <a:srgbClr val="F3797E"/>
    </a:accent1>
    <a:accent2>
      <a:srgbClr val="FCFCFC"/>
    </a:accent2>
    <a:accent3>
      <a:srgbClr val="F3797E"/>
    </a:accent3>
    <a:accent4>
      <a:srgbClr val="EF4349"/>
    </a:accent4>
    <a:accent5>
      <a:srgbClr val="253B61"/>
    </a:accent5>
    <a:accent6>
      <a:srgbClr val="112349"/>
    </a:accent6>
    <a:hlink>
      <a:srgbClr val="FCFCFC"/>
    </a:hlink>
    <a:folHlink>
      <a:srgbClr val="0097A7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53841</TotalTime>
  <Words>2759</Words>
  <Application>Microsoft Macintosh PowerPoint</Application>
  <PresentationFormat>Widescreen</PresentationFormat>
  <Paragraphs>245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Montserrat</vt:lpstr>
      <vt:lpstr>Office Theme</vt:lpstr>
      <vt:lpstr>Макро эдийн засгийн төлөв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XacBank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Macro Indicators Assumption</dc:title>
  <dc:creator>Erdene CFO</dc:creator>
  <cp:lastModifiedBy>Microsoft Office User</cp:lastModifiedBy>
  <cp:revision>970</cp:revision>
  <dcterms:created xsi:type="dcterms:W3CDTF">2022-08-12T03:21:31Z</dcterms:created>
  <dcterms:modified xsi:type="dcterms:W3CDTF">2026-08-21T03:13:43Z</dcterms:modified>
</cp:coreProperties>
</file>